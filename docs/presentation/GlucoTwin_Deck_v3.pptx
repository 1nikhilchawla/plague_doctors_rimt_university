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GlucoTwin</c:v>
                </c:pt>
              </c:strCache>
            </c:strRef>
          </c:tx>
          <c:spPr>
            <a:solidFill>
              <a:srgbClr val="1A8F7A"/>
            </a:solidFill>
          </c:spPr>
          <c:cat>
            <c:strRef>
              <c:f>Sheet1!$A$2:$A$4</c:f>
              <c:strCache>
                <c:ptCount val="3"/>
                <c:pt idx="0">
                  <c:v>30 min</c:v>
                </c:pt>
                <c:pt idx="1">
                  <c:v>60 min</c:v>
                </c:pt>
                <c:pt idx="2">
                  <c:v>120 min</c:v>
                </c:pt>
              </c:strCache>
            </c:strRef>
          </c:cat>
          <c:val>
            <c:numRef>
              <c:f>Sheet1!$B$2:$B$4</c:f>
              <c:numCache>
                <c:formatCode>General</c:formatCode>
                <c:ptCount val="3"/>
                <c:pt idx="0">
                  <c:v>18.5</c:v>
                </c:pt>
                <c:pt idx="1">
                  <c:v>26.2</c:v>
                </c:pt>
                <c:pt idx="2">
                  <c:v>31.8</c:v>
                </c:pt>
              </c:numCache>
            </c:numRef>
          </c:val>
        </c:ser>
        <c:ser>
          <c:idx val="1"/>
          <c:order val="1"/>
          <c:tx>
            <c:strRef>
              <c:f>Sheet1!$C$1</c:f>
              <c:strCache>
                <c:ptCount val="1"/>
                <c:pt idx="0">
                  <c:v>Persistence (stays as now)</c:v>
                </c:pt>
              </c:strCache>
            </c:strRef>
          </c:tx>
          <c:spPr>
            <a:solidFill>
              <a:srgbClr val="9AA5B1"/>
            </a:solidFill>
          </c:spPr>
          <c:cat>
            <c:strRef>
              <c:f>Sheet1!$A$2:$A$4</c:f>
              <c:strCache>
                <c:ptCount val="3"/>
                <c:pt idx="0">
                  <c:v>30 min</c:v>
                </c:pt>
                <c:pt idx="1">
                  <c:v>60 min</c:v>
                </c:pt>
                <c:pt idx="2">
                  <c:v>120 min</c:v>
                </c:pt>
              </c:strCache>
            </c:strRef>
          </c:cat>
          <c:val>
            <c:numRef>
              <c:f>Sheet1!$C$2:$C$4</c:f>
              <c:numCache>
                <c:formatCode>General</c:formatCode>
                <c:ptCount val="3"/>
                <c:pt idx="0">
                  <c:v>19.6</c:v>
                </c:pt>
                <c:pt idx="1">
                  <c:v>28.9</c:v>
                </c:pt>
                <c:pt idx="2">
                  <c:v>38.9</c:v>
                </c:pt>
              </c:numCache>
            </c:numRef>
          </c:val>
        </c:ser>
        <c:ser>
          <c:idx val="2"/>
          <c:order val="2"/>
          <c:tx>
            <c:strRef>
              <c:f>Sheet1!$D$1</c:f>
              <c:strCache>
                <c:ptCount val="1"/>
                <c:pt idx="0">
                  <c:v>Population model</c:v>
                </c:pt>
              </c:strCache>
            </c:strRef>
          </c:tx>
          <c:spPr>
            <a:solidFill>
              <a:srgbClr val="D5DBE2"/>
            </a:solidFill>
          </c:spPr>
          <c:cat>
            <c:strRef>
              <c:f>Sheet1!$A$2:$A$4</c:f>
              <c:strCache>
                <c:ptCount val="3"/>
                <c:pt idx="0">
                  <c:v>30 min</c:v>
                </c:pt>
                <c:pt idx="1">
                  <c:v>60 min</c:v>
                </c:pt>
                <c:pt idx="2">
                  <c:v>120 min</c:v>
                </c:pt>
              </c:strCache>
            </c:strRef>
          </c:cat>
          <c:val>
            <c:numRef>
              <c:f>Sheet1!$D$2:$D$4</c:f>
              <c:numCache>
                <c:formatCode>General</c:formatCode>
                <c:ptCount val="3"/>
                <c:pt idx="0">
                  <c:v>21.4</c:v>
                </c:pt>
                <c:pt idx="1">
                  <c:v>30.9</c:v>
                </c:pt>
                <c:pt idx="2">
                  <c:v>40.4</c:v>
                </c:pt>
              </c:numCache>
            </c:numRef>
          </c:val>
        </c:ser>
        <c:dLbls>
          <c:numFmt formatCode="0.0" sourceLinked="0"/>
          <c:txPr>
            <a:bodyPr/>
            <a:lstStyle/>
            <a:p>
              <a:pPr>
                <a:defRPr sz="1100" b="0">
                  <a:solidFill>
                    <a:srgbClr val="1F2D3D"/>
                  </a:solidFill>
                </a:defRPr>
              </a:pPr>
            </a:p>
          </c:txPr>
          <c:dLblPos val="outEnd"/>
          <c:showLegendKey val="0"/>
          <c:showVal val="1"/>
          <c:showCatName val="0"/>
          <c:showSerName val="0"/>
          <c:showPercent val="0"/>
          <c:showBubbleSize val="0"/>
          <c:showLeaderLines val="1"/>
        </c:dLbls>
        <c:gapWidth val="70"/>
        <c:overlap val="-10"/>
        <c:axId val="-2068027336"/>
        <c:axId val="-2113994440"/>
      </c:barChart>
      <c:catAx>
        <c:axId val="-2068027336"/>
        <c:scaling>
          <c:orientation val="minMax"/>
        </c:scaling>
        <c:delete val="0"/>
        <c:axPos val="b"/>
        <c:majorTickMark val="out"/>
        <c:minorTickMark val="none"/>
        <c:tickLblPos val="nextTo"/>
        <c:spPr>
          <a:ln>
            <a:solidFill>
              <a:srgbClr val="C9D1DC"/>
            </a:solidFill>
          </a:ln>
        </c:spPr>
        <c:txPr>
          <a:bodyPr/>
          <a:lstStyle/>
          <a:p>
            <a:pPr>
              <a:defRPr sz="1200">
                <a:solidFill>
                  <a:srgbClr val="1F2D3D"/>
                </a:solidFill>
              </a:defRPr>
            </a:pPr>
          </a:p>
        </c:txPr>
        <c:crossAx val="-2113994440"/>
        <c:crosses val="autoZero"/>
        <c:auto val="1"/>
        <c:lblAlgn val="ctr"/>
        <c:lblOffset val="100"/>
        <c:noMultiLvlLbl val="0"/>
      </c:catAx>
      <c:valAx>
        <c:axId val="-2113994440"/>
        <c:scaling>
          <c:max val="46.0"/>
          <c:min val="0.0"/>
        </c:scaling>
        <c:delete/>
        <c:axPos val="l"/>
        <c:majorTickMark val="out"/>
        <c:minorTickMark val="none"/>
        <c:tickLblPos val="nextTo"/>
        <c:crossAx val="-2068027336"/>
        <c:crosses val="autoZero"/>
      </c:valAx>
    </c:plotArea>
    <c:legend>
      <c:legendPos val="t"/>
      <c:overlay val="0"/>
      <c:txPr>
        <a:bodyPr/>
        <a:lstStyle/>
        <a:p>
          <a:pPr>
            <a:defRPr sz="1100">
              <a:solidFill>
                <a:srgbClr val="1F2D3D"/>
              </a:solidFill>
            </a:defRPr>
          </a:pPr>
        </a:p>
      </c:txPr>
    </c:legend>
    <c:dispBlanksAs val="gap"/>
  </c:chart>
  <c:txPr>
    <a:bodyPr/>
    <a:lstStyle/>
    <a:p>
      <a:pPr>
        <a:defRPr sz="1100">
          <a:solidFill>
            <a:srgbClr val="5B6675"/>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60-min RMSE</c:v>
                </c:pt>
              </c:strCache>
            </c:strRef>
          </c:tx>
          <c:dPt>
            <c:idx val="0"/>
            <c:spPr>
              <a:solidFill>
                <a:srgbClr val="1F3A5F"/>
              </a:solidFill>
            </c:spPr>
          </c:dPt>
          <c:dPt>
            <c:idx val="1"/>
            <c:spPr>
              <a:solidFill>
                <a:srgbClr val="1A8F7A"/>
              </a:solidFill>
            </c:spPr>
          </c:dPt>
          <c:dPt>
            <c:idx val="2"/>
            <c:spPr>
              <a:solidFill>
                <a:srgbClr val="C7CED6"/>
              </a:solidFill>
            </c:spPr>
          </c:dPt>
          <c:dPt>
            <c:idx val="3"/>
            <c:spPr>
              <a:solidFill>
                <a:srgbClr val="C7CED6"/>
              </a:solidFill>
            </c:spPr>
          </c:dPt>
          <c:cat>
            <c:strRef>
              <c:f>Sheet1!$A$2:$A$5</c:f>
              <c:strCache>
                <c:ptCount val="4"/>
                <c:pt idx="0">
                  <c:v>Record + personal fit</c:v>
                </c:pt>
                <c:pt idx="1">
                  <c:v>Record prior</c:v>
                </c:pt>
                <c:pt idx="2">
                  <c:v>Group average only</c:v>
                </c:pt>
                <c:pt idx="3">
                  <c:v>No health record</c:v>
                </c:pt>
              </c:strCache>
            </c:strRef>
          </c:cat>
          <c:val>
            <c:numRef>
              <c:f>Sheet1!$B$2:$B$5</c:f>
              <c:numCache>
                <c:formatCode>General</c:formatCode>
                <c:ptCount val="4"/>
                <c:pt idx="0">
                  <c:v>26.4</c:v>
                </c:pt>
                <c:pt idx="1">
                  <c:v>26.8</c:v>
                </c:pt>
                <c:pt idx="2">
                  <c:v>30.3</c:v>
                </c:pt>
                <c:pt idx="3">
                  <c:v>30.4</c:v>
                </c:pt>
              </c:numCache>
            </c:numRef>
          </c:val>
        </c:ser>
        <c:dLbls>
          <c:numFmt formatCode="0.0" sourceLinked="0"/>
          <c:txPr>
            <a:bodyPr/>
            <a:lstStyle/>
            <a:p>
              <a:pPr>
                <a:defRPr sz="1200" b="1">
                  <a:solidFill>
                    <a:srgbClr val="1F2D3D"/>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C9D1DC"/>
            </a:solidFill>
          </a:ln>
        </c:spPr>
        <c:txPr>
          <a:bodyPr/>
          <a:lstStyle/>
          <a:p>
            <a:pPr>
              <a:defRPr sz="1200">
                <a:solidFill>
                  <a:srgbClr val="1F2D3D"/>
                </a:solidFill>
              </a:defRPr>
            </a:pPr>
          </a:p>
        </c:txPr>
        <c:crossAx val="-2113994440"/>
        <c:crosses val="autoZero"/>
        <c:auto val="1"/>
        <c:lblAlgn val="ctr"/>
        <c:lblOffset val="100"/>
        <c:noMultiLvlLbl val="0"/>
      </c:catAx>
      <c:valAx>
        <c:axId val="-2113994440"/>
        <c:scaling>
          <c:max val="36.0"/>
          <c:min val="0.0"/>
        </c:scaling>
        <c:delete/>
        <c:axPos val="b"/>
        <c:majorTickMark val="out"/>
        <c:minorTickMark val="none"/>
        <c:tickLblPos val="nextTo"/>
        <c:crossAx val="-2068027336"/>
        <c:crosses val="autoZero"/>
      </c:valAx>
    </c:plotArea>
    <c:dispBlanksAs val="gap"/>
  </c:chart>
  <c:txPr>
    <a:bodyPr/>
    <a:lstStyle/>
    <a:p>
      <a:pPr>
        <a:defRPr sz="1100">
          <a:solidFill>
            <a:srgbClr val="5B6675"/>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Change in time in range</c:v>
                </c:pt>
              </c:strCache>
            </c:strRef>
          </c:tx>
          <c:invertIfNegative val="0"/>
          <c:dPt>
            <c:idx val="0"/>
            <c:invertIfNegative val="0"/>
            <c:spPr>
              <a:solidFill>
                <a:srgbClr val="E07B22"/>
              </a:solidFill>
            </c:spPr>
          </c:dPt>
          <c:dPt>
            <c:idx val="1"/>
            <c:invertIfNegative val="0"/>
            <c:spPr>
              <a:solidFill>
                <a:srgbClr val="E07B22"/>
              </a:solidFill>
            </c:spPr>
          </c:dPt>
          <c:dPt>
            <c:idx val="2"/>
            <c:invertIfNegative val="0"/>
            <c:spPr>
              <a:solidFill>
                <a:srgbClr val="E07B22"/>
              </a:solidFill>
            </c:spPr>
          </c:dPt>
          <c:dPt>
            <c:idx val="3"/>
            <c:invertIfNegative val="0"/>
            <c:spPr>
              <a:solidFill>
                <a:srgbClr val="E07B22"/>
              </a:solidFill>
            </c:spPr>
          </c:dPt>
          <c:dPt>
            <c:idx val="4"/>
            <c:invertIfNegative val="0"/>
            <c:spPr>
              <a:solidFill>
                <a:srgbClr val="1A8F7A"/>
              </a:solidFill>
            </c:spPr>
          </c:dPt>
          <c:dPt>
            <c:idx val="5"/>
            <c:invertIfNegative val="0"/>
            <c:spPr>
              <a:solidFill>
                <a:srgbClr val="1A8F7A"/>
              </a:solidFill>
            </c:spPr>
          </c:dPt>
          <c:dPt>
            <c:idx val="6"/>
            <c:invertIfNegative val="0"/>
            <c:spPr>
              <a:solidFill>
                <a:srgbClr val="1A8F7A"/>
              </a:solidFill>
            </c:spPr>
          </c:dPt>
          <c:dPt>
            <c:idx val="7"/>
            <c:invertIfNegative val="0"/>
            <c:spPr>
              <a:solidFill>
                <a:srgbClr val="1A8F7A"/>
              </a:solidFill>
            </c:spPr>
          </c:dPt>
          <c:cat>
            <c:strRef>
              <c:f>Sheet1!$A$2:$A$9</c:f>
              <c:strCache>
                <c:ptCount val="8"/>
                <c:pt idx="0">
                  <c:v>Leela</c:v>
                </c:pt>
                <c:pt idx="1">
                  <c:v>Fatima</c:v>
                </c:pt>
                <c:pt idx="2">
                  <c:v>Suresh</c:v>
                </c:pt>
                <c:pt idx="3">
                  <c:v>Ananya</c:v>
                </c:pt>
                <c:pt idx="4">
                  <c:v>Imran</c:v>
                </c:pt>
                <c:pt idx="5">
                  <c:v>Divya</c:v>
                </c:pt>
                <c:pt idx="6">
                  <c:v>Kavita</c:v>
                </c:pt>
                <c:pt idx="7">
                  <c:v>Vikram</c:v>
                </c:pt>
              </c:strCache>
            </c:strRef>
          </c:cat>
          <c:val>
            <c:numRef>
              <c:f>Sheet1!$B$2:$B$9</c:f>
              <c:numCache>
                <c:formatCode>General</c:formatCode>
                <c:ptCount val="8"/>
                <c:pt idx="0">
                  <c:v>-5.4</c:v>
                </c:pt>
                <c:pt idx="1">
                  <c:v>-4.1</c:v>
                </c:pt>
                <c:pt idx="2">
                  <c:v>-2.9</c:v>
                </c:pt>
                <c:pt idx="3">
                  <c:v>-2.5</c:v>
                </c:pt>
                <c:pt idx="4">
                  <c:v>1.7</c:v>
                </c:pt>
                <c:pt idx="5">
                  <c:v>2.8</c:v>
                </c:pt>
                <c:pt idx="6">
                  <c:v>2.9</c:v>
                </c:pt>
                <c:pt idx="7">
                  <c:v>3.6</c:v>
                </c:pt>
              </c:numCache>
            </c:numRef>
          </c:val>
        </c:ser>
        <c:dLbls>
          <c:numFmt formatCode="+0.0;−0.0" sourceLinked="0"/>
          <c:txPr>
            <a:bodyPr/>
            <a:lstStyle/>
            <a:p>
              <a:pPr>
                <a:defRPr sz="1200" b="1">
                  <a:solidFill>
                    <a:srgbClr val="1F2D3D"/>
                  </a:solidFil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l"/>
        <c:majorTickMark val="out"/>
        <c:minorTickMark val="none"/>
        <c:tickLblPos val="low"/>
        <c:spPr>
          <a:ln>
            <a:solidFill>
              <a:srgbClr val="C9D1DC"/>
            </a:solidFill>
          </a:ln>
        </c:spPr>
        <c:txPr>
          <a:bodyPr/>
          <a:lstStyle/>
          <a:p>
            <a:pPr>
              <a:defRPr sz="1200">
                <a:solidFill>
                  <a:srgbClr val="1F2D3D"/>
                </a:solidFill>
              </a:defRPr>
            </a:pPr>
          </a:p>
        </c:txPr>
        <c:crossAx val="-2113994440"/>
        <c:crosses val="autoZero"/>
        <c:auto val="1"/>
        <c:lblAlgn val="ctr"/>
        <c:lblOffset val="100"/>
        <c:noMultiLvlLbl val="0"/>
      </c:catAx>
      <c:valAx>
        <c:axId val="-2113994440"/>
        <c:scaling>
          <c:max val="6.0"/>
          <c:min val="-6.0"/>
        </c:scaling>
        <c:delete/>
        <c:axPos val="b"/>
        <c:majorTickMark val="out"/>
        <c:minorTickMark val="none"/>
        <c:tickLblPos val="nextTo"/>
        <c:crossAx val="-2068027336"/>
        <c:crosses val="autoZero"/>
      </c:valAx>
    </c:plotArea>
    <c:dispBlanksAs val="gap"/>
  </c:chart>
  <c:txPr>
    <a:bodyPr/>
    <a:lstStyle/>
    <a:p>
      <a:pPr>
        <a:defRPr sz="1100">
          <a:solidFill>
            <a:srgbClr val="5B6675"/>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GlucoTwin is a digital twin for Type 2 diabetes. It fuses a patient's health record with their CGM and wearable stream, forecasts the next two hours of glucose, warns before spikes with reasons, and lets a doctor test lifestyle plans on that patient's own fitted twin. Three numbers to remember: 18.3% lower two-hour error than persistence on 45 real adults, 12% lower one-hour error once the health record sets the starting point, and a median 105-minute warning before a spike, with 109 of 254 spikes warned an hour or more ahead.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as a doctor meets it. Ananya Rao is a simulated patient from our ward: 54, HbA1c 8.1%, on metformin. Her CGM writes 288 readings a day, but the clinic sees a PDF and a lab report a few times a year. Three gaps: the record and the sensor never meet, every report looks backward, and there is no way to try a plan on this specific patient before advising it. Nationally only 36.3% of people with diabetes reach the glycaemic target and 7.7% reach all three targets. 101 million adults have diabetes, 43% are undiagnosed, and IDF projects 156.7 million by 2050.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solution is a loop around one patient's twin. Fuse: the FHIR record gives starting knobs on day zero, which alone cuts one-hour error by 12% on real data. Forecast: a physiology curve with an honest uncertainty band, 18.3% more accurate than persistence at two hours. Alert: spike and low warnings with reasons, a median 105 minutes early because spike risk includes the habitual next meal. Compare: seven lifestyle plans ranked on the patient's own twin, the best adding up to 3.6 points of time in range for the patient it suits. No plan touches medicine.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maps the brief line by line, with the evidence for each. The evidence column is backed by the result pages that follow.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real output from the prototype, not a mock-up. Ananya's twin forecasts a spike after a 67 gram lunch and raises an Urgent alert with its reasons. The same split lunch helps four Type 2 patients and hurts four, which is why the plan must be tested on each twin. Every Type 2 patient's personal fit beats the group prior. On three held-out real participants, the offline LightGBM residual cuts two-hour error from 46.5 to 40.8. We also show the weaker number: on real data, spike recall is 39% at 64% precision; the habit prior that lifted simulated warnings is the next step there.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Impact measured on real people. CGMacros is an open PhysioNet dataset of 45 adults with CGM, meals and activity. At 30 minutes the twin beats persistence (18.5 vs 19.6); at one hour it is 9.3% better and at two hours 18.3% better, which is when a meal's effect has not shown up yet. On the right is the fusion proof: same twin, same test days, only the starting knobs change. Labs, BMI, age and sex alone cut one-hour error from 30.4 to 26.8. The gain holds in every group, 8 to 10 percent at one hour, and 99.8% of 30-minute forecasts fall in the clinically acceptable Clarke zones.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Impact for the patient and the doctor. On the stress test, whose generator deliberately differs from the twin, 61.0% of spikes were warned, 66.9% of alerts were right, the median warning came 105 minutes before the spike, and there were 0.75 false alerts per patient-day. Only Urgent alerts interrupt and 83.5% of those were right. On the right, the same split lunch adds 3.6 and 2.9 points of time in range for Vikram and Kavita but costs Leela and Fatima 5.4 and 4.1 points. The international consensus treats every 5 points of time in range as clinically meaningful, and 10 points track about 0.8% of HbA1c. These plan figures are simulated; the pilot measures them on real patients.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the proof judges ask for: is the twin better than a simple alarm? Every method is scored on the same 254 spikes from the stress test, with the same alert rules and the same scorer. A CGM rise-rate alarm catches only 24.8% of spikes, 5 minutes ahead. Straight-line trend projections catch more, but raise 2.1 to 3.9 false alerts a day, about 3 to 5 times the twin, and warn at most 45 minutes ahead. A simple 'warn after a big meal' rule is right only 59% of the time. The twin is level on F1 with the 60-minute trend projection, 0.638 against 0.637, with a third of its false alarms: it catches 61.0%, is right 66.9% of the time, and warns a median 105 minutes ahead, 109 of 254 spikes an hour or more, because it anticipates the habitual next meal. When the twin shows 95% or more, a spike followed 96% of the time.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doctor is the primary user: the dashboard is a review tool, not a patient treatment app. The care team follows up, and the patient owns the data and consents per stream. Four facts shape the design: Indian diets are 62% carbohydrate, so the meal model uses IFCT foods; Indian Type 2 diabetes has distinct subgroups, used as a cold-start prior; ABDM already links over 100 crore health records; and a CGM writes 288 readings a day, so the doctor needs triage.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doctor's quarter, before and after. Today data arrives as a PDF and a lab report, the review is manual, spikes are seen after the fact and advice is generic. With GlucoTwin the record and stream are fused from day zero, the cohort is ranked by urgency, alerts arrive a median 105 minutes early with reasons, plans are compared on the patient's own twin, and a drift check says when the twin stops fitting. The time saved per review is something the pilot will measure.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live screens from the running prototype. The cohort view ranks the ward by who needs a look now; only Urgent alerts interrupt. The twin view shows the next two hours with a conformal band and the per-stream consent toggles: withdrawing the record drops the record prior and medicines but keeps the personal CGM fit, withdrawing wearables drops sleep, HRV and walks, and either way the band widens. The what-if view ranks seven lifestyle plans on this patient's own twin. One click prints a pre-visit clinical summary for the chart.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GlucoTwin differs, at category level. CGM vendor reports summarise the sensor; some devices add short-horizon low alarms. Logging apps collect data and give tips. Hospital records hold the labs but rarely the CGM. GlucoTwin fuses the record and the stream, forecasts two hours ahead with an uncertainty band, fits a model to each person in five days and tests lifestyle plans on that model before they are advised. Individual products vary, and we only claim what is publicly described.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is a hybrid. The live core is physiology: meals, walks, a dawn rise and a fading residual, with five personal knobs and a conformal band, so every curve can be explained. Machine learning sits offline: a ridge prior turns labs and demographics into day-zero knobs, LightGBM learns the residual, and a drift monitor watches the band. The Python research code and the TypeScript app agree on 160 test cases. The doctor stays in charge and never sees a dose.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flows left to right. Inputs are the CGM, wearable signals, the FHIR record and logged meals and walks. Stream checks put readings on a five-minute grid and flag gaps, compression lows, sensor lag and unit mix-ups. The twin core sets day-zero knobs from the record, keeps the live state, forecasts with a band and watches for drift. Outputs are the alert engine and plan compare, shown to the doctor on the dashboard. Offline, Python fits the record prior and the LightGBM residual on CGMacros and writes results the app reads. Next: consented ABDM import and a sharded event queue.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Guardrails first: stream checks for noisy sensors, two alert tiers with hysteresis against alarm fatigue, no dosing or diagnosis, synthetic and open data only, an honest note that CGMacros is US data, and that lows are rare so low alerts are weak. Scale is measured: 16.3 microseconds per reading on one laptop core and 1.7 kilobytes of state per patient. That is about 0.14 CPU-seconds per patient per month, so the twin itself is almost free to run; the sensor and hosting set the cost. For patients without a CGM, eight fingersticks a day rebuild the curve with about 20 mg/dL error in simulation.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plan: add learned medicine effects for lows and calibrated risk by December; then a 12-week pilot with 30 adults with Type 2 diabetes in one clinic, logging Indian meals with every forecast reviewed by their doctor; then more clinics through ABDM and a hypertension twin on the same core. We will judge it on time in range, the share of spikes warned at least 60 minutes ahead, false alerts per patient-day and review time. The twin already reads FHIR R4, which is how ABDM exchanges records. Our ask is one clinic and one doctor willing to try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TextBox 1"/>
          <p:cNvSpPr txBox="1"/>
          <p:nvPr/>
        </p:nvSpPr>
        <p:spPr>
          <a:xfrm>
            <a:off x="868680" y="868680"/>
            <a:ext cx="10515600" cy="274320"/>
          </a:xfrm>
          <a:prstGeom prst="rect">
            <a:avLst/>
          </a:prstGeom>
          <a:noFill/>
        </p:spPr>
        <p:txBody>
          <a:bodyPr wrap="square" lIns="0" rIns="0" tIns="0" bIns="0" anchor="t">
            <a:spAutoFit/>
          </a:bodyPr>
          <a:lstStyle/>
          <a:p>
            <a:pPr algn="l">
              <a:spcAft>
                <a:spcPts val="0"/>
              </a:spcAft>
            </a:pPr>
            <a:r>
              <a:rPr sz="1400" b="1" i="0">
                <a:solidFill>
                  <a:srgbClr val="F2B266"/>
                </a:solidFill>
                <a:latin typeface="Calibri"/>
              </a:rPr>
              <a:t>HAPPIEST HEALTH SUMMIT 2026, BENGALURU  ·  DIGITAL TWIN CHALLENGE: TYPE 2 DIABETES</a:t>
            </a:r>
          </a:p>
        </p:txBody>
      </p:sp>
      <p:sp>
        <p:nvSpPr>
          <p:cNvPr id="3" name="TextBox 2"/>
          <p:cNvSpPr txBox="1"/>
          <p:nvPr/>
        </p:nvSpPr>
        <p:spPr>
          <a:xfrm>
            <a:off x="868680" y="1371600"/>
            <a:ext cx="10515600" cy="1005840"/>
          </a:xfrm>
          <a:prstGeom prst="rect">
            <a:avLst/>
          </a:prstGeom>
          <a:noFill/>
        </p:spPr>
        <p:txBody>
          <a:bodyPr wrap="square" lIns="0" rIns="0" tIns="0" bIns="0" anchor="t">
            <a:spAutoFit/>
          </a:bodyPr>
          <a:lstStyle/>
          <a:p>
            <a:pPr algn="l">
              <a:spcAft>
                <a:spcPts val="0"/>
              </a:spcAft>
            </a:pPr>
            <a:r>
              <a:rPr sz="6600" b="1" i="0">
                <a:solidFill>
                  <a:srgbClr val="FFFFFF"/>
                </a:solidFill>
                <a:latin typeface="Calibri"/>
              </a:rPr>
              <a:t>GlucoTwin</a:t>
            </a:r>
          </a:p>
        </p:txBody>
      </p:sp>
      <p:sp>
        <p:nvSpPr>
          <p:cNvPr id="4" name="TextBox 3"/>
          <p:cNvSpPr txBox="1"/>
          <p:nvPr/>
        </p:nvSpPr>
        <p:spPr>
          <a:xfrm>
            <a:off x="868680" y="2468880"/>
            <a:ext cx="10515600" cy="502920"/>
          </a:xfrm>
          <a:prstGeom prst="rect">
            <a:avLst/>
          </a:prstGeom>
          <a:noFill/>
        </p:spPr>
        <p:txBody>
          <a:bodyPr wrap="square" lIns="0" rIns="0" tIns="0" bIns="0" anchor="t">
            <a:spAutoFit/>
          </a:bodyPr>
          <a:lstStyle/>
          <a:p>
            <a:pPr algn="l">
              <a:spcAft>
                <a:spcPts val="0"/>
              </a:spcAft>
            </a:pPr>
            <a:r>
              <a:rPr sz="2800" b="0" i="0">
                <a:solidFill>
                  <a:srgbClr val="D6DEE8"/>
                </a:solidFill>
                <a:latin typeface="Calibri"/>
              </a:rPr>
              <a:t>A personal digital twin that sees the next two hours of glucose</a:t>
            </a:r>
          </a:p>
        </p:txBody>
      </p:sp>
      <p:sp>
        <p:nvSpPr>
          <p:cNvPr id="5" name="TextBox 4"/>
          <p:cNvSpPr txBox="1"/>
          <p:nvPr/>
        </p:nvSpPr>
        <p:spPr>
          <a:xfrm>
            <a:off x="868680" y="3108960"/>
            <a:ext cx="10607040" cy="411480"/>
          </a:xfrm>
          <a:prstGeom prst="rect">
            <a:avLst/>
          </a:prstGeom>
          <a:noFill/>
        </p:spPr>
        <p:txBody>
          <a:bodyPr wrap="square" lIns="0" rIns="0" tIns="0" bIns="0" anchor="t">
            <a:spAutoFit/>
          </a:bodyPr>
          <a:lstStyle/>
          <a:p>
            <a:pPr algn="l">
              <a:spcAft>
                <a:spcPts val="0"/>
              </a:spcAft>
            </a:pPr>
            <a:r>
              <a:rPr sz="1800" b="0" i="1">
                <a:solidFill>
                  <a:srgbClr val="D6DEE8"/>
                </a:solidFill>
                <a:latin typeface="Calibri"/>
              </a:rPr>
              <a:t>Record + CGM + sleep and activity → a 2-hour forecast → early warnings with reasons → 7 plans on her own twin.</a:t>
            </a:r>
          </a:p>
        </p:txBody>
      </p:sp>
      <p:sp>
        <p:nvSpPr>
          <p:cNvPr id="6" name="TextBox 5"/>
          <p:cNvSpPr txBox="1"/>
          <p:nvPr/>
        </p:nvSpPr>
        <p:spPr>
          <a:xfrm>
            <a:off x="868680" y="3749039"/>
            <a:ext cx="3108960" cy="548640"/>
          </a:xfrm>
          <a:prstGeom prst="rect">
            <a:avLst/>
          </a:prstGeom>
          <a:noFill/>
        </p:spPr>
        <p:txBody>
          <a:bodyPr wrap="square" lIns="0" rIns="0" tIns="0" bIns="0" anchor="t">
            <a:spAutoFit/>
          </a:bodyPr>
          <a:lstStyle/>
          <a:p>
            <a:pPr algn="l">
              <a:spcAft>
                <a:spcPts val="0"/>
              </a:spcAft>
            </a:pPr>
            <a:r>
              <a:rPr sz="3400" b="1" i="0">
                <a:solidFill>
                  <a:srgbClr val="F2B266"/>
                </a:solidFill>
                <a:latin typeface="Calibri"/>
              </a:rPr>
              <a:t>18.3%</a:t>
            </a:r>
          </a:p>
        </p:txBody>
      </p:sp>
      <p:sp>
        <p:nvSpPr>
          <p:cNvPr id="7" name="TextBox 6"/>
          <p:cNvSpPr txBox="1"/>
          <p:nvPr/>
        </p:nvSpPr>
        <p:spPr>
          <a:xfrm>
            <a:off x="868680" y="4288790"/>
            <a:ext cx="3108960" cy="731520"/>
          </a:xfrm>
          <a:prstGeom prst="rect">
            <a:avLst/>
          </a:prstGeom>
          <a:noFill/>
        </p:spPr>
        <p:txBody>
          <a:bodyPr wrap="square" lIns="0" rIns="0" tIns="0" bIns="0" anchor="t">
            <a:spAutoFit/>
          </a:bodyPr>
          <a:lstStyle/>
          <a:p>
            <a:pPr algn="l">
              <a:spcAft>
                <a:spcPts val="0"/>
              </a:spcAft>
            </a:pPr>
            <a:r>
              <a:rPr sz="1300" b="0" i="0">
                <a:solidFill>
                  <a:srgbClr val="D6DEE8"/>
                </a:solidFill>
                <a:latin typeface="Calibri"/>
              </a:rPr>
              <a:t>lower 2-hour error than persistence, on 45 real adults</a:t>
            </a:r>
          </a:p>
        </p:txBody>
      </p:sp>
      <p:sp>
        <p:nvSpPr>
          <p:cNvPr id="8" name="TextBox 7"/>
          <p:cNvSpPr txBox="1"/>
          <p:nvPr/>
        </p:nvSpPr>
        <p:spPr>
          <a:xfrm>
            <a:off x="4297680" y="3749039"/>
            <a:ext cx="3108960" cy="548640"/>
          </a:xfrm>
          <a:prstGeom prst="rect">
            <a:avLst/>
          </a:prstGeom>
          <a:noFill/>
        </p:spPr>
        <p:txBody>
          <a:bodyPr wrap="square" lIns="0" rIns="0" tIns="0" bIns="0" anchor="t">
            <a:spAutoFit/>
          </a:bodyPr>
          <a:lstStyle/>
          <a:p>
            <a:pPr algn="l">
              <a:spcAft>
                <a:spcPts val="0"/>
              </a:spcAft>
            </a:pPr>
            <a:r>
              <a:rPr sz="3400" b="1" i="0">
                <a:solidFill>
                  <a:srgbClr val="F2B266"/>
                </a:solidFill>
                <a:latin typeface="Calibri"/>
              </a:rPr>
              <a:t>12%</a:t>
            </a:r>
          </a:p>
        </p:txBody>
      </p:sp>
      <p:sp>
        <p:nvSpPr>
          <p:cNvPr id="9" name="TextBox 8"/>
          <p:cNvSpPr txBox="1"/>
          <p:nvPr/>
        </p:nvSpPr>
        <p:spPr>
          <a:xfrm>
            <a:off x="4297680" y="4288790"/>
            <a:ext cx="3108960" cy="731520"/>
          </a:xfrm>
          <a:prstGeom prst="rect">
            <a:avLst/>
          </a:prstGeom>
          <a:noFill/>
        </p:spPr>
        <p:txBody>
          <a:bodyPr wrap="square" lIns="0" rIns="0" tIns="0" bIns="0" anchor="t">
            <a:spAutoFit/>
          </a:bodyPr>
          <a:lstStyle/>
          <a:p>
            <a:pPr algn="l">
              <a:spcAft>
                <a:spcPts val="0"/>
              </a:spcAft>
            </a:pPr>
            <a:r>
              <a:rPr sz="1300" b="0" i="0">
                <a:solidFill>
                  <a:srgbClr val="D6DEE8"/>
                </a:solidFill>
                <a:latin typeface="Calibri"/>
              </a:rPr>
              <a:t>lower 1-hour error once the health record sets the prior</a:t>
            </a:r>
          </a:p>
        </p:txBody>
      </p:sp>
      <p:sp>
        <p:nvSpPr>
          <p:cNvPr id="10" name="TextBox 9"/>
          <p:cNvSpPr txBox="1"/>
          <p:nvPr/>
        </p:nvSpPr>
        <p:spPr>
          <a:xfrm>
            <a:off x="7726679" y="3749039"/>
            <a:ext cx="3108960" cy="548640"/>
          </a:xfrm>
          <a:prstGeom prst="rect">
            <a:avLst/>
          </a:prstGeom>
          <a:noFill/>
        </p:spPr>
        <p:txBody>
          <a:bodyPr wrap="square" lIns="0" rIns="0" tIns="0" bIns="0" anchor="t">
            <a:spAutoFit/>
          </a:bodyPr>
          <a:lstStyle/>
          <a:p>
            <a:pPr algn="l">
              <a:spcAft>
                <a:spcPts val="0"/>
              </a:spcAft>
            </a:pPr>
            <a:r>
              <a:rPr sz="3400" b="1" i="0">
                <a:solidFill>
                  <a:srgbClr val="F2B266"/>
                </a:solidFill>
                <a:latin typeface="Calibri"/>
              </a:rPr>
              <a:t>105 min</a:t>
            </a:r>
          </a:p>
        </p:txBody>
      </p:sp>
      <p:sp>
        <p:nvSpPr>
          <p:cNvPr id="11" name="TextBox 10"/>
          <p:cNvSpPr txBox="1"/>
          <p:nvPr/>
        </p:nvSpPr>
        <p:spPr>
          <a:xfrm>
            <a:off x="7726679" y="4288790"/>
            <a:ext cx="3108960" cy="731520"/>
          </a:xfrm>
          <a:prstGeom prst="rect">
            <a:avLst/>
          </a:prstGeom>
          <a:noFill/>
        </p:spPr>
        <p:txBody>
          <a:bodyPr wrap="square" lIns="0" rIns="0" tIns="0" bIns="0" anchor="t">
            <a:spAutoFit/>
          </a:bodyPr>
          <a:lstStyle/>
          <a:p>
            <a:pPr algn="l">
              <a:spcAft>
                <a:spcPts val="0"/>
              </a:spcAft>
            </a:pPr>
            <a:r>
              <a:rPr sz="1300" b="0" i="0">
                <a:solidFill>
                  <a:srgbClr val="D6DEE8"/>
                </a:solidFill>
                <a:latin typeface="Calibri"/>
              </a:rPr>
              <a:t>median warning before a spike; 109 of 254 warned 60+ min ahead</a:t>
            </a:r>
          </a:p>
        </p:txBody>
      </p:sp>
      <p:sp>
        <p:nvSpPr>
          <p:cNvPr id="12" name="Cover rule"/>
          <p:cNvSpPr/>
          <p:nvPr/>
        </p:nvSpPr>
        <p:spPr>
          <a:xfrm>
            <a:off x="0" y="5074920"/>
            <a:ext cx="12191695" cy="54864"/>
          </a:xfrm>
          <a:prstGeom prst="rect">
            <a:avLst/>
          </a:prstGeom>
          <a:solidFill>
            <a:srgbClr val="E07B22"/>
          </a:solidFill>
          <a:ln>
            <a:noFill/>
          </a:ln>
        </p:spPr>
        <p:txBody>
          <a:bodyPr rtlCol="0" anchor="ctr"/>
          <a:lstStyle/>
          <a:p>
            <a:pPr algn="ctr"/>
          </a:p>
        </p:txBody>
      </p:sp>
      <p:sp>
        <p:nvSpPr>
          <p:cNvPr id="13" name="TextBox 12"/>
          <p:cNvSpPr txBox="1"/>
          <p:nvPr/>
        </p:nvSpPr>
        <p:spPr>
          <a:xfrm>
            <a:off x="868680" y="5349240"/>
            <a:ext cx="6766560" cy="365760"/>
          </a:xfrm>
          <a:prstGeom prst="rect">
            <a:avLst/>
          </a:prstGeom>
          <a:noFill/>
        </p:spPr>
        <p:txBody>
          <a:bodyPr wrap="square" lIns="0" rIns="0" tIns="0" bIns="0" anchor="t">
            <a:spAutoFit/>
          </a:bodyPr>
          <a:lstStyle/>
          <a:p>
            <a:pPr algn="l">
              <a:spcAft>
                <a:spcPts val="0"/>
              </a:spcAft>
            </a:pPr>
            <a:r>
              <a:rPr sz="1800" b="1" i="0">
                <a:solidFill>
                  <a:srgbClr val="FFFFFF"/>
                </a:solidFill>
                <a:latin typeface="Calibri"/>
              </a:rPr>
              <a:t>Nikhil Chawla</a:t>
            </a:r>
            <a:r>
              <a:rPr sz="1800" b="0" i="0">
                <a:solidFill>
                  <a:srgbClr val="FFFFFF"/>
                </a:solidFill>
                <a:latin typeface="Calibri"/>
              </a:rPr>
              <a:t>  ·  Team leader, BCA (AI &amp; Data Science), RIMT University</a:t>
            </a:r>
          </a:p>
        </p:txBody>
      </p:sp>
      <p:sp>
        <p:nvSpPr>
          <p:cNvPr id="14" name="TextBox 13"/>
          <p:cNvSpPr txBox="1"/>
          <p:nvPr/>
        </p:nvSpPr>
        <p:spPr>
          <a:xfrm>
            <a:off x="868680" y="5760720"/>
            <a:ext cx="6400800" cy="320040"/>
          </a:xfrm>
          <a:prstGeom prst="rect">
            <a:avLst/>
          </a:prstGeom>
          <a:noFill/>
        </p:spPr>
        <p:txBody>
          <a:bodyPr wrap="square" lIns="0" rIns="0" tIns="0" bIns="0" anchor="t">
            <a:spAutoFit/>
          </a:bodyPr>
          <a:lstStyle/>
          <a:p>
            <a:pPr algn="l">
              <a:spcAft>
                <a:spcPts val="0"/>
              </a:spcAft>
            </a:pPr>
            <a:r>
              <a:rPr sz="1500" b="0" i="0">
                <a:solidFill>
                  <a:srgbClr val="D6DEE8"/>
                </a:solidFill>
                <a:latin typeface="Calibri"/>
              </a:rPr>
              <a:t>Phase 1 · prototype &amp; code submission  ·  October 2026</a:t>
            </a:r>
          </a:p>
        </p:txBody>
      </p:sp>
      <p:sp>
        <p:nvSpPr>
          <p:cNvPr id="15" name="TextBox 14"/>
          <p:cNvSpPr txBox="1"/>
          <p:nvPr/>
        </p:nvSpPr>
        <p:spPr>
          <a:xfrm>
            <a:off x="7680960" y="5376672"/>
            <a:ext cx="3657600" cy="640080"/>
          </a:xfrm>
          <a:prstGeom prst="rect">
            <a:avLst/>
          </a:prstGeom>
          <a:noFill/>
        </p:spPr>
        <p:txBody>
          <a:bodyPr wrap="square" lIns="0" rIns="0" tIns="0" bIns="0" anchor="t">
            <a:spAutoFit/>
          </a:bodyPr>
          <a:lstStyle/>
          <a:p>
            <a:pPr algn="r">
              <a:spcAft>
                <a:spcPts val="0"/>
              </a:spcAft>
            </a:pPr>
            <a:r>
              <a:rPr sz="1200" b="0" i="0">
                <a:solidFill>
                  <a:srgbClr val="AEBBCC"/>
                </a:solidFill>
                <a:latin typeface="Calibri"/>
              </a:rPr>
              <a:t>Research prototype, not a medical device.</a:t>
            </a:r>
          </a:p>
          <a:p>
            <a:pPr algn="r">
              <a:spcAft>
                <a:spcPts val="0"/>
              </a:spcAft>
            </a:pPr>
            <a:r>
              <a:rPr sz="1200" b="0" i="0">
                <a:solidFill>
                  <a:srgbClr val="AEBBCC"/>
                </a:solidFill>
                <a:latin typeface="Calibri"/>
              </a:rPr>
              <a:t>All patient data is synthetic or open.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band"/>
          <p:cNvSpPr/>
          <p:nvPr/>
        </p:nvSpPr>
        <p:spPr>
          <a:xfrm>
            <a:off x="0" y="0"/>
            <a:ext cx="12191695" cy="82296"/>
          </a:xfrm>
          <a:prstGeom prst="rect">
            <a:avLst/>
          </a:prstGeom>
          <a:solidFill>
            <a:srgbClr val="1F3A5F"/>
          </a:solidFill>
          <a:ln>
            <a:noFill/>
          </a:ln>
        </p:spPr>
        <p:txBody>
          <a:bodyPr rtlCol="0" anchor="ctr"/>
          <a:lstStyle/>
          <a:p>
            <a:pPr algn="ctr"/>
          </a:p>
        </p:txBody>
      </p:sp>
      <p:sp>
        <p:nvSpPr>
          <p:cNvPr id="3" name="Top accent"/>
          <p:cNvSpPr/>
          <p:nvPr/>
        </p:nvSpPr>
        <p:spPr>
          <a:xfrm>
            <a:off x="0" y="82296"/>
            <a:ext cx="2011680" cy="45720"/>
          </a:xfrm>
          <a:prstGeom prst="rect">
            <a:avLst/>
          </a:prstGeom>
          <a:solidFill>
            <a:srgbClr val="E07B22"/>
          </a:solidFill>
          <a:ln>
            <a:noFill/>
          </a:ln>
        </p:spPr>
        <p:txBody>
          <a:bodyPr rtlCol="0" anchor="ctr"/>
          <a:lstStyle/>
          <a:p>
            <a:pPr algn="ctr"/>
          </a:p>
        </p:txBody>
      </p:sp>
      <p:sp>
        <p:nvSpPr>
          <p:cNvPr id="4" name="Kicker"/>
          <p:cNvSpPr txBox="1"/>
          <p:nvPr/>
        </p:nvSpPr>
        <p:spPr>
          <a:xfrm>
            <a:off x="548640" y="329184"/>
            <a:ext cx="11091672" cy="237744"/>
          </a:xfrm>
          <a:prstGeom prst="rect">
            <a:avLst/>
          </a:prstGeom>
          <a:noFill/>
        </p:spPr>
        <p:txBody>
          <a:bodyPr wrap="square" lIns="0" rIns="0" tIns="0" bIns="0" anchor="t">
            <a:spAutoFit/>
          </a:bodyPr>
          <a:lstStyle/>
          <a:p>
            <a:pPr algn="l">
              <a:spcAft>
                <a:spcPts val="0"/>
              </a:spcAft>
            </a:pPr>
            <a:r>
              <a:rPr sz="1200" b="1" i="0">
                <a:solidFill>
                  <a:srgbClr val="E07B22"/>
                </a:solidFill>
                <a:latin typeface="Calibri"/>
              </a:rPr>
              <a:t>1 · THE PROBLEM, AS A DOCTOR MEETS IT</a:t>
            </a:r>
          </a:p>
        </p:txBody>
      </p:sp>
      <p:sp>
        <p:nvSpPr>
          <p:cNvPr id="5" name="Title"/>
          <p:cNvSpPr txBox="1"/>
          <p:nvPr/>
        </p:nvSpPr>
        <p:spPr>
          <a:xfrm>
            <a:off x="548640" y="566928"/>
            <a:ext cx="11091672" cy="566928"/>
          </a:xfrm>
          <a:prstGeom prst="rect">
            <a:avLst/>
          </a:prstGeom>
          <a:noFill/>
        </p:spPr>
        <p:txBody>
          <a:bodyPr wrap="square" lIns="0" rIns="0" tIns="0" bIns="0" anchor="t">
            <a:spAutoFit/>
          </a:bodyPr>
          <a:lstStyle/>
          <a:p>
            <a:pPr algn="l">
              <a:spcAft>
                <a:spcPts val="0"/>
              </a:spcAft>
            </a:pPr>
            <a:r>
              <a:rPr sz="3000" b="1" i="0">
                <a:solidFill>
                  <a:srgbClr val="1F3A5F"/>
                </a:solidFill>
                <a:latin typeface="Calibri"/>
              </a:rPr>
              <a:t>Doctors see glucose after the fact. Nothing lets them look ahead.</a:t>
            </a:r>
          </a:p>
        </p:txBody>
      </p:sp>
      <p:cxnSp>
        <p:nvCxnSpPr>
          <p:cNvPr id="6" name="Footer rule"/>
          <p:cNvCxnSpPr/>
          <p:nvPr/>
        </p:nvCxnSpPr>
        <p:spPr>
          <a:xfrm>
            <a:off x="548640" y="6382512"/>
            <a:ext cx="11091672" cy="0"/>
          </a:xfrm>
          <a:prstGeom prst="line">
            <a:avLst/>
          </a:prstGeom>
          <a:ln w="9525">
            <a:solidFill>
              <a:srgbClr val="C9D1DC"/>
            </a:solidFill>
          </a:ln>
        </p:spPr>
        <p:style>
          <a:lnRef idx="2">
            <a:schemeClr val="accent1"/>
          </a:lnRef>
          <a:fillRef idx="0">
            <a:schemeClr val="accent1"/>
          </a:fillRef>
          <a:effectRef idx="1">
            <a:schemeClr val="accent1"/>
          </a:effectRef>
          <a:fontRef idx="minor">
            <a:schemeClr val="tx1"/>
          </a:fontRef>
        </p:style>
      </p:cxnSp>
      <p:sp>
        <p:nvSpPr>
          <p:cNvPr id="7" name="Sources"/>
          <p:cNvSpPr txBox="1"/>
          <p:nvPr/>
        </p:nvSpPr>
        <p:spPr>
          <a:xfrm>
            <a:off x="548640" y="6428232"/>
            <a:ext cx="10634472" cy="365760"/>
          </a:xfrm>
          <a:prstGeom prst="rect">
            <a:avLst/>
          </a:prstGeom>
          <a:noFill/>
        </p:spPr>
        <p:txBody>
          <a:bodyPr wrap="square" lIns="0" rIns="0" tIns="0" bIns="0" anchor="t">
            <a:spAutoFit/>
          </a:bodyPr>
          <a:lstStyle/>
          <a:p>
            <a:pPr algn="l">
              <a:spcAft>
                <a:spcPts val="0"/>
              </a:spcAft>
            </a:pPr>
            <a:r>
              <a:rPr sz="900" b="0" i="0">
                <a:solidFill>
                  <a:srgbClr val="5B6675"/>
                </a:solidFill>
                <a:latin typeface="Calibri"/>
              </a:rPr>
              <a:t>Sources: ICMR-INDIAB-17 (Lancet Diabetes Endocrinol 2023); ICMR-INDIAB-13 (Lancet Diabetes Endocrinol 2022); IDF Diabetes Atlas 11th ed. (2025), India. Patient is simulated (GlucoTwin ward, GT-07); the clinic scene is illustrative.</a:t>
            </a:r>
          </a:p>
        </p:txBody>
      </p:sp>
      <p:sp>
        <p:nvSpPr>
          <p:cNvPr id="8" name="Page number"/>
          <p:cNvSpPr txBox="1"/>
          <p:nvPr/>
        </p:nvSpPr>
        <p:spPr>
          <a:xfrm>
            <a:off x="11274552" y="6446520"/>
            <a:ext cx="365760" cy="228600"/>
          </a:xfrm>
          <a:prstGeom prst="rect">
            <a:avLst/>
          </a:prstGeom>
          <a:noFill/>
        </p:spPr>
        <p:txBody>
          <a:bodyPr wrap="square" lIns="0" rIns="0" tIns="0" bIns="0" anchor="t">
            <a:spAutoFit/>
          </a:bodyPr>
          <a:lstStyle/>
          <a:p>
            <a:pPr algn="r">
              <a:spcAft>
                <a:spcPts val="0"/>
              </a:spcAft>
            </a:pPr>
            <a:r>
              <a:rPr sz="1100" b="1" i="0">
                <a:solidFill>
                  <a:srgbClr val="1F3A5F"/>
                </a:solidFill>
                <a:latin typeface="Calibri"/>
              </a:rPr>
              <a:t>1</a:t>
            </a:r>
          </a:p>
        </p:txBody>
      </p:sp>
      <p:sp>
        <p:nvSpPr>
          <p:cNvPr id="9" name="Rectangle 8"/>
          <p:cNvSpPr/>
          <p:nvPr/>
        </p:nvSpPr>
        <p:spPr>
          <a:xfrm>
            <a:off x="548640" y="1325880"/>
            <a:ext cx="6172200" cy="3749039"/>
          </a:xfrm>
          <a:prstGeom prst="rect">
            <a:avLst/>
          </a:prstGeom>
          <a:solidFill>
            <a:srgbClr val="F3F5F9"/>
          </a:solidFill>
          <a:ln>
            <a:noFill/>
          </a:ln>
        </p:spPr>
        <p:txBody>
          <a:bodyPr rtlCol="0" anchor="ctr"/>
          <a:lstStyle/>
          <a:p>
            <a:pPr algn="ctr"/>
          </a:p>
        </p:txBody>
      </p:sp>
      <p:sp>
        <p:nvSpPr>
          <p:cNvPr id="10" name="TextBox 9"/>
          <p:cNvSpPr txBox="1"/>
          <p:nvPr/>
        </p:nvSpPr>
        <p:spPr>
          <a:xfrm>
            <a:off x="822959" y="1481328"/>
            <a:ext cx="5669280" cy="274320"/>
          </a:xfrm>
          <a:prstGeom prst="rect">
            <a:avLst/>
          </a:prstGeom>
          <a:noFill/>
        </p:spPr>
        <p:txBody>
          <a:bodyPr wrap="square" lIns="0" rIns="0" tIns="0" bIns="0" anchor="t">
            <a:spAutoFit/>
          </a:bodyPr>
          <a:lstStyle/>
          <a:p>
            <a:pPr algn="l">
              <a:spcAft>
                <a:spcPts val="0"/>
              </a:spcAft>
            </a:pPr>
            <a:r>
              <a:rPr sz="1500" b="1" i="0">
                <a:solidFill>
                  <a:srgbClr val="E07B22"/>
                </a:solidFill>
                <a:latin typeface="Calibri"/>
              </a:rPr>
              <a:t>A diabetologist's clinic, between two visits</a:t>
            </a:r>
          </a:p>
        </p:txBody>
      </p:sp>
      <p:sp>
        <p:nvSpPr>
          <p:cNvPr id="11" name="TextBox 10"/>
          <p:cNvSpPr txBox="1"/>
          <p:nvPr/>
        </p:nvSpPr>
        <p:spPr>
          <a:xfrm>
            <a:off x="822959" y="1828800"/>
            <a:ext cx="5669280" cy="3154680"/>
          </a:xfrm>
          <a:prstGeom prst="rect">
            <a:avLst/>
          </a:prstGeom>
          <a:noFill/>
        </p:spPr>
        <p:txBody>
          <a:bodyPr wrap="square" lIns="0" rIns="0" tIns="0" bIns="0" anchor="t">
            <a:spAutoFit/>
          </a:bodyPr>
          <a:lstStyle/>
          <a:p>
            <a:pPr algn="l">
              <a:spcAft>
                <a:spcPts val="800"/>
              </a:spcAft>
            </a:pPr>
            <a:r>
              <a:rPr sz="1650" b="0" i="0">
                <a:solidFill>
                  <a:srgbClr val="1F2D3D"/>
                </a:solidFill>
                <a:latin typeface="Calibri"/>
              </a:rPr>
              <a:t>Ananya Rao, 54, has Type 2 diabetes: HbA1c 8.1%, BMI 29.4, on metformin. She is seen every three months.</a:t>
            </a:r>
          </a:p>
          <a:p>
            <a:pPr algn="l">
              <a:spcAft>
                <a:spcPts val="800"/>
              </a:spcAft>
            </a:pPr>
            <a:r>
              <a:rPr sz="1650" b="0" i="0">
                <a:solidFill>
                  <a:srgbClr val="1F2D3D"/>
                </a:solidFill>
                <a:latin typeface="Calibri"/>
              </a:rPr>
              <a:t>Her CGM writes 288 readings a day. The doctor gets a 14-day PDF, a separate lab report, and a few minutes.</a:t>
            </a:r>
          </a:p>
          <a:p>
            <a:pPr algn="l">
              <a:spcAft>
                <a:spcPts val="800"/>
              </a:spcAft>
            </a:pPr>
            <a:r>
              <a:rPr sz="1650" b="0" i="1">
                <a:solidFill>
                  <a:srgbClr val="1F3A5F"/>
                </a:solidFill>
                <a:latin typeface="Calibri"/>
              </a:rPr>
              <a:t>“Which meal is doing this? Would an earlier dinner help her, or hurt her?” The data cannot answer.</a:t>
            </a:r>
          </a:p>
          <a:p>
            <a:pPr algn="l">
              <a:spcAft>
                <a:spcPts val="1000"/>
              </a:spcAft>
            </a:pPr>
            <a:r>
              <a:rPr sz="1650" b="0" i="0">
                <a:solidFill>
                  <a:srgbClr val="1F2D3D"/>
                </a:solidFill>
                <a:latin typeface="Calibri"/>
              </a:rPr>
              <a:t>By the time HbA1c moves, the spikes have already happened. Advice stays generic: “cut rice, walk more”.</a:t>
            </a:r>
          </a:p>
        </p:txBody>
      </p:sp>
      <p:sp>
        <p:nvSpPr>
          <p:cNvPr id="12" name="TextBox 11"/>
          <p:cNvSpPr txBox="1"/>
          <p:nvPr/>
        </p:nvSpPr>
        <p:spPr>
          <a:xfrm>
            <a:off x="6995160" y="1371600"/>
            <a:ext cx="4572000" cy="237744"/>
          </a:xfrm>
          <a:prstGeom prst="rect">
            <a:avLst/>
          </a:prstGeom>
          <a:noFill/>
        </p:spPr>
        <p:txBody>
          <a:bodyPr wrap="square" lIns="0" rIns="0" tIns="0" bIns="0" anchor="t">
            <a:spAutoFit/>
          </a:bodyPr>
          <a:lstStyle/>
          <a:p>
            <a:pPr algn="l">
              <a:spcAft>
                <a:spcPts val="0"/>
              </a:spcAft>
            </a:pPr>
            <a:r>
              <a:rPr sz="1300" b="1" i="0">
                <a:solidFill>
                  <a:srgbClr val="5B6675"/>
                </a:solidFill>
                <a:latin typeface="Calibri"/>
              </a:rPr>
              <a:t>THREE GAPS IN TODAY'S CARE</a:t>
            </a:r>
          </a:p>
        </p:txBody>
      </p:sp>
      <p:sp>
        <p:nvSpPr>
          <p:cNvPr id="13" name="Rectangle 12"/>
          <p:cNvSpPr/>
          <p:nvPr/>
        </p:nvSpPr>
        <p:spPr>
          <a:xfrm>
            <a:off x="6995160" y="1737360"/>
            <a:ext cx="64008" cy="457200"/>
          </a:xfrm>
          <a:prstGeom prst="rect">
            <a:avLst/>
          </a:prstGeom>
          <a:solidFill>
            <a:srgbClr val="2F6DB5"/>
          </a:solidFill>
          <a:ln>
            <a:noFill/>
          </a:ln>
        </p:spPr>
        <p:txBody>
          <a:bodyPr rtlCol="0" anchor="ctr"/>
          <a:lstStyle/>
          <a:p>
            <a:pPr algn="ctr"/>
          </a:p>
        </p:txBody>
      </p:sp>
      <p:sp>
        <p:nvSpPr>
          <p:cNvPr id="14" name="TextBox 13"/>
          <p:cNvSpPr txBox="1"/>
          <p:nvPr/>
        </p:nvSpPr>
        <p:spPr>
          <a:xfrm>
            <a:off x="7178040" y="1737360"/>
            <a:ext cx="4389120" cy="457200"/>
          </a:xfrm>
          <a:prstGeom prst="rect">
            <a:avLst/>
          </a:prstGeom>
          <a:noFill/>
        </p:spPr>
        <p:txBody>
          <a:bodyPr wrap="square" lIns="0" rIns="0" tIns="0" bIns="0" anchor="ctr">
            <a:spAutoFit/>
          </a:bodyPr>
          <a:lstStyle/>
          <a:p>
            <a:pPr algn="l">
              <a:spcAft>
                <a:spcPts val="0"/>
              </a:spcAft>
            </a:pPr>
            <a:r>
              <a:rPr sz="1600" b="1" i="0">
                <a:solidFill>
                  <a:srgbClr val="1F3A5F"/>
                </a:solidFill>
                <a:latin typeface="Calibri"/>
              </a:rPr>
              <a:t>Record and sensor data never meet</a:t>
            </a:r>
          </a:p>
        </p:txBody>
      </p:sp>
      <p:sp>
        <p:nvSpPr>
          <p:cNvPr id="15" name="Rectangle 14"/>
          <p:cNvSpPr/>
          <p:nvPr/>
        </p:nvSpPr>
        <p:spPr>
          <a:xfrm>
            <a:off x="6995160" y="2304288"/>
            <a:ext cx="64008" cy="457200"/>
          </a:xfrm>
          <a:prstGeom prst="rect">
            <a:avLst/>
          </a:prstGeom>
          <a:solidFill>
            <a:srgbClr val="E07B22"/>
          </a:solidFill>
          <a:ln>
            <a:noFill/>
          </a:ln>
        </p:spPr>
        <p:txBody>
          <a:bodyPr rtlCol="0" anchor="ctr"/>
          <a:lstStyle/>
          <a:p>
            <a:pPr algn="ctr"/>
          </a:p>
        </p:txBody>
      </p:sp>
      <p:sp>
        <p:nvSpPr>
          <p:cNvPr id="16" name="TextBox 15"/>
          <p:cNvSpPr txBox="1"/>
          <p:nvPr/>
        </p:nvSpPr>
        <p:spPr>
          <a:xfrm>
            <a:off x="7178040" y="2304288"/>
            <a:ext cx="4389120" cy="457200"/>
          </a:xfrm>
          <a:prstGeom prst="rect">
            <a:avLst/>
          </a:prstGeom>
          <a:noFill/>
        </p:spPr>
        <p:txBody>
          <a:bodyPr wrap="square" lIns="0" rIns="0" tIns="0" bIns="0" anchor="ctr">
            <a:spAutoFit/>
          </a:bodyPr>
          <a:lstStyle/>
          <a:p>
            <a:pPr algn="l">
              <a:spcAft>
                <a:spcPts val="0"/>
              </a:spcAft>
            </a:pPr>
            <a:r>
              <a:rPr sz="1600" b="1" i="0">
                <a:solidFill>
                  <a:srgbClr val="1F3A5F"/>
                </a:solidFill>
                <a:latin typeface="Calibri"/>
              </a:rPr>
              <a:t>Reports look back; nothing looks ahead</a:t>
            </a:r>
          </a:p>
        </p:txBody>
      </p:sp>
      <p:sp>
        <p:nvSpPr>
          <p:cNvPr id="17" name="Rectangle 16"/>
          <p:cNvSpPr/>
          <p:nvPr/>
        </p:nvSpPr>
        <p:spPr>
          <a:xfrm>
            <a:off x="6995160" y="2871215"/>
            <a:ext cx="64008" cy="457200"/>
          </a:xfrm>
          <a:prstGeom prst="rect">
            <a:avLst/>
          </a:prstGeom>
          <a:solidFill>
            <a:srgbClr val="C0392B"/>
          </a:solidFill>
          <a:ln>
            <a:noFill/>
          </a:ln>
        </p:spPr>
        <p:txBody>
          <a:bodyPr rtlCol="0" anchor="ctr"/>
          <a:lstStyle/>
          <a:p>
            <a:pPr algn="ctr"/>
          </a:p>
        </p:txBody>
      </p:sp>
      <p:sp>
        <p:nvSpPr>
          <p:cNvPr id="18" name="TextBox 17"/>
          <p:cNvSpPr txBox="1"/>
          <p:nvPr/>
        </p:nvSpPr>
        <p:spPr>
          <a:xfrm>
            <a:off x="7178040" y="2871215"/>
            <a:ext cx="4389120" cy="457200"/>
          </a:xfrm>
          <a:prstGeom prst="rect">
            <a:avLst/>
          </a:prstGeom>
          <a:noFill/>
        </p:spPr>
        <p:txBody>
          <a:bodyPr wrap="square" lIns="0" rIns="0" tIns="0" bIns="0" anchor="ctr">
            <a:spAutoFit/>
          </a:bodyPr>
          <a:lstStyle/>
          <a:p>
            <a:pPr algn="l">
              <a:spcAft>
                <a:spcPts val="0"/>
              </a:spcAft>
            </a:pPr>
            <a:r>
              <a:rPr sz="1600" b="1" i="0">
                <a:solidFill>
                  <a:srgbClr val="1F3A5F"/>
                </a:solidFill>
                <a:latin typeface="Calibri"/>
              </a:rPr>
              <a:t>No way to test a plan on this patient</a:t>
            </a:r>
          </a:p>
        </p:txBody>
      </p:sp>
      <p:sp>
        <p:nvSpPr>
          <p:cNvPr id="19" name="Rectangle 18"/>
          <p:cNvSpPr/>
          <p:nvPr/>
        </p:nvSpPr>
        <p:spPr>
          <a:xfrm>
            <a:off x="6995160" y="3520440"/>
            <a:ext cx="4645152" cy="1554480"/>
          </a:xfrm>
          <a:prstGeom prst="rect">
            <a:avLst/>
          </a:prstGeom>
          <a:solidFill>
            <a:srgbClr val="1F3A5F"/>
          </a:solidFill>
          <a:ln>
            <a:noFill/>
          </a:ln>
        </p:spPr>
        <p:txBody>
          <a:bodyPr rtlCol="0" anchor="ctr"/>
          <a:lstStyle/>
          <a:p>
            <a:pPr algn="ctr"/>
          </a:p>
        </p:txBody>
      </p:sp>
      <p:sp>
        <p:nvSpPr>
          <p:cNvPr id="20" name="TextBox 19"/>
          <p:cNvSpPr txBox="1"/>
          <p:nvPr/>
        </p:nvSpPr>
        <p:spPr>
          <a:xfrm>
            <a:off x="7223760" y="3639312"/>
            <a:ext cx="4297680" cy="1371600"/>
          </a:xfrm>
          <a:prstGeom prst="rect">
            <a:avLst/>
          </a:prstGeom>
          <a:noFill/>
        </p:spPr>
        <p:txBody>
          <a:bodyPr wrap="square" lIns="0" rIns="0" tIns="0" bIns="0" anchor="t">
            <a:spAutoFit/>
          </a:bodyPr>
          <a:lstStyle/>
          <a:p>
            <a:pPr algn="l">
              <a:spcAft>
                <a:spcPts val="0"/>
              </a:spcAft>
            </a:pPr>
            <a:r>
              <a:rPr sz="3600" b="1" i="0">
                <a:solidFill>
                  <a:srgbClr val="F2B266"/>
                </a:solidFill>
                <a:latin typeface="Calibri"/>
              </a:rPr>
              <a:t>36.3%</a:t>
            </a:r>
            <a:r>
              <a:rPr sz="1500" b="0" i="0">
                <a:solidFill>
                  <a:srgbClr val="FFFFFF"/>
                </a:solidFill>
                <a:latin typeface="Calibri"/>
              </a:rPr>
              <a:t>  reach the glycaemic target</a:t>
            </a:r>
          </a:p>
          <a:p>
            <a:pPr algn="l">
              <a:spcAft>
                <a:spcPts val="400"/>
              </a:spcAft>
            </a:pPr>
            <a:r>
              <a:rPr sz="1350" b="0" i="0">
                <a:solidFill>
                  <a:srgbClr val="FFFFFF"/>
                </a:solidFill>
                <a:latin typeface="Calibri"/>
              </a:rPr>
              <a:t>Only 7.7% of people with diabetes in India reach HbA1c, blood pressure and LDL targets together.</a:t>
            </a:r>
          </a:p>
          <a:p>
            <a:pPr algn="l">
              <a:spcAft>
                <a:spcPts val="0"/>
              </a:spcAft>
            </a:pPr>
            <a:r>
              <a:rPr sz="1450" b="1" i="0">
                <a:solidFill>
                  <a:srgbClr val="F2B266"/>
                </a:solidFill>
                <a:latin typeface="Calibri"/>
              </a:rPr>
              <a:t>The missing piece is foresight, not more data.</a:t>
            </a:r>
          </a:p>
        </p:txBody>
      </p:sp>
      <p:sp>
        <p:nvSpPr>
          <p:cNvPr id="21" name="Rectangle 20"/>
          <p:cNvSpPr/>
          <p:nvPr/>
        </p:nvSpPr>
        <p:spPr>
          <a:xfrm>
            <a:off x="548640" y="5257800"/>
            <a:ext cx="11091672" cy="960120"/>
          </a:xfrm>
          <a:prstGeom prst="rect">
            <a:avLst/>
          </a:prstGeom>
          <a:solidFill>
            <a:srgbClr val="FFF4E6"/>
          </a:solidFill>
          <a:ln>
            <a:noFill/>
          </a:ln>
        </p:spPr>
        <p:txBody>
          <a:bodyPr rtlCol="0" anchor="ctr"/>
          <a:lstStyle/>
          <a:p>
            <a:pPr algn="ctr"/>
          </a:p>
        </p:txBody>
      </p:sp>
      <p:sp>
        <p:nvSpPr>
          <p:cNvPr id="22" name="TextBox 21"/>
          <p:cNvSpPr txBox="1"/>
          <p:nvPr/>
        </p:nvSpPr>
        <p:spPr>
          <a:xfrm>
            <a:off x="777240" y="5440680"/>
            <a:ext cx="1645920" cy="640080"/>
          </a:xfrm>
          <a:prstGeom prst="rect">
            <a:avLst/>
          </a:prstGeom>
          <a:noFill/>
        </p:spPr>
        <p:txBody>
          <a:bodyPr wrap="square" lIns="0" rIns="0" tIns="0" bIns="0" anchor="t">
            <a:spAutoFit/>
          </a:bodyPr>
          <a:lstStyle/>
          <a:p>
            <a:pPr algn="l">
              <a:spcAft>
                <a:spcPts val="0"/>
              </a:spcAft>
            </a:pPr>
            <a:r>
              <a:rPr sz="1300" b="1" i="0">
                <a:solidFill>
                  <a:srgbClr val="E07B22"/>
                </a:solidFill>
                <a:latin typeface="Calibri"/>
              </a:rPr>
              <a:t>THE STAKES,</a:t>
            </a:r>
          </a:p>
          <a:p>
            <a:pPr algn="l">
              <a:spcAft>
                <a:spcPts val="0"/>
              </a:spcAft>
            </a:pPr>
            <a:r>
              <a:rPr sz="1300" b="1" i="0">
                <a:solidFill>
                  <a:srgbClr val="E07B22"/>
                </a:solidFill>
                <a:latin typeface="Calibri"/>
              </a:rPr>
              <a:t>NATIONALLY</a:t>
            </a:r>
          </a:p>
        </p:txBody>
      </p:sp>
      <p:sp>
        <p:nvSpPr>
          <p:cNvPr id="23" name="TextBox 22"/>
          <p:cNvSpPr txBox="1"/>
          <p:nvPr/>
        </p:nvSpPr>
        <p:spPr>
          <a:xfrm>
            <a:off x="2103120" y="5394960"/>
            <a:ext cx="3017520" cy="822960"/>
          </a:xfrm>
          <a:prstGeom prst="rect">
            <a:avLst/>
          </a:prstGeom>
          <a:noFill/>
        </p:spPr>
        <p:txBody>
          <a:bodyPr wrap="square" lIns="0" rIns="0" tIns="0" bIns="0" anchor="t">
            <a:spAutoFit/>
          </a:bodyPr>
          <a:lstStyle/>
          <a:p>
            <a:pPr algn="l">
              <a:spcAft>
                <a:spcPts val="0"/>
              </a:spcAft>
            </a:pPr>
            <a:r>
              <a:rPr sz="2800" b="1" i="0">
                <a:solidFill>
                  <a:srgbClr val="1F3A5F"/>
                </a:solidFill>
                <a:latin typeface="Calibri"/>
              </a:rPr>
              <a:t>101M</a:t>
            </a:r>
            <a:r>
              <a:rPr sz="1250" b="0" i="0">
                <a:solidFill>
                  <a:srgbClr val="1F2D3D"/>
                </a:solidFill>
                <a:latin typeface="Calibri"/>
              </a:rPr>
              <a:t>  adults with diabetes, plus 136M with prediabetes (ICMR-INDIAB)</a:t>
            </a:r>
          </a:p>
        </p:txBody>
      </p:sp>
      <p:sp>
        <p:nvSpPr>
          <p:cNvPr id="24" name="TextBox 23"/>
          <p:cNvSpPr txBox="1"/>
          <p:nvPr/>
        </p:nvSpPr>
        <p:spPr>
          <a:xfrm>
            <a:off x="5303520" y="5394960"/>
            <a:ext cx="3017520" cy="822960"/>
          </a:xfrm>
          <a:prstGeom prst="rect">
            <a:avLst/>
          </a:prstGeom>
          <a:noFill/>
        </p:spPr>
        <p:txBody>
          <a:bodyPr wrap="square" lIns="0" rIns="0" tIns="0" bIns="0" anchor="t">
            <a:spAutoFit/>
          </a:bodyPr>
          <a:lstStyle/>
          <a:p>
            <a:pPr algn="l">
              <a:spcAft>
                <a:spcPts val="0"/>
              </a:spcAft>
            </a:pPr>
            <a:r>
              <a:rPr sz="2800" b="1" i="0">
                <a:solidFill>
                  <a:srgbClr val="1F3A5F"/>
                </a:solidFill>
                <a:latin typeface="Calibri"/>
              </a:rPr>
              <a:t>156.7M</a:t>
            </a:r>
            <a:r>
              <a:rPr sz="1250" b="0" i="0">
                <a:solidFill>
                  <a:srgbClr val="1F2D3D"/>
                </a:solidFill>
                <a:latin typeface="Calibri"/>
              </a:rPr>
              <a:t>  adults with diabetes by 2050, up 75% from 2024 (IDF)</a:t>
            </a:r>
          </a:p>
        </p:txBody>
      </p:sp>
      <p:sp>
        <p:nvSpPr>
          <p:cNvPr id="25" name="TextBox 24"/>
          <p:cNvSpPr txBox="1"/>
          <p:nvPr/>
        </p:nvSpPr>
        <p:spPr>
          <a:xfrm>
            <a:off x="8503920" y="5394960"/>
            <a:ext cx="3017520" cy="822960"/>
          </a:xfrm>
          <a:prstGeom prst="rect">
            <a:avLst/>
          </a:prstGeom>
          <a:noFill/>
        </p:spPr>
        <p:txBody>
          <a:bodyPr wrap="square" lIns="0" rIns="0" tIns="0" bIns="0" anchor="t">
            <a:spAutoFit/>
          </a:bodyPr>
          <a:lstStyle/>
          <a:p>
            <a:pPr algn="l">
              <a:spcAft>
                <a:spcPts val="0"/>
              </a:spcAft>
            </a:pPr>
            <a:r>
              <a:rPr sz="2800" b="1" i="0">
                <a:solidFill>
                  <a:srgbClr val="1F3A5F"/>
                </a:solidFill>
                <a:latin typeface="Calibri"/>
              </a:rPr>
              <a:t>43%</a:t>
            </a:r>
            <a:r>
              <a:rPr sz="1250" b="0" i="0">
                <a:solidFill>
                  <a:srgbClr val="1F2D3D"/>
                </a:solidFill>
                <a:latin typeface="Calibri"/>
              </a:rPr>
              <a:t>  of Indian adults with diabetes are undiagnosed (IDF 2025)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band"/>
          <p:cNvSpPr/>
          <p:nvPr/>
        </p:nvSpPr>
        <p:spPr>
          <a:xfrm>
            <a:off x="0" y="0"/>
            <a:ext cx="12191695" cy="82296"/>
          </a:xfrm>
          <a:prstGeom prst="rect">
            <a:avLst/>
          </a:prstGeom>
          <a:solidFill>
            <a:srgbClr val="1F3A5F"/>
          </a:solidFill>
          <a:ln>
            <a:noFill/>
          </a:ln>
        </p:spPr>
        <p:txBody>
          <a:bodyPr rtlCol="0" anchor="ctr"/>
          <a:lstStyle/>
          <a:p>
            <a:pPr algn="ctr"/>
          </a:p>
        </p:txBody>
      </p:sp>
      <p:sp>
        <p:nvSpPr>
          <p:cNvPr id="3" name="Top accent"/>
          <p:cNvSpPr/>
          <p:nvPr/>
        </p:nvSpPr>
        <p:spPr>
          <a:xfrm>
            <a:off x="0" y="82296"/>
            <a:ext cx="2011680" cy="45720"/>
          </a:xfrm>
          <a:prstGeom prst="rect">
            <a:avLst/>
          </a:prstGeom>
          <a:solidFill>
            <a:srgbClr val="E07B22"/>
          </a:solidFill>
          <a:ln>
            <a:noFill/>
          </a:ln>
        </p:spPr>
        <p:txBody>
          <a:bodyPr rtlCol="0" anchor="ctr"/>
          <a:lstStyle/>
          <a:p>
            <a:pPr algn="ctr"/>
          </a:p>
        </p:txBody>
      </p:sp>
      <p:sp>
        <p:nvSpPr>
          <p:cNvPr id="4" name="Kicker"/>
          <p:cNvSpPr txBox="1"/>
          <p:nvPr/>
        </p:nvSpPr>
        <p:spPr>
          <a:xfrm>
            <a:off x="548640" y="329184"/>
            <a:ext cx="11091672" cy="237744"/>
          </a:xfrm>
          <a:prstGeom prst="rect">
            <a:avLst/>
          </a:prstGeom>
          <a:noFill/>
        </p:spPr>
        <p:txBody>
          <a:bodyPr wrap="square" lIns="0" rIns="0" tIns="0" bIns="0" anchor="t">
            <a:spAutoFit/>
          </a:bodyPr>
          <a:lstStyle/>
          <a:p>
            <a:pPr algn="l">
              <a:spcAft>
                <a:spcPts val="0"/>
              </a:spcAft>
            </a:pPr>
            <a:r>
              <a:rPr sz="1200" b="1" i="0">
                <a:solidFill>
                  <a:srgbClr val="E07B22"/>
                </a:solidFill>
                <a:latin typeface="Calibri"/>
              </a:rPr>
              <a:t>2 · SOLUTION OVERVIEW</a:t>
            </a:r>
          </a:p>
        </p:txBody>
      </p:sp>
      <p:sp>
        <p:nvSpPr>
          <p:cNvPr id="5" name="Title"/>
          <p:cNvSpPr txBox="1"/>
          <p:nvPr/>
        </p:nvSpPr>
        <p:spPr>
          <a:xfrm>
            <a:off x="548640" y="566928"/>
            <a:ext cx="11091672" cy="566928"/>
          </a:xfrm>
          <a:prstGeom prst="rect">
            <a:avLst/>
          </a:prstGeom>
          <a:noFill/>
        </p:spPr>
        <p:txBody>
          <a:bodyPr wrap="square" lIns="0" rIns="0" tIns="0" bIns="0" anchor="t">
            <a:spAutoFit/>
          </a:bodyPr>
          <a:lstStyle/>
          <a:p>
            <a:pPr algn="l">
              <a:spcAft>
                <a:spcPts val="0"/>
              </a:spcAft>
            </a:pPr>
            <a:r>
              <a:rPr sz="3000" b="1" i="0">
                <a:solidFill>
                  <a:srgbClr val="1F3A5F"/>
                </a:solidFill>
                <a:latin typeface="Calibri"/>
              </a:rPr>
              <a:t>GlucoTwin turns data into the next two hours, for one patient</a:t>
            </a:r>
          </a:p>
        </p:txBody>
      </p:sp>
      <p:cxnSp>
        <p:nvCxnSpPr>
          <p:cNvPr id="6" name="Footer rule"/>
          <p:cNvCxnSpPr/>
          <p:nvPr/>
        </p:nvCxnSpPr>
        <p:spPr>
          <a:xfrm>
            <a:off x="548640" y="6382512"/>
            <a:ext cx="11091672" cy="0"/>
          </a:xfrm>
          <a:prstGeom prst="line">
            <a:avLst/>
          </a:prstGeom>
          <a:ln w="9525">
            <a:solidFill>
              <a:srgbClr val="C9D1DC"/>
            </a:solidFill>
          </a:ln>
        </p:spPr>
        <p:style>
          <a:lnRef idx="2">
            <a:schemeClr val="accent1"/>
          </a:lnRef>
          <a:fillRef idx="0">
            <a:schemeClr val="accent1"/>
          </a:fillRef>
          <a:effectRef idx="1">
            <a:schemeClr val="accent1"/>
          </a:effectRef>
          <a:fontRef idx="minor">
            <a:schemeClr val="tx1"/>
          </a:fontRef>
        </p:style>
      </p:cxnSp>
      <p:sp>
        <p:nvSpPr>
          <p:cNvPr id="7" name="Sources"/>
          <p:cNvSpPr txBox="1"/>
          <p:nvPr/>
        </p:nvSpPr>
        <p:spPr>
          <a:xfrm>
            <a:off x="548640" y="6428232"/>
            <a:ext cx="10634472" cy="365760"/>
          </a:xfrm>
          <a:prstGeom prst="rect">
            <a:avLst/>
          </a:prstGeom>
          <a:noFill/>
        </p:spPr>
        <p:txBody>
          <a:bodyPr wrap="square" lIns="0" rIns="0" tIns="0" bIns="0" anchor="t">
            <a:spAutoFit/>
          </a:bodyPr>
          <a:lstStyle/>
          <a:p>
            <a:pPr algn="l">
              <a:spcAft>
                <a:spcPts val="0"/>
              </a:spcAft>
            </a:pPr>
            <a:r>
              <a:rPr sz="900" b="0" i="0">
                <a:solidFill>
                  <a:srgbClr val="5B6675"/>
                </a:solidFill>
                <a:latin typeface="Calibri"/>
              </a:rPr>
              <a:t>Sources: GlucoTwin results. Error figures on CGMacros (PhysioNet, 45 adults); alert figures on the simulated stress test (generator differs from the twin); plan figure on the simulated ward, days 10–16.</a:t>
            </a:r>
          </a:p>
        </p:txBody>
      </p:sp>
      <p:sp>
        <p:nvSpPr>
          <p:cNvPr id="8" name="Page number"/>
          <p:cNvSpPr txBox="1"/>
          <p:nvPr/>
        </p:nvSpPr>
        <p:spPr>
          <a:xfrm>
            <a:off x="11274552" y="6446520"/>
            <a:ext cx="365760" cy="228600"/>
          </a:xfrm>
          <a:prstGeom prst="rect">
            <a:avLst/>
          </a:prstGeom>
          <a:noFill/>
        </p:spPr>
        <p:txBody>
          <a:bodyPr wrap="square" lIns="0" rIns="0" tIns="0" bIns="0" anchor="t">
            <a:spAutoFit/>
          </a:bodyPr>
          <a:lstStyle/>
          <a:p>
            <a:pPr algn="r">
              <a:spcAft>
                <a:spcPts val="0"/>
              </a:spcAft>
            </a:pPr>
            <a:r>
              <a:rPr sz="1100" b="1" i="0">
                <a:solidFill>
                  <a:srgbClr val="1F3A5F"/>
                </a:solidFill>
                <a:latin typeface="Calibri"/>
              </a:rPr>
              <a:t>2</a:t>
            </a:r>
          </a:p>
        </p:txBody>
      </p:sp>
      <p:sp>
        <p:nvSpPr>
          <p:cNvPr id="9" name="Oval 8"/>
          <p:cNvSpPr/>
          <p:nvPr/>
        </p:nvSpPr>
        <p:spPr>
          <a:xfrm>
            <a:off x="2331720" y="2898648"/>
            <a:ext cx="1737360" cy="1737360"/>
          </a:xfrm>
          <a:prstGeom prst="ellipse">
            <a:avLst/>
          </a:prstGeom>
          <a:solidFill>
            <a:srgbClr val="F3F5F9"/>
          </a:solidFill>
          <a:ln w="25400">
            <a:solidFill>
              <a:srgbClr val="1F3A5F"/>
            </a:solidFill>
          </a:ln>
        </p:spPr>
        <p:txBody>
          <a:bodyPr rtlCol="0" anchor="ctr"/>
          <a:lstStyle/>
          <a:p>
            <a:pPr algn="ctr"/>
          </a:p>
        </p:txBody>
      </p:sp>
      <p:sp>
        <p:nvSpPr>
          <p:cNvPr id="10" name="TextBox 9"/>
          <p:cNvSpPr txBox="1"/>
          <p:nvPr/>
        </p:nvSpPr>
        <p:spPr>
          <a:xfrm>
            <a:off x="2423160" y="3264408"/>
            <a:ext cx="1554480" cy="1005840"/>
          </a:xfrm>
          <a:prstGeom prst="rect">
            <a:avLst/>
          </a:prstGeom>
          <a:noFill/>
        </p:spPr>
        <p:txBody>
          <a:bodyPr wrap="square" lIns="0" rIns="0" tIns="0" bIns="0" anchor="ctr">
            <a:spAutoFit/>
          </a:bodyPr>
          <a:lstStyle/>
          <a:p>
            <a:pPr algn="ctr">
              <a:spcAft>
                <a:spcPts val="0"/>
              </a:spcAft>
            </a:pPr>
            <a:r>
              <a:rPr sz="1800" b="1" i="0">
                <a:solidFill>
                  <a:srgbClr val="1F3A5F"/>
                </a:solidFill>
                <a:latin typeface="Calibri"/>
              </a:rPr>
              <a:t>The patient's</a:t>
            </a:r>
          </a:p>
          <a:p>
            <a:pPr algn="ctr">
              <a:spcAft>
                <a:spcPts val="0"/>
              </a:spcAft>
            </a:pPr>
            <a:r>
              <a:rPr sz="1800" b="1" i="0">
                <a:solidFill>
                  <a:srgbClr val="1F3A5F"/>
                </a:solidFill>
                <a:latin typeface="Calibri"/>
              </a:rPr>
              <a:t>twin</a:t>
            </a:r>
          </a:p>
          <a:p>
            <a:pPr algn="ctr">
              <a:spcAft>
                <a:spcPts val="0"/>
              </a:spcAft>
            </a:pPr>
            <a:r>
              <a:rPr sz="1200" b="0" i="1">
                <a:solidFill>
                  <a:srgbClr val="5B6675"/>
                </a:solidFill>
                <a:latin typeface="Calibri"/>
              </a:rPr>
              <a:t>updates every 5 min</a:t>
            </a:r>
          </a:p>
        </p:txBody>
      </p:sp>
      <p:sp>
        <p:nvSpPr>
          <p:cNvPr id="11" name="Rounded Rectangle 10"/>
          <p:cNvSpPr/>
          <p:nvPr/>
        </p:nvSpPr>
        <p:spPr>
          <a:xfrm>
            <a:off x="2354580" y="1371600"/>
            <a:ext cx="1691640" cy="960120"/>
          </a:xfrm>
          <a:prstGeom prst="roundRect">
            <a:avLst>
              <a:gd name="adj" fmla="val 9523"/>
            </a:avLst>
          </a:prstGeom>
          <a:solidFill>
            <a:srgbClr val="2F6DB5"/>
          </a:solidFill>
          <a:ln>
            <a:noFill/>
          </a:ln>
        </p:spPr>
        <p:txBody>
          <a:bodyPr rtlCol="0" anchor="ctr" wrap="square" lIns="73152" rIns="73152" tIns="36576" bIns="36576"/>
          <a:lstStyle/>
          <a:p>
            <a:pPr algn="ctr">
              <a:spcAft>
                <a:spcPts val="0"/>
              </a:spcAft>
            </a:pPr>
            <a:r>
              <a:rPr sz="1500" b="1" i="0">
                <a:solidFill>
                  <a:srgbClr val="FFFFFF"/>
                </a:solidFill>
                <a:latin typeface="Calibri"/>
              </a:rPr>
              <a:t>1  FUSE</a:t>
            </a:r>
          </a:p>
          <a:p>
            <a:pPr algn="ctr">
              <a:spcAft>
                <a:spcPts val="0"/>
              </a:spcAft>
            </a:pPr>
            <a:r>
              <a:rPr sz="1200" b="0" i="0">
                <a:solidFill>
                  <a:srgbClr val="FFFFFF"/>
                </a:solidFill>
                <a:latin typeface="Calibri"/>
              </a:rPr>
              <a:t>record + CGM → one twin</a:t>
            </a:r>
          </a:p>
        </p:txBody>
      </p:sp>
      <p:sp>
        <p:nvSpPr>
          <p:cNvPr id="12" name="Rounded Rectangle 11"/>
          <p:cNvSpPr/>
          <p:nvPr/>
        </p:nvSpPr>
        <p:spPr>
          <a:xfrm>
            <a:off x="4160520" y="3287268"/>
            <a:ext cx="1691640" cy="960120"/>
          </a:xfrm>
          <a:prstGeom prst="roundRect">
            <a:avLst>
              <a:gd name="adj" fmla="val 9523"/>
            </a:avLst>
          </a:prstGeom>
          <a:solidFill>
            <a:srgbClr val="E07B22"/>
          </a:solidFill>
          <a:ln>
            <a:noFill/>
          </a:ln>
        </p:spPr>
        <p:txBody>
          <a:bodyPr rtlCol="0" anchor="ctr" wrap="square" lIns="73152" rIns="73152" tIns="36576" bIns="36576"/>
          <a:lstStyle/>
          <a:p>
            <a:pPr algn="ctr">
              <a:spcAft>
                <a:spcPts val="0"/>
              </a:spcAft>
            </a:pPr>
            <a:r>
              <a:rPr sz="1500" b="1" i="0">
                <a:solidFill>
                  <a:srgbClr val="FFFFFF"/>
                </a:solidFill>
                <a:latin typeface="Calibri"/>
              </a:rPr>
              <a:t>2  FORECAST</a:t>
            </a:r>
          </a:p>
          <a:p>
            <a:pPr algn="ctr">
              <a:spcAft>
                <a:spcPts val="0"/>
              </a:spcAft>
            </a:pPr>
            <a:r>
              <a:rPr sz="1200" b="0" i="0">
                <a:solidFill>
                  <a:srgbClr val="FFFFFF"/>
                </a:solidFill>
                <a:latin typeface="Calibri"/>
              </a:rPr>
              <a:t>next 2 hours + band</a:t>
            </a:r>
          </a:p>
        </p:txBody>
      </p:sp>
      <p:sp>
        <p:nvSpPr>
          <p:cNvPr id="13" name="Rounded Rectangle 12"/>
          <p:cNvSpPr/>
          <p:nvPr/>
        </p:nvSpPr>
        <p:spPr>
          <a:xfrm>
            <a:off x="2354580" y="5212080"/>
            <a:ext cx="1691640" cy="960120"/>
          </a:xfrm>
          <a:prstGeom prst="roundRect">
            <a:avLst>
              <a:gd name="adj" fmla="val 9523"/>
            </a:avLst>
          </a:prstGeom>
          <a:solidFill>
            <a:srgbClr val="1A8F7A"/>
          </a:solidFill>
          <a:ln>
            <a:noFill/>
          </a:ln>
        </p:spPr>
        <p:txBody>
          <a:bodyPr rtlCol="0" anchor="ctr" wrap="square" lIns="73152" rIns="73152" tIns="36576" bIns="36576"/>
          <a:lstStyle/>
          <a:p>
            <a:pPr algn="ctr">
              <a:spcAft>
                <a:spcPts val="0"/>
              </a:spcAft>
            </a:pPr>
            <a:r>
              <a:rPr sz="1500" b="1" i="0">
                <a:solidFill>
                  <a:srgbClr val="FFFFFF"/>
                </a:solidFill>
                <a:latin typeface="Calibri"/>
              </a:rPr>
              <a:t>3  ALERT</a:t>
            </a:r>
          </a:p>
          <a:p>
            <a:pPr algn="ctr">
              <a:spcAft>
                <a:spcPts val="0"/>
              </a:spcAft>
            </a:pPr>
            <a:r>
              <a:rPr sz="1200" b="0" i="0">
                <a:solidFill>
                  <a:srgbClr val="FFFFFF"/>
                </a:solidFill>
                <a:latin typeface="Calibri"/>
              </a:rPr>
              <a:t>urgent vs watch, with reasons</a:t>
            </a:r>
          </a:p>
        </p:txBody>
      </p:sp>
      <p:sp>
        <p:nvSpPr>
          <p:cNvPr id="14" name="Rounded Rectangle 13"/>
          <p:cNvSpPr/>
          <p:nvPr/>
        </p:nvSpPr>
        <p:spPr>
          <a:xfrm>
            <a:off x="548640" y="3287268"/>
            <a:ext cx="1691640" cy="960120"/>
          </a:xfrm>
          <a:prstGeom prst="roundRect">
            <a:avLst>
              <a:gd name="adj" fmla="val 9523"/>
            </a:avLst>
          </a:prstGeom>
          <a:solidFill>
            <a:srgbClr val="1F3A5F"/>
          </a:solidFill>
          <a:ln>
            <a:noFill/>
          </a:ln>
        </p:spPr>
        <p:txBody>
          <a:bodyPr rtlCol="0" anchor="ctr" wrap="square" lIns="73152" rIns="73152" tIns="36576" bIns="36576"/>
          <a:lstStyle/>
          <a:p>
            <a:pPr algn="ctr">
              <a:spcAft>
                <a:spcPts val="0"/>
              </a:spcAft>
            </a:pPr>
            <a:r>
              <a:rPr sz="1500" b="1" i="0">
                <a:solidFill>
                  <a:srgbClr val="FFFFFF"/>
                </a:solidFill>
                <a:latin typeface="Calibri"/>
              </a:rPr>
              <a:t>4  COMPARE</a:t>
            </a:r>
          </a:p>
          <a:p>
            <a:pPr algn="ctr">
              <a:spcAft>
                <a:spcPts val="0"/>
              </a:spcAft>
            </a:pPr>
            <a:r>
              <a:rPr sz="1200" b="0" i="0">
                <a:solidFill>
                  <a:srgbClr val="FFFFFF"/>
                </a:solidFill>
                <a:latin typeface="Calibri"/>
              </a:rPr>
              <a:t>plans on her own twin</a:t>
            </a:r>
          </a:p>
        </p:txBody>
      </p:sp>
      <p:cxnSp>
        <p:nvCxnSpPr>
          <p:cNvPr id="15" name="Arrow"/>
          <p:cNvCxnSpPr/>
          <p:nvPr/>
        </p:nvCxnSpPr>
        <p:spPr>
          <a:xfrm>
            <a:off x="4046220" y="1847088"/>
            <a:ext cx="960120" cy="1440180"/>
          </a:xfrm>
          <a:prstGeom prst="line">
            <a:avLst/>
          </a:prstGeom>
          <a:ln w="22225">
            <a:solidFill>
              <a:srgbClr val="5B667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Arrow"/>
          <p:cNvCxnSpPr/>
          <p:nvPr/>
        </p:nvCxnSpPr>
        <p:spPr>
          <a:xfrm flipH="1">
            <a:off x="4046220" y="4247388"/>
            <a:ext cx="960120" cy="1440180"/>
          </a:xfrm>
          <a:prstGeom prst="line">
            <a:avLst/>
          </a:prstGeom>
          <a:ln w="22225">
            <a:solidFill>
              <a:srgbClr val="5B667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Arrow"/>
          <p:cNvCxnSpPr/>
          <p:nvPr/>
        </p:nvCxnSpPr>
        <p:spPr>
          <a:xfrm flipH="1" flipV="1">
            <a:off x="1394460" y="4247388"/>
            <a:ext cx="960120" cy="1440180"/>
          </a:xfrm>
          <a:prstGeom prst="line">
            <a:avLst/>
          </a:prstGeom>
          <a:ln w="22225">
            <a:solidFill>
              <a:srgbClr val="5B667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Arrow"/>
          <p:cNvCxnSpPr/>
          <p:nvPr/>
        </p:nvCxnSpPr>
        <p:spPr>
          <a:xfrm flipV="1">
            <a:off x="1394460" y="1847088"/>
            <a:ext cx="960120" cy="1440180"/>
          </a:xfrm>
          <a:prstGeom prst="line">
            <a:avLst/>
          </a:prstGeom>
          <a:ln w="22225">
            <a:solidFill>
              <a:srgbClr val="5B667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172200" y="1325880"/>
            <a:ext cx="5486400" cy="320040"/>
          </a:xfrm>
          <a:prstGeom prst="rect">
            <a:avLst/>
          </a:prstGeom>
          <a:noFill/>
        </p:spPr>
        <p:txBody>
          <a:bodyPr wrap="square" lIns="0" rIns="0" tIns="0" bIns="0" anchor="t">
            <a:spAutoFit/>
          </a:bodyPr>
          <a:lstStyle/>
          <a:p>
            <a:pPr algn="l">
              <a:spcAft>
                <a:spcPts val="0"/>
              </a:spcAft>
            </a:pPr>
            <a:r>
              <a:rPr sz="1600" b="1" i="0">
                <a:solidFill>
                  <a:srgbClr val="1F3A5F"/>
                </a:solidFill>
                <a:latin typeface="Calibri"/>
              </a:rPr>
              <a:t>Doctors already get data. What is missing is what happens next.</a:t>
            </a:r>
          </a:p>
        </p:txBody>
      </p:sp>
      <p:sp>
        <p:nvSpPr>
          <p:cNvPr id="20" name="Rectangle 19"/>
          <p:cNvSpPr/>
          <p:nvPr/>
        </p:nvSpPr>
        <p:spPr>
          <a:xfrm>
            <a:off x="6172200" y="1810512"/>
            <a:ext cx="64008" cy="932688"/>
          </a:xfrm>
          <a:prstGeom prst="rect">
            <a:avLst/>
          </a:prstGeom>
          <a:solidFill>
            <a:srgbClr val="2F6DB5"/>
          </a:solidFill>
          <a:ln>
            <a:noFill/>
          </a:ln>
        </p:spPr>
        <p:txBody>
          <a:bodyPr rtlCol="0" anchor="ctr"/>
          <a:lstStyle/>
          <a:p>
            <a:pPr algn="ctr"/>
          </a:p>
        </p:txBody>
      </p:sp>
      <p:sp>
        <p:nvSpPr>
          <p:cNvPr id="21" name="TextBox 20"/>
          <p:cNvSpPr txBox="1"/>
          <p:nvPr/>
        </p:nvSpPr>
        <p:spPr>
          <a:xfrm>
            <a:off x="6373368" y="1828800"/>
            <a:ext cx="3566160" cy="274320"/>
          </a:xfrm>
          <a:prstGeom prst="rect">
            <a:avLst/>
          </a:prstGeom>
          <a:noFill/>
        </p:spPr>
        <p:txBody>
          <a:bodyPr wrap="square" lIns="0" rIns="0" tIns="0" bIns="0" anchor="t">
            <a:spAutoFit/>
          </a:bodyPr>
          <a:lstStyle/>
          <a:p>
            <a:pPr algn="l">
              <a:spcAft>
                <a:spcPts val="0"/>
              </a:spcAft>
            </a:pPr>
            <a:r>
              <a:rPr sz="1500" b="1" i="0">
                <a:solidFill>
                  <a:srgbClr val="2F6DB5"/>
                </a:solidFill>
                <a:latin typeface="Calibri"/>
              </a:rPr>
              <a:t>1  FUSE</a:t>
            </a:r>
          </a:p>
        </p:txBody>
      </p:sp>
      <p:sp>
        <p:nvSpPr>
          <p:cNvPr id="22" name="TextBox 21"/>
          <p:cNvSpPr txBox="1"/>
          <p:nvPr/>
        </p:nvSpPr>
        <p:spPr>
          <a:xfrm>
            <a:off x="6373368" y="2121408"/>
            <a:ext cx="3520440" cy="640080"/>
          </a:xfrm>
          <a:prstGeom prst="rect">
            <a:avLst/>
          </a:prstGeom>
          <a:noFill/>
        </p:spPr>
        <p:txBody>
          <a:bodyPr wrap="square" lIns="0" rIns="0" tIns="0" bIns="0" anchor="t">
            <a:spAutoFit/>
          </a:bodyPr>
          <a:lstStyle/>
          <a:p>
            <a:pPr algn="l">
              <a:spcAft>
                <a:spcPts val="0"/>
              </a:spcAft>
            </a:pPr>
            <a:r>
              <a:rPr sz="1250" b="0" i="0">
                <a:solidFill>
                  <a:srgbClr val="1F2D3D"/>
                </a:solidFill>
                <a:latin typeface="Calibri"/>
              </a:rPr>
              <a:t>The FHIR R4 record (labs, BMI, medicines, genetic marker) sets day-0 knobs; CGM, sleep, HRV and walks move the live state.</a:t>
            </a:r>
          </a:p>
        </p:txBody>
      </p:sp>
      <p:sp>
        <p:nvSpPr>
          <p:cNvPr id="23" name="Rounded Rectangle 22"/>
          <p:cNvSpPr/>
          <p:nvPr/>
        </p:nvSpPr>
        <p:spPr>
          <a:xfrm>
            <a:off x="10040112" y="1920240"/>
            <a:ext cx="1600200" cy="713232"/>
          </a:xfrm>
          <a:prstGeom prst="roundRect">
            <a:avLst>
              <a:gd name="adj" fmla="val 12820"/>
            </a:avLst>
          </a:prstGeom>
          <a:solidFill>
            <a:srgbClr val="FFFFFF"/>
          </a:solidFill>
          <a:ln w="19050">
            <a:solidFill>
              <a:srgbClr val="2F6DB5"/>
            </a:solidFill>
          </a:ln>
        </p:spPr>
        <p:txBody>
          <a:bodyPr rtlCol="0" anchor="ctr" wrap="square" lIns="73152" rIns="73152" tIns="36576" bIns="36576"/>
          <a:lstStyle/>
          <a:p>
            <a:pPr algn="ctr">
              <a:spcAft>
                <a:spcPts val="0"/>
              </a:spcAft>
            </a:pPr>
            <a:r>
              <a:rPr sz="1800" b="1" i="0">
                <a:solidFill>
                  <a:srgbClr val="2F6DB5"/>
                </a:solidFill>
                <a:latin typeface="Calibri"/>
              </a:rPr>
              <a:t>−12%</a:t>
            </a:r>
          </a:p>
          <a:p>
            <a:pPr algn="ctr">
              <a:spcAft>
                <a:spcPts val="0"/>
              </a:spcAft>
            </a:pPr>
            <a:r>
              <a:rPr sz="1100" b="0" i="0">
                <a:solidFill>
                  <a:srgbClr val="2F6DB5"/>
                </a:solidFill>
                <a:latin typeface="Calibri"/>
              </a:rPr>
              <a:t>1-hour error, day 0</a:t>
            </a:r>
          </a:p>
        </p:txBody>
      </p:sp>
      <p:sp>
        <p:nvSpPr>
          <p:cNvPr id="24" name="Rectangle 23"/>
          <p:cNvSpPr/>
          <p:nvPr/>
        </p:nvSpPr>
        <p:spPr>
          <a:xfrm>
            <a:off x="6172200" y="2907791"/>
            <a:ext cx="64008" cy="932688"/>
          </a:xfrm>
          <a:prstGeom prst="rect">
            <a:avLst/>
          </a:prstGeom>
          <a:solidFill>
            <a:srgbClr val="E07B22"/>
          </a:solidFill>
          <a:ln>
            <a:noFill/>
          </a:ln>
        </p:spPr>
        <p:txBody>
          <a:bodyPr rtlCol="0" anchor="ctr"/>
          <a:lstStyle/>
          <a:p>
            <a:pPr algn="ctr"/>
          </a:p>
        </p:txBody>
      </p:sp>
      <p:sp>
        <p:nvSpPr>
          <p:cNvPr id="25" name="TextBox 24"/>
          <p:cNvSpPr txBox="1"/>
          <p:nvPr/>
        </p:nvSpPr>
        <p:spPr>
          <a:xfrm>
            <a:off x="6373368" y="2926079"/>
            <a:ext cx="3566160" cy="274320"/>
          </a:xfrm>
          <a:prstGeom prst="rect">
            <a:avLst/>
          </a:prstGeom>
          <a:noFill/>
        </p:spPr>
        <p:txBody>
          <a:bodyPr wrap="square" lIns="0" rIns="0" tIns="0" bIns="0" anchor="t">
            <a:spAutoFit/>
          </a:bodyPr>
          <a:lstStyle/>
          <a:p>
            <a:pPr algn="l">
              <a:spcAft>
                <a:spcPts val="0"/>
              </a:spcAft>
            </a:pPr>
            <a:r>
              <a:rPr sz="1500" b="1" i="0">
                <a:solidFill>
                  <a:srgbClr val="E07B22"/>
                </a:solidFill>
                <a:latin typeface="Calibri"/>
              </a:rPr>
              <a:t>2  FORECAST</a:t>
            </a:r>
          </a:p>
        </p:txBody>
      </p:sp>
      <p:sp>
        <p:nvSpPr>
          <p:cNvPr id="26" name="TextBox 25"/>
          <p:cNvSpPr txBox="1"/>
          <p:nvPr/>
        </p:nvSpPr>
        <p:spPr>
          <a:xfrm>
            <a:off x="6373368" y="3218687"/>
            <a:ext cx="3520440" cy="640080"/>
          </a:xfrm>
          <a:prstGeom prst="rect">
            <a:avLst/>
          </a:prstGeom>
          <a:noFill/>
        </p:spPr>
        <p:txBody>
          <a:bodyPr wrap="square" lIns="0" rIns="0" tIns="0" bIns="0" anchor="t">
            <a:spAutoFit/>
          </a:bodyPr>
          <a:lstStyle/>
          <a:p>
            <a:pPr algn="l">
              <a:spcAft>
                <a:spcPts val="0"/>
              </a:spcAft>
            </a:pPr>
            <a:r>
              <a:rPr sz="1250" b="0" i="0">
                <a:solidFill>
                  <a:srgbClr val="1F2D3D"/>
                </a:solidFill>
                <a:latin typeface="Calibri"/>
              </a:rPr>
              <a:t>Physiology curve from meals, walks, dawn rise, sleep and HRV, with a 10–90% band fitted on the twin's own past errors.</a:t>
            </a:r>
          </a:p>
        </p:txBody>
      </p:sp>
      <p:sp>
        <p:nvSpPr>
          <p:cNvPr id="27" name="Rounded Rectangle 26"/>
          <p:cNvSpPr/>
          <p:nvPr/>
        </p:nvSpPr>
        <p:spPr>
          <a:xfrm>
            <a:off x="10040112" y="3017520"/>
            <a:ext cx="1600200" cy="713232"/>
          </a:xfrm>
          <a:prstGeom prst="roundRect">
            <a:avLst>
              <a:gd name="adj" fmla="val 12820"/>
            </a:avLst>
          </a:prstGeom>
          <a:solidFill>
            <a:srgbClr val="FFFFFF"/>
          </a:solidFill>
          <a:ln w="19050">
            <a:solidFill>
              <a:srgbClr val="E07B22"/>
            </a:solidFill>
          </a:ln>
        </p:spPr>
        <p:txBody>
          <a:bodyPr rtlCol="0" anchor="ctr" wrap="square" lIns="73152" rIns="73152" tIns="36576" bIns="36576"/>
          <a:lstStyle/>
          <a:p>
            <a:pPr algn="ctr">
              <a:spcAft>
                <a:spcPts val="0"/>
              </a:spcAft>
            </a:pPr>
            <a:r>
              <a:rPr sz="1800" b="1" i="0">
                <a:solidFill>
                  <a:srgbClr val="E07B22"/>
                </a:solidFill>
                <a:latin typeface="Calibri"/>
              </a:rPr>
              <a:t>−18.3%</a:t>
            </a:r>
          </a:p>
          <a:p>
            <a:pPr algn="ctr">
              <a:spcAft>
                <a:spcPts val="0"/>
              </a:spcAft>
            </a:pPr>
            <a:r>
              <a:rPr sz="1100" b="0" i="0">
                <a:solidFill>
                  <a:srgbClr val="E07B22"/>
                </a:solidFill>
                <a:latin typeface="Calibri"/>
              </a:rPr>
              <a:t>2-hour error</a:t>
            </a:r>
          </a:p>
        </p:txBody>
      </p:sp>
      <p:sp>
        <p:nvSpPr>
          <p:cNvPr id="28" name="Rectangle 27"/>
          <p:cNvSpPr/>
          <p:nvPr/>
        </p:nvSpPr>
        <p:spPr>
          <a:xfrm>
            <a:off x="6172200" y="4005072"/>
            <a:ext cx="64008" cy="932688"/>
          </a:xfrm>
          <a:prstGeom prst="rect">
            <a:avLst/>
          </a:prstGeom>
          <a:solidFill>
            <a:srgbClr val="1A8F7A"/>
          </a:solidFill>
          <a:ln>
            <a:noFill/>
          </a:ln>
        </p:spPr>
        <p:txBody>
          <a:bodyPr rtlCol="0" anchor="ctr"/>
          <a:lstStyle/>
          <a:p>
            <a:pPr algn="ctr"/>
          </a:p>
        </p:txBody>
      </p:sp>
      <p:sp>
        <p:nvSpPr>
          <p:cNvPr id="29" name="TextBox 28"/>
          <p:cNvSpPr txBox="1"/>
          <p:nvPr/>
        </p:nvSpPr>
        <p:spPr>
          <a:xfrm>
            <a:off x="6373368" y="4023359"/>
            <a:ext cx="3566160" cy="274320"/>
          </a:xfrm>
          <a:prstGeom prst="rect">
            <a:avLst/>
          </a:prstGeom>
          <a:noFill/>
        </p:spPr>
        <p:txBody>
          <a:bodyPr wrap="square" lIns="0" rIns="0" tIns="0" bIns="0" anchor="t">
            <a:spAutoFit/>
          </a:bodyPr>
          <a:lstStyle/>
          <a:p>
            <a:pPr algn="l">
              <a:spcAft>
                <a:spcPts val="0"/>
              </a:spcAft>
            </a:pPr>
            <a:r>
              <a:rPr sz="1500" b="1" i="0">
                <a:solidFill>
                  <a:srgbClr val="1A8F7A"/>
                </a:solidFill>
                <a:latin typeface="Calibri"/>
              </a:rPr>
              <a:t>3  ALERT</a:t>
            </a:r>
          </a:p>
        </p:txBody>
      </p:sp>
      <p:sp>
        <p:nvSpPr>
          <p:cNvPr id="30" name="TextBox 29"/>
          <p:cNvSpPr txBox="1"/>
          <p:nvPr/>
        </p:nvSpPr>
        <p:spPr>
          <a:xfrm>
            <a:off x="6373368" y="4315968"/>
            <a:ext cx="3520440" cy="640080"/>
          </a:xfrm>
          <a:prstGeom prst="rect">
            <a:avLst/>
          </a:prstGeom>
          <a:noFill/>
        </p:spPr>
        <p:txBody>
          <a:bodyPr wrap="square" lIns="0" rIns="0" tIns="0" bIns="0" anchor="t">
            <a:spAutoFit/>
          </a:bodyPr>
          <a:lstStyle/>
          <a:p>
            <a:pPr algn="l">
              <a:spcAft>
                <a:spcPts val="0"/>
              </a:spcAft>
            </a:pPr>
            <a:r>
              <a:rPr sz="1250" b="0" i="0">
                <a:solidFill>
                  <a:srgbClr val="1F2D3D"/>
                </a:solidFill>
                <a:latin typeface="Calibri"/>
              </a:rPr>
              <a:t>Spike risk includes her habitual next meal; thresholds are chosen on validation days. Only Urgent interrupts; every alert lists reasons.</a:t>
            </a:r>
          </a:p>
        </p:txBody>
      </p:sp>
      <p:sp>
        <p:nvSpPr>
          <p:cNvPr id="31" name="Rounded Rectangle 30"/>
          <p:cNvSpPr/>
          <p:nvPr/>
        </p:nvSpPr>
        <p:spPr>
          <a:xfrm>
            <a:off x="10040112" y="4114800"/>
            <a:ext cx="1600200" cy="713232"/>
          </a:xfrm>
          <a:prstGeom prst="roundRect">
            <a:avLst>
              <a:gd name="adj" fmla="val 12820"/>
            </a:avLst>
          </a:prstGeom>
          <a:solidFill>
            <a:srgbClr val="FFFFFF"/>
          </a:solidFill>
          <a:ln w="19050">
            <a:solidFill>
              <a:srgbClr val="1A8F7A"/>
            </a:solidFill>
          </a:ln>
        </p:spPr>
        <p:txBody>
          <a:bodyPr rtlCol="0" anchor="ctr" wrap="square" lIns="73152" rIns="73152" tIns="36576" bIns="36576"/>
          <a:lstStyle/>
          <a:p>
            <a:pPr algn="ctr">
              <a:spcAft>
                <a:spcPts val="0"/>
              </a:spcAft>
            </a:pPr>
            <a:r>
              <a:rPr sz="1800" b="1" i="0">
                <a:solidFill>
                  <a:srgbClr val="1A8F7A"/>
                </a:solidFill>
                <a:latin typeface="Calibri"/>
              </a:rPr>
              <a:t>105 min</a:t>
            </a:r>
          </a:p>
          <a:p>
            <a:pPr algn="ctr">
              <a:spcAft>
                <a:spcPts val="0"/>
              </a:spcAft>
            </a:pPr>
            <a:r>
              <a:rPr sz="1100" b="0" i="0">
                <a:solidFill>
                  <a:srgbClr val="1A8F7A"/>
                </a:solidFill>
                <a:latin typeface="Calibri"/>
              </a:rPr>
              <a:t>median warning</a:t>
            </a:r>
          </a:p>
        </p:txBody>
      </p:sp>
      <p:sp>
        <p:nvSpPr>
          <p:cNvPr id="32" name="Rectangle 31"/>
          <p:cNvSpPr/>
          <p:nvPr/>
        </p:nvSpPr>
        <p:spPr>
          <a:xfrm>
            <a:off x="6172200" y="5102352"/>
            <a:ext cx="64008" cy="932688"/>
          </a:xfrm>
          <a:prstGeom prst="rect">
            <a:avLst/>
          </a:prstGeom>
          <a:solidFill>
            <a:srgbClr val="1F3A5F"/>
          </a:solidFill>
          <a:ln>
            <a:noFill/>
          </a:ln>
        </p:spPr>
        <p:txBody>
          <a:bodyPr rtlCol="0" anchor="ctr"/>
          <a:lstStyle/>
          <a:p>
            <a:pPr algn="ctr"/>
          </a:p>
        </p:txBody>
      </p:sp>
      <p:sp>
        <p:nvSpPr>
          <p:cNvPr id="33" name="TextBox 32"/>
          <p:cNvSpPr txBox="1"/>
          <p:nvPr/>
        </p:nvSpPr>
        <p:spPr>
          <a:xfrm>
            <a:off x="6373368" y="5120640"/>
            <a:ext cx="3566160" cy="274320"/>
          </a:xfrm>
          <a:prstGeom prst="rect">
            <a:avLst/>
          </a:prstGeom>
          <a:noFill/>
        </p:spPr>
        <p:txBody>
          <a:bodyPr wrap="square" lIns="0" rIns="0" tIns="0" bIns="0" anchor="t">
            <a:spAutoFit/>
          </a:bodyPr>
          <a:lstStyle/>
          <a:p>
            <a:pPr algn="l">
              <a:spcAft>
                <a:spcPts val="0"/>
              </a:spcAft>
            </a:pPr>
            <a:r>
              <a:rPr sz="1500" b="1" i="0">
                <a:solidFill>
                  <a:srgbClr val="1F3A5F"/>
                </a:solidFill>
                <a:latin typeface="Calibri"/>
              </a:rPr>
              <a:t>4  COMPARE</a:t>
            </a:r>
          </a:p>
        </p:txBody>
      </p:sp>
      <p:sp>
        <p:nvSpPr>
          <p:cNvPr id="34" name="TextBox 33"/>
          <p:cNvSpPr txBox="1"/>
          <p:nvPr/>
        </p:nvSpPr>
        <p:spPr>
          <a:xfrm>
            <a:off x="6373368" y="5413248"/>
            <a:ext cx="3520440" cy="640080"/>
          </a:xfrm>
          <a:prstGeom prst="rect">
            <a:avLst/>
          </a:prstGeom>
          <a:noFill/>
        </p:spPr>
        <p:txBody>
          <a:bodyPr wrap="square" lIns="0" rIns="0" tIns="0" bIns="0" anchor="t">
            <a:spAutoFit/>
          </a:bodyPr>
          <a:lstStyle/>
          <a:p>
            <a:pPr algn="l">
              <a:spcAft>
                <a:spcPts val="0"/>
              </a:spcAft>
            </a:pPr>
            <a:r>
              <a:rPr sz="1250" b="0" i="0">
                <a:solidFill>
                  <a:srgbClr val="1F2D3D"/>
                </a:solidFill>
                <a:latin typeface="Calibri"/>
              </a:rPr>
              <a:t>Seven lifestyle plans, incl. a weekly fasting day, on her highest-risk meal. Never a dose; “Simulation, not advice”.</a:t>
            </a:r>
          </a:p>
        </p:txBody>
      </p:sp>
      <p:sp>
        <p:nvSpPr>
          <p:cNvPr id="35" name="Rounded Rectangle 34"/>
          <p:cNvSpPr/>
          <p:nvPr/>
        </p:nvSpPr>
        <p:spPr>
          <a:xfrm>
            <a:off x="10040112" y="5212080"/>
            <a:ext cx="1600200" cy="713232"/>
          </a:xfrm>
          <a:prstGeom prst="roundRect">
            <a:avLst>
              <a:gd name="adj" fmla="val 12820"/>
            </a:avLst>
          </a:prstGeom>
          <a:solidFill>
            <a:srgbClr val="FFFFFF"/>
          </a:solidFill>
          <a:ln w="19050">
            <a:solidFill>
              <a:srgbClr val="1F3A5F"/>
            </a:solidFill>
          </a:ln>
        </p:spPr>
        <p:txBody>
          <a:bodyPr rtlCol="0" anchor="ctr" wrap="square" lIns="73152" rIns="73152" tIns="36576" bIns="36576"/>
          <a:lstStyle/>
          <a:p>
            <a:pPr algn="ctr">
              <a:spcAft>
                <a:spcPts val="0"/>
              </a:spcAft>
            </a:pPr>
            <a:r>
              <a:rPr sz="1800" b="1" i="0">
                <a:solidFill>
                  <a:srgbClr val="1F3A5F"/>
                </a:solidFill>
                <a:latin typeface="Calibri"/>
              </a:rPr>
              <a:t>+3.6 pts</a:t>
            </a:r>
          </a:p>
          <a:p>
            <a:pPr algn="ctr">
              <a:spcAft>
                <a:spcPts val="0"/>
              </a:spcAft>
            </a:pPr>
            <a:r>
              <a:rPr sz="1100" b="0" i="0">
                <a:solidFill>
                  <a:srgbClr val="1F3A5F"/>
                </a:solidFill>
                <a:latin typeface="Calibri"/>
              </a:rPr>
              <a:t>time in range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band"/>
          <p:cNvSpPr/>
          <p:nvPr/>
        </p:nvSpPr>
        <p:spPr>
          <a:xfrm>
            <a:off x="0" y="0"/>
            <a:ext cx="12191695" cy="82296"/>
          </a:xfrm>
          <a:prstGeom prst="rect">
            <a:avLst/>
          </a:prstGeom>
          <a:solidFill>
            <a:srgbClr val="1F3A5F"/>
          </a:solidFill>
          <a:ln>
            <a:noFill/>
          </a:ln>
        </p:spPr>
        <p:txBody>
          <a:bodyPr rtlCol="0" anchor="ctr"/>
          <a:lstStyle/>
          <a:p>
            <a:pPr algn="ctr"/>
          </a:p>
        </p:txBody>
      </p:sp>
      <p:sp>
        <p:nvSpPr>
          <p:cNvPr id="3" name="Top accent"/>
          <p:cNvSpPr/>
          <p:nvPr/>
        </p:nvSpPr>
        <p:spPr>
          <a:xfrm>
            <a:off x="0" y="82296"/>
            <a:ext cx="2011680" cy="45720"/>
          </a:xfrm>
          <a:prstGeom prst="rect">
            <a:avLst/>
          </a:prstGeom>
          <a:solidFill>
            <a:srgbClr val="E07B22"/>
          </a:solidFill>
          <a:ln>
            <a:noFill/>
          </a:ln>
        </p:spPr>
        <p:txBody>
          <a:bodyPr rtlCol="0" anchor="ctr"/>
          <a:lstStyle/>
          <a:p>
            <a:pPr algn="ctr"/>
          </a:p>
        </p:txBody>
      </p:sp>
      <p:sp>
        <p:nvSpPr>
          <p:cNvPr id="4" name="Kicker"/>
          <p:cNvSpPr txBox="1"/>
          <p:nvPr/>
        </p:nvSpPr>
        <p:spPr>
          <a:xfrm>
            <a:off x="548640" y="329184"/>
            <a:ext cx="11091672" cy="237744"/>
          </a:xfrm>
          <a:prstGeom prst="rect">
            <a:avLst/>
          </a:prstGeom>
          <a:noFill/>
        </p:spPr>
        <p:txBody>
          <a:bodyPr wrap="square" lIns="0" rIns="0" tIns="0" bIns="0" anchor="t">
            <a:spAutoFit/>
          </a:bodyPr>
          <a:lstStyle/>
          <a:p>
            <a:pPr algn="l">
              <a:spcAft>
                <a:spcPts val="0"/>
              </a:spcAft>
            </a:pPr>
            <a:r>
              <a:rPr sz="1200" b="1" i="0">
                <a:solidFill>
                  <a:srgbClr val="E07B22"/>
                </a:solidFill>
                <a:latin typeface="Calibri"/>
              </a:rPr>
              <a:t>3 · CHALLENGE FIT</a:t>
            </a:r>
          </a:p>
        </p:txBody>
      </p:sp>
      <p:sp>
        <p:nvSpPr>
          <p:cNvPr id="5" name="Title"/>
          <p:cNvSpPr txBox="1"/>
          <p:nvPr/>
        </p:nvSpPr>
        <p:spPr>
          <a:xfrm>
            <a:off x="548640" y="566928"/>
            <a:ext cx="11091672" cy="566928"/>
          </a:xfrm>
          <a:prstGeom prst="rect">
            <a:avLst/>
          </a:prstGeom>
          <a:noFill/>
        </p:spPr>
        <p:txBody>
          <a:bodyPr wrap="square" lIns="0" rIns="0" tIns="0" bIns="0" anchor="t">
            <a:spAutoFit/>
          </a:bodyPr>
          <a:lstStyle/>
          <a:p>
            <a:pPr algn="l">
              <a:spcAft>
                <a:spcPts val="0"/>
              </a:spcAft>
            </a:pPr>
            <a:r>
              <a:rPr sz="3000" b="1" i="0">
                <a:solidFill>
                  <a:srgbClr val="1F3A5F"/>
                </a:solidFill>
                <a:latin typeface="Calibri"/>
              </a:rPr>
              <a:t>Every line of the brief, met and measured</a:t>
            </a:r>
          </a:p>
        </p:txBody>
      </p:sp>
      <p:cxnSp>
        <p:nvCxnSpPr>
          <p:cNvPr id="6" name="Footer rule"/>
          <p:cNvCxnSpPr/>
          <p:nvPr/>
        </p:nvCxnSpPr>
        <p:spPr>
          <a:xfrm>
            <a:off x="548640" y="6382512"/>
            <a:ext cx="11091672" cy="0"/>
          </a:xfrm>
          <a:prstGeom prst="line">
            <a:avLst/>
          </a:prstGeom>
          <a:ln w="9525">
            <a:solidFill>
              <a:srgbClr val="C9D1DC"/>
            </a:solidFill>
          </a:ln>
        </p:spPr>
        <p:style>
          <a:lnRef idx="2">
            <a:schemeClr val="accent1"/>
          </a:lnRef>
          <a:fillRef idx="0">
            <a:schemeClr val="accent1"/>
          </a:fillRef>
          <a:effectRef idx="1">
            <a:schemeClr val="accent1"/>
          </a:effectRef>
          <a:fontRef idx="minor">
            <a:schemeClr val="tx1"/>
          </a:fontRef>
        </p:style>
      </p:cxnSp>
      <p:sp>
        <p:nvSpPr>
          <p:cNvPr id="7" name="Sources"/>
          <p:cNvSpPr txBox="1"/>
          <p:nvPr/>
        </p:nvSpPr>
        <p:spPr>
          <a:xfrm>
            <a:off x="548640" y="6428232"/>
            <a:ext cx="10634472" cy="365760"/>
          </a:xfrm>
          <a:prstGeom prst="rect">
            <a:avLst/>
          </a:prstGeom>
          <a:noFill/>
        </p:spPr>
        <p:txBody>
          <a:bodyPr wrap="square" lIns="0" rIns="0" tIns="0" bIns="0" anchor="t">
            <a:spAutoFit/>
          </a:bodyPr>
          <a:lstStyle/>
          <a:p>
            <a:pPr algn="l">
              <a:spcAft>
                <a:spcPts val="0"/>
              </a:spcAft>
            </a:pPr>
            <a:r>
              <a:rPr sz="900" b="0" i="0">
                <a:solidFill>
                  <a:srgbClr val="5B6675"/>
                </a:solidFill>
                <a:latin typeface="Calibri"/>
              </a:rPr>
              <a:t>Brief: Happiest Health Digital Twin Challenge 2026. Evidence figures come from the result pages that follow (CGMacros, PhysioNet; simulated stress test; IDF Diabetes Atlas 2025).</a:t>
            </a:r>
          </a:p>
        </p:txBody>
      </p:sp>
      <p:sp>
        <p:nvSpPr>
          <p:cNvPr id="8" name="Page number"/>
          <p:cNvSpPr txBox="1"/>
          <p:nvPr/>
        </p:nvSpPr>
        <p:spPr>
          <a:xfrm>
            <a:off x="11274552" y="6446520"/>
            <a:ext cx="365760" cy="228600"/>
          </a:xfrm>
          <a:prstGeom prst="rect">
            <a:avLst/>
          </a:prstGeom>
          <a:noFill/>
        </p:spPr>
        <p:txBody>
          <a:bodyPr wrap="square" lIns="0" rIns="0" tIns="0" bIns="0" anchor="t">
            <a:spAutoFit/>
          </a:bodyPr>
          <a:lstStyle/>
          <a:p>
            <a:pPr algn="r">
              <a:spcAft>
                <a:spcPts val="0"/>
              </a:spcAft>
            </a:pPr>
            <a:r>
              <a:rPr sz="1100" b="1" i="0">
                <a:solidFill>
                  <a:srgbClr val="1F3A5F"/>
                </a:solidFill>
                <a:latin typeface="Calibri"/>
              </a:rPr>
              <a:t>3</a:t>
            </a:r>
          </a:p>
        </p:txBody>
      </p:sp>
      <p:graphicFrame>
        <p:nvGraphicFramePr>
          <p:cNvPr id="9" name="Table 8"/>
          <p:cNvGraphicFramePr>
            <a:graphicFrameLocks noGrp="1"/>
          </p:cNvGraphicFramePr>
          <p:nvPr/>
        </p:nvGraphicFramePr>
        <p:xfrm>
          <a:off x="548640" y="1325880"/>
          <a:ext cx="11091672" cy="4251960"/>
        </p:xfrm>
        <a:graphic>
          <a:graphicData uri="http://schemas.openxmlformats.org/drawingml/2006/table">
            <a:tbl>
              <a:tblPr firstRow="1">
                <a:tableStyleId>{5C22544A-7EE6-4342-B048-85BDC9FD1C3A}</a:tableStyleId>
              </a:tblPr>
              <a:tblGrid>
                <a:gridCol w="3108960"/>
                <a:gridCol w="5394960"/>
                <a:gridCol w="2587752"/>
              </a:tblGrid>
              <a:tr h="411480">
                <a:tc>
                  <a:txBody>
                    <a:bodyPr wrap="square"/>
                    <a:lstStyle/>
                    <a:p>
                      <a:r>
                        <a:rPr sz="1300" b="1">
                          <a:solidFill>
                            <a:srgbClr val="FFFFFF"/>
                          </a:solidFill>
                          <a:latin typeface="Calibri"/>
                        </a:rPr>
                        <a:t>The brief asks for</a:t>
                      </a:r>
                    </a:p>
                  </a:txBody>
                  <a:tcPr marL="91440" marR="91440" marT="36576" marB="36576" anchor="ctr">
                    <a:lnL w="9525">
                      <a:noFill/>
                    </a:lnL>
                    <a:lnR w="9525">
                      <a:noFill/>
                    </a:lnR>
                    <a:lnT w="9525">
                      <a:noFill/>
                    </a:lnT>
                    <a:lnB w="9525">
                      <a:solidFill>
                        <a:srgbClr val="3A5578"/>
                      </a:solidFill>
                    </a:lnB>
                    <a:solidFill>
                      <a:srgbClr val="1F3A5F"/>
                    </a:solidFill>
                  </a:tcPr>
                </a:tc>
                <a:tc>
                  <a:txBody>
                    <a:bodyPr wrap="square"/>
                    <a:lstStyle/>
                    <a:p>
                      <a:r>
                        <a:rPr sz="1300" b="1">
                          <a:solidFill>
                            <a:srgbClr val="FFFFFF"/>
                          </a:solidFill>
                          <a:latin typeface="Calibri"/>
                        </a:rPr>
                        <a:t>GlucoTwin delivers</a:t>
                      </a:r>
                    </a:p>
                  </a:txBody>
                  <a:tcPr marL="91440" marR="91440" marT="36576" marB="36576" anchor="ctr">
                    <a:lnL w="9525">
                      <a:noFill/>
                    </a:lnL>
                    <a:lnR w="9525">
                      <a:noFill/>
                    </a:lnR>
                    <a:lnT w="9525">
                      <a:noFill/>
                    </a:lnT>
                    <a:lnB w="9525">
                      <a:solidFill>
                        <a:srgbClr val="3A5578"/>
                      </a:solidFill>
                    </a:lnB>
                    <a:solidFill>
                      <a:srgbClr val="1F3A5F"/>
                    </a:solidFill>
                  </a:tcPr>
                </a:tc>
                <a:tc>
                  <a:txBody>
                    <a:bodyPr wrap="square"/>
                    <a:lstStyle/>
                    <a:p>
                      <a:r>
                        <a:rPr sz="1300" b="1">
                          <a:solidFill>
                            <a:srgbClr val="FFFFFF"/>
                          </a:solidFill>
                          <a:latin typeface="Calibri"/>
                        </a:rPr>
                        <a:t>Evidence</a:t>
                      </a:r>
                    </a:p>
                  </a:txBody>
                  <a:tcPr marL="91440" marR="91440" marT="36576" marB="36576" anchor="ctr">
                    <a:lnL w="9525">
                      <a:noFill/>
                    </a:lnL>
                    <a:lnR w="9525">
                      <a:noFill/>
                    </a:lnR>
                    <a:lnT w="9525">
                      <a:noFill/>
                    </a:lnT>
                    <a:lnB w="9525">
                      <a:solidFill>
                        <a:srgbClr val="3A5578"/>
                      </a:solidFill>
                    </a:lnB>
                    <a:solidFill>
                      <a:srgbClr val="1F3A5F"/>
                    </a:solidFill>
                  </a:tcPr>
                </a:tc>
              </a:tr>
              <a:tr h="640080">
                <a:tc>
                  <a:txBody>
                    <a:bodyPr wrap="square"/>
                    <a:lstStyle/>
                    <a:p>
                      <a:r>
                        <a:rPr sz="1300" b="1">
                          <a:solidFill>
                            <a:srgbClr val="1F2D3D"/>
                          </a:solidFill>
                          <a:latin typeface="Calibri"/>
                        </a:rPr>
                        <a:t>A chronic condition prevalent in India</a:t>
                      </a:r>
                    </a:p>
                  </a:txBody>
                  <a:tcPr marL="91440" marR="91440" marT="36576" marB="36576" anchor="ctr">
                    <a:lnL w="9525">
                      <a:noFill/>
                    </a:lnL>
                    <a:lnR w="9525">
                      <a:noFill/>
                    </a:lnR>
                    <a:lnT w="9525">
                      <a:noFill/>
                    </a:lnT>
                    <a:lnB w="9525">
                      <a:solidFill>
                        <a:srgbClr val="DDE3EA"/>
                      </a:solidFill>
                    </a:lnB>
                    <a:solidFill>
                      <a:srgbClr val="FFFFFF"/>
                    </a:solidFill>
                  </a:tcPr>
                </a:tc>
                <a:tc>
                  <a:txBody>
                    <a:bodyPr wrap="square"/>
                    <a:lstStyle/>
                    <a:p>
                      <a:r>
                        <a:rPr sz="1300" b="0">
                          <a:solidFill>
                            <a:srgbClr val="1F2D3D"/>
                          </a:solidFill>
                          <a:latin typeface="Calibri"/>
                        </a:rPr>
                        <a:t>Type 2 diabetes and prediabetes, with Indian subgroups and IFCT 2017 foods</a:t>
                      </a:r>
                    </a:p>
                  </a:txBody>
                  <a:tcPr marL="91440" marR="91440" marT="36576" marB="36576" anchor="ctr">
                    <a:lnL w="9525">
                      <a:noFill/>
                    </a:lnL>
                    <a:lnR w="9525">
                      <a:noFill/>
                    </a:lnR>
                    <a:lnT w="9525">
                      <a:noFill/>
                    </a:lnT>
                    <a:lnB w="9525">
                      <a:solidFill>
                        <a:srgbClr val="DDE3EA"/>
                      </a:solidFill>
                    </a:lnB>
                    <a:solidFill>
                      <a:srgbClr val="FFFFFF"/>
                    </a:solidFill>
                  </a:tcPr>
                </a:tc>
                <a:tc>
                  <a:txBody>
                    <a:bodyPr wrap="square"/>
                    <a:lstStyle/>
                    <a:p>
                      <a:r>
                        <a:rPr sz="1300" b="0">
                          <a:solidFill>
                            <a:srgbClr val="1A8F7A"/>
                          </a:solidFill>
                          <a:latin typeface="Calibri"/>
                        </a:rPr>
                        <a:t>89.8M Indian adults (IDF 2025)</a:t>
                      </a:r>
                    </a:p>
                  </a:txBody>
                  <a:tcPr marL="91440" marR="91440" marT="36576" marB="36576" anchor="ctr">
                    <a:lnL w="9525">
                      <a:noFill/>
                    </a:lnL>
                    <a:lnR w="9525">
                      <a:noFill/>
                    </a:lnR>
                    <a:lnT w="9525">
                      <a:noFill/>
                    </a:lnT>
                    <a:lnB w="9525">
                      <a:solidFill>
                        <a:srgbClr val="DDE3EA"/>
                      </a:solidFill>
                    </a:lnB>
                    <a:solidFill>
                      <a:srgbClr val="FFFFFF"/>
                    </a:solidFill>
                  </a:tcPr>
                </a:tc>
              </a:tr>
              <a:tr h="640080">
                <a:tc>
                  <a:txBody>
                    <a:bodyPr wrap="square"/>
                    <a:lstStyle/>
                    <a:p>
                      <a:r>
                        <a:rPr sz="1300" b="1">
                          <a:solidFill>
                            <a:srgbClr val="1F2D3D"/>
                          </a:solidFill>
                          <a:latin typeface="Calibri"/>
                        </a:rPr>
                        <a:t>Static record: demographics, diagnoses, labs, genetic markers</a:t>
                      </a:r>
                    </a:p>
                  </a:txBody>
                  <a:tcPr marL="91440" marR="91440" marT="36576" marB="36576" anchor="ctr">
                    <a:lnL w="9525">
                      <a:noFill/>
                    </a:lnL>
                    <a:lnR w="9525">
                      <a:noFill/>
                    </a:lnR>
                    <a:lnT w="9525">
                      <a:noFill/>
                    </a:lnT>
                    <a:lnB w="9525">
                      <a:solidFill>
                        <a:srgbClr val="DDE3EA"/>
                      </a:solidFill>
                    </a:lnB>
                    <a:solidFill>
                      <a:srgbClr val="F3F5F9"/>
                    </a:solidFill>
                  </a:tcPr>
                </a:tc>
                <a:tc>
                  <a:txBody>
                    <a:bodyPr wrap="square"/>
                    <a:lstStyle/>
                    <a:p>
                      <a:r>
                        <a:rPr sz="1300" b="0">
                          <a:solidFill>
                            <a:srgbClr val="1F2D3D"/>
                          </a:solidFill>
                          <a:latin typeface="Calibri"/>
                        </a:rPr>
                        <a:t>FHIR R4 bundle: age, sex, HbA1c trail, fasting glucose, HOMA-IR, BMI, medicines, simulated TCF7L2 marker</a:t>
                      </a:r>
                    </a:p>
                  </a:txBody>
                  <a:tcPr marL="91440" marR="91440" marT="36576" marB="36576" anchor="ctr">
                    <a:lnL w="9525">
                      <a:noFill/>
                    </a:lnL>
                    <a:lnR w="9525">
                      <a:noFill/>
                    </a:lnR>
                    <a:lnT w="9525">
                      <a:noFill/>
                    </a:lnT>
                    <a:lnB w="9525">
                      <a:solidFill>
                        <a:srgbClr val="DDE3EA"/>
                      </a:solidFill>
                    </a:lnB>
                    <a:solidFill>
                      <a:srgbClr val="F3F5F9"/>
                    </a:solidFill>
                  </a:tcPr>
                </a:tc>
                <a:tc>
                  <a:txBody>
                    <a:bodyPr wrap="square"/>
                    <a:lstStyle/>
                    <a:p>
                      <a:r>
                        <a:rPr sz="1300" b="0">
                          <a:solidFill>
                            <a:srgbClr val="1A8F7A"/>
                          </a:solidFill>
                          <a:latin typeface="Calibri"/>
                        </a:rPr>
                        <a:t>Record cuts 1-hour error 12%</a:t>
                      </a:r>
                    </a:p>
                  </a:txBody>
                  <a:tcPr marL="91440" marR="91440" marT="36576" marB="36576" anchor="ctr">
                    <a:lnL w="9525">
                      <a:noFill/>
                    </a:lnL>
                    <a:lnR w="9525">
                      <a:noFill/>
                    </a:lnR>
                    <a:lnT w="9525">
                      <a:noFill/>
                    </a:lnT>
                    <a:lnB w="9525">
                      <a:solidFill>
                        <a:srgbClr val="DDE3EA"/>
                      </a:solidFill>
                    </a:lnB>
                    <a:solidFill>
                      <a:srgbClr val="F3F5F9"/>
                    </a:solidFill>
                  </a:tcPr>
                </a:tc>
              </a:tr>
              <a:tr h="640080">
                <a:tc>
                  <a:txBody>
                    <a:bodyPr wrap="square"/>
                    <a:lstStyle/>
                    <a:p>
                      <a:r>
                        <a:rPr sz="1300" b="1">
                          <a:solidFill>
                            <a:srgbClr val="1F2D3D"/>
                          </a:solidFill>
                          <a:latin typeface="Calibri"/>
                        </a:rPr>
                        <a:t>Dynamic wearable / IoT time series</a:t>
                      </a:r>
                    </a:p>
                  </a:txBody>
                  <a:tcPr marL="91440" marR="91440" marT="36576" marB="36576" anchor="ctr">
                    <a:lnL w="9525">
                      <a:noFill/>
                    </a:lnL>
                    <a:lnR w="9525">
                      <a:noFill/>
                    </a:lnR>
                    <a:lnT w="9525">
                      <a:noFill/>
                    </a:lnT>
                    <a:lnB w="9525">
                      <a:solidFill>
                        <a:srgbClr val="DDE3EA"/>
                      </a:solidFill>
                    </a:lnB>
                    <a:solidFill>
                      <a:srgbClr val="FFFFFF"/>
                    </a:solidFill>
                  </a:tcPr>
                </a:tc>
                <a:tc>
                  <a:txBody>
                    <a:bodyPr wrap="square"/>
                    <a:lstStyle/>
                    <a:p>
                      <a:r>
                        <a:rPr sz="1300" b="0">
                          <a:solidFill>
                            <a:srgbClr val="1F2D3D"/>
                          </a:solidFill>
                          <a:latin typeface="Calibri"/>
                        </a:rPr>
                        <a:t>CGM every 5 min, meals, walks, heart rate, sleep and HRV (they shift insulin sensitivity), steps</a:t>
                      </a:r>
                    </a:p>
                  </a:txBody>
                  <a:tcPr marL="91440" marR="91440" marT="36576" marB="36576" anchor="ctr">
                    <a:lnL w="9525">
                      <a:noFill/>
                    </a:lnL>
                    <a:lnR w="9525">
                      <a:noFill/>
                    </a:lnR>
                    <a:lnT w="9525">
                      <a:noFill/>
                    </a:lnT>
                    <a:lnB w="9525">
                      <a:solidFill>
                        <a:srgbClr val="DDE3EA"/>
                      </a:solidFill>
                    </a:lnB>
                    <a:solidFill>
                      <a:srgbClr val="FFFFFF"/>
                    </a:solidFill>
                  </a:tcPr>
                </a:tc>
                <a:tc>
                  <a:txBody>
                    <a:bodyPr wrap="square"/>
                    <a:lstStyle/>
                    <a:p>
                      <a:r>
                        <a:rPr sz="1300" b="0">
                          <a:solidFill>
                            <a:srgbClr val="1A8F7A"/>
                          </a:solidFill>
                          <a:latin typeface="Calibri"/>
                        </a:rPr>
                        <a:t>45 real adults + 11 simulated</a:t>
                      </a:r>
                    </a:p>
                  </a:txBody>
                  <a:tcPr marL="91440" marR="91440" marT="36576" marB="36576" anchor="ctr">
                    <a:lnL w="9525">
                      <a:noFill/>
                    </a:lnL>
                    <a:lnR w="9525">
                      <a:noFill/>
                    </a:lnR>
                    <a:lnT w="9525">
                      <a:noFill/>
                    </a:lnT>
                    <a:lnB w="9525">
                      <a:solidFill>
                        <a:srgbClr val="DDE3EA"/>
                      </a:solidFill>
                    </a:lnB>
                    <a:solidFill>
                      <a:srgbClr val="FFFFFF"/>
                    </a:solidFill>
                  </a:tcPr>
                </a:tc>
              </a:tr>
              <a:tr h="640080">
                <a:tc>
                  <a:txBody>
                    <a:bodyPr wrap="square"/>
                    <a:lstStyle/>
                    <a:p>
                      <a:r>
                        <a:rPr sz="1300" b="1">
                          <a:solidFill>
                            <a:srgbClr val="1F2D3D"/>
                          </a:solidFill>
                          <a:latin typeface="Calibri"/>
                        </a:rPr>
                        <a:t>A model that predicts an adverse event ahead of time</a:t>
                      </a:r>
                    </a:p>
                  </a:txBody>
                  <a:tcPr marL="91440" marR="91440" marT="36576" marB="36576" anchor="ctr">
                    <a:lnL w="9525">
                      <a:noFill/>
                    </a:lnL>
                    <a:lnR w="9525">
                      <a:noFill/>
                    </a:lnR>
                    <a:lnT w="9525">
                      <a:noFill/>
                    </a:lnT>
                    <a:lnB w="9525">
                      <a:solidFill>
                        <a:srgbClr val="DDE3EA"/>
                      </a:solidFill>
                    </a:lnB>
                    <a:solidFill>
                      <a:srgbClr val="F3F5F9"/>
                    </a:solidFill>
                  </a:tcPr>
                </a:tc>
                <a:tc>
                  <a:txBody>
                    <a:bodyPr wrap="square"/>
                    <a:lstStyle/>
                    <a:p>
                      <a:r>
                        <a:rPr sz="1300" b="0">
                          <a:solidFill>
                            <a:srgbClr val="1F2D3D"/>
                          </a:solidFill>
                          <a:latin typeface="Calibri"/>
                        </a:rPr>
                        <a:t>Glucose at 30, 60 and 120 min with a 10–90% band; spike and low alerts with reasons</a:t>
                      </a:r>
                    </a:p>
                  </a:txBody>
                  <a:tcPr marL="91440" marR="91440" marT="36576" marB="36576" anchor="ctr">
                    <a:lnL w="9525">
                      <a:noFill/>
                    </a:lnL>
                    <a:lnR w="9525">
                      <a:noFill/>
                    </a:lnR>
                    <a:lnT w="9525">
                      <a:noFill/>
                    </a:lnT>
                    <a:lnB w="9525">
                      <a:solidFill>
                        <a:srgbClr val="DDE3EA"/>
                      </a:solidFill>
                    </a:lnB>
                    <a:solidFill>
                      <a:srgbClr val="F3F5F9"/>
                    </a:solidFill>
                  </a:tcPr>
                </a:tc>
                <a:tc>
                  <a:txBody>
                    <a:bodyPr wrap="square"/>
                    <a:lstStyle/>
                    <a:p>
                      <a:r>
                        <a:rPr sz="1300" b="0">
                          <a:solidFill>
                            <a:srgbClr val="1A8F7A"/>
                          </a:solidFill>
                          <a:latin typeface="Calibri"/>
                        </a:rPr>
                        <a:t>Median 105-min warning; 109 of 254 ≥ 1 h</a:t>
                      </a:r>
                    </a:p>
                  </a:txBody>
                  <a:tcPr marL="91440" marR="91440" marT="36576" marB="36576" anchor="ctr">
                    <a:lnL w="9525">
                      <a:noFill/>
                    </a:lnL>
                    <a:lnR w="9525">
                      <a:noFill/>
                    </a:lnR>
                    <a:lnT w="9525">
                      <a:noFill/>
                    </a:lnT>
                    <a:lnB w="9525">
                      <a:solidFill>
                        <a:srgbClr val="DDE3EA"/>
                      </a:solidFill>
                    </a:lnB>
                    <a:solidFill>
                      <a:srgbClr val="F3F5F9"/>
                    </a:solidFill>
                  </a:tcPr>
                </a:tc>
              </a:tr>
              <a:tr h="640080">
                <a:tc>
                  <a:txBody>
                    <a:bodyPr wrap="square"/>
                    <a:lstStyle/>
                    <a:p>
                      <a:r>
                        <a:rPr sz="1300" b="1">
                          <a:solidFill>
                            <a:srgbClr val="1F2D3D"/>
                          </a:solidFill>
                          <a:latin typeface="Calibri"/>
                        </a:rPr>
                        <a:t>A conceptual doctor dashboard</a:t>
                      </a:r>
                    </a:p>
                  </a:txBody>
                  <a:tcPr marL="91440" marR="91440" marT="36576" marB="36576" anchor="ctr">
                    <a:lnL w="9525">
                      <a:noFill/>
                    </a:lnL>
                    <a:lnR w="9525">
                      <a:noFill/>
                    </a:lnR>
                    <a:lnT w="9525">
                      <a:noFill/>
                    </a:lnT>
                    <a:lnB w="9525">
                      <a:solidFill>
                        <a:srgbClr val="DDE3EA"/>
                      </a:solidFill>
                    </a:lnB>
                    <a:solidFill>
                      <a:srgbClr val="FFFFFF"/>
                    </a:solidFill>
                  </a:tcPr>
                </a:tc>
                <a:tc>
                  <a:txBody>
                    <a:bodyPr wrap="square"/>
                    <a:lstStyle/>
                    <a:p>
                      <a:r>
                        <a:rPr sz="1300" b="0">
                          <a:solidFill>
                            <a:srgbClr val="1F2D3D"/>
                          </a:solidFill>
                          <a:latin typeface="Calibri"/>
                        </a:rPr>
                        <a:t>Working dashboard, 7 screens, per-stream consent gate and a printable pre-visit summary</a:t>
                      </a:r>
                    </a:p>
                  </a:txBody>
                  <a:tcPr marL="91440" marR="91440" marT="36576" marB="36576" anchor="ctr">
                    <a:lnL w="9525">
                      <a:noFill/>
                    </a:lnL>
                    <a:lnR w="9525">
                      <a:noFill/>
                    </a:lnR>
                    <a:lnT w="9525">
                      <a:noFill/>
                    </a:lnT>
                    <a:lnB w="9525">
                      <a:solidFill>
                        <a:srgbClr val="DDE3EA"/>
                      </a:solidFill>
                    </a:lnB>
                    <a:solidFill>
                      <a:srgbClr val="FFFFFF"/>
                    </a:solidFill>
                  </a:tcPr>
                </a:tc>
                <a:tc>
                  <a:txBody>
                    <a:bodyPr wrap="square"/>
                    <a:lstStyle/>
                    <a:p>
                      <a:r>
                        <a:rPr sz="1300" b="0">
                          <a:solidFill>
                            <a:srgbClr val="1A8F7A"/>
                          </a:solidFill>
                          <a:latin typeface="Calibri"/>
                        </a:rPr>
                        <a:t>Runs live in any browser</a:t>
                      </a:r>
                    </a:p>
                  </a:txBody>
                  <a:tcPr marL="91440" marR="91440" marT="36576" marB="36576" anchor="ctr">
                    <a:lnL w="9525">
                      <a:noFill/>
                    </a:lnL>
                    <a:lnR w="9525">
                      <a:noFill/>
                    </a:lnR>
                    <a:lnT w="9525">
                      <a:noFill/>
                    </a:lnT>
                    <a:lnB w="9525">
                      <a:solidFill>
                        <a:srgbClr val="DDE3EA"/>
                      </a:solidFill>
                    </a:lnB>
                    <a:solidFill>
                      <a:srgbClr val="FFFFFF"/>
                    </a:solidFill>
                  </a:tcPr>
                </a:tc>
              </a:tr>
              <a:tr h="640080">
                <a:tc>
                  <a:txBody>
                    <a:bodyPr wrap="square"/>
                    <a:lstStyle/>
                    <a:p>
                      <a:r>
                        <a:rPr sz="1300" b="1">
                          <a:solidFill>
                            <a:srgbClr val="1F2D3D"/>
                          </a:solidFill>
                          <a:latin typeface="Calibri"/>
                        </a:rPr>
                        <a:t>Synthetic, open or anonymised data only</a:t>
                      </a:r>
                    </a:p>
                  </a:txBody>
                  <a:tcPr marL="91440" marR="91440" marT="36576" marB="36576" anchor="ctr">
                    <a:lnL w="9525">
                      <a:noFill/>
                    </a:lnL>
                    <a:lnR w="9525">
                      <a:noFill/>
                    </a:lnR>
                    <a:lnT w="9525">
                      <a:noFill/>
                    </a:lnT>
                    <a:lnB w="9525">
                      <a:solidFill>
                        <a:srgbClr val="DDE3EA"/>
                      </a:solidFill>
                    </a:lnB>
                    <a:solidFill>
                      <a:srgbClr val="F3F5F9"/>
                    </a:solidFill>
                  </a:tcPr>
                </a:tc>
                <a:tc>
                  <a:txBody>
                    <a:bodyPr wrap="square"/>
                    <a:lstStyle/>
                    <a:p>
                      <a:r>
                        <a:rPr sz="1300" b="0">
                          <a:solidFill>
                            <a:srgbClr val="1F2D3D"/>
                          </a:solidFill>
                          <a:latin typeface="Calibri"/>
                        </a:rPr>
                        <a:t>Synthetic ward (seed 42) + open CGMacros (PhysioNet); no real identities anywhere</a:t>
                      </a:r>
                    </a:p>
                  </a:txBody>
                  <a:tcPr marL="91440" marR="91440" marT="36576" marB="36576" anchor="ctr">
                    <a:lnL w="9525">
                      <a:noFill/>
                    </a:lnL>
                    <a:lnR w="9525">
                      <a:noFill/>
                    </a:lnR>
                    <a:lnT w="9525">
                      <a:noFill/>
                    </a:lnT>
                    <a:lnB w="9525">
                      <a:solidFill>
                        <a:srgbClr val="DDE3EA"/>
                      </a:solidFill>
                    </a:lnB>
                    <a:solidFill>
                      <a:srgbClr val="F3F5F9"/>
                    </a:solidFill>
                  </a:tcPr>
                </a:tc>
                <a:tc>
                  <a:txBody>
                    <a:bodyPr wrap="square"/>
                    <a:lstStyle/>
                    <a:p>
                      <a:r>
                        <a:rPr sz="1300" b="0">
                          <a:solidFill>
                            <a:srgbClr val="1A8F7A"/>
                          </a:solidFill>
                          <a:latin typeface="Calibri"/>
                        </a:rPr>
                        <a:t>DPDP / HIPAA sandbox rules met</a:t>
                      </a:r>
                    </a:p>
                  </a:txBody>
                  <a:tcPr marL="91440" marR="91440" marT="36576" marB="36576" anchor="ctr">
                    <a:lnL w="9525">
                      <a:noFill/>
                    </a:lnL>
                    <a:lnR w="9525">
                      <a:noFill/>
                    </a:lnR>
                    <a:lnT w="9525">
                      <a:noFill/>
                    </a:lnT>
                    <a:lnB w="9525">
                      <a:solidFill>
                        <a:srgbClr val="DDE3EA"/>
                      </a:solidFill>
                    </a:lnB>
                    <a:solidFill>
                      <a:srgbClr val="F3F5F9"/>
                    </a:solidFill>
                  </a:tcPr>
                </a:tc>
              </a:tr>
            </a:tbl>
          </a:graphicData>
        </a:graphic>
      </p:graphicFrame>
      <p:sp>
        <p:nvSpPr>
          <p:cNvPr id="10" name="Rectangle 9"/>
          <p:cNvSpPr/>
          <p:nvPr/>
        </p:nvSpPr>
        <p:spPr>
          <a:xfrm>
            <a:off x="548640" y="5715000"/>
            <a:ext cx="11091672" cy="502920"/>
          </a:xfrm>
          <a:prstGeom prst="rect">
            <a:avLst/>
          </a:prstGeom>
          <a:solidFill>
            <a:srgbClr val="E07B22"/>
          </a:solidFill>
          <a:ln>
            <a:noFill/>
          </a:ln>
        </p:spPr>
        <p:txBody>
          <a:bodyPr rtlCol="0" anchor="ctr"/>
          <a:lstStyle/>
          <a:p>
            <a:pPr algn="ctr"/>
          </a:p>
        </p:txBody>
      </p:sp>
      <p:sp>
        <p:nvSpPr>
          <p:cNvPr id="11" name="TextBox 10"/>
          <p:cNvSpPr txBox="1"/>
          <p:nvPr/>
        </p:nvSpPr>
        <p:spPr>
          <a:xfrm>
            <a:off x="548640" y="5715000"/>
            <a:ext cx="11091672" cy="502920"/>
          </a:xfrm>
          <a:prstGeom prst="rect">
            <a:avLst/>
          </a:prstGeom>
          <a:noFill/>
        </p:spPr>
        <p:txBody>
          <a:bodyPr wrap="square" lIns="0" rIns="0" tIns="0" bIns="0" anchor="ctr">
            <a:spAutoFit/>
          </a:bodyPr>
          <a:lstStyle/>
          <a:p>
            <a:pPr algn="ctr">
              <a:spcAft>
                <a:spcPts val="0"/>
              </a:spcAft>
            </a:pPr>
            <a:r>
              <a:rPr sz="1500" b="1" i="0">
                <a:solidFill>
                  <a:srgbClr val="FFFFFF"/>
                </a:solidFill>
                <a:latin typeface="Calibri"/>
              </a:rPr>
              <a:t>Two streams fused  ·  an adverse event predicted  ·  a doctor's dashboard  ·  open and synthetic data only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band"/>
          <p:cNvSpPr/>
          <p:nvPr/>
        </p:nvSpPr>
        <p:spPr>
          <a:xfrm>
            <a:off x="0" y="0"/>
            <a:ext cx="12191695" cy="82296"/>
          </a:xfrm>
          <a:prstGeom prst="rect">
            <a:avLst/>
          </a:prstGeom>
          <a:solidFill>
            <a:srgbClr val="1F3A5F"/>
          </a:solidFill>
          <a:ln>
            <a:noFill/>
          </a:ln>
        </p:spPr>
        <p:txBody>
          <a:bodyPr rtlCol="0" anchor="ctr"/>
          <a:lstStyle/>
          <a:p>
            <a:pPr algn="ctr"/>
          </a:p>
        </p:txBody>
      </p:sp>
      <p:sp>
        <p:nvSpPr>
          <p:cNvPr id="3" name="Top accent"/>
          <p:cNvSpPr/>
          <p:nvPr/>
        </p:nvSpPr>
        <p:spPr>
          <a:xfrm>
            <a:off x="0" y="82296"/>
            <a:ext cx="2011680" cy="45720"/>
          </a:xfrm>
          <a:prstGeom prst="rect">
            <a:avLst/>
          </a:prstGeom>
          <a:solidFill>
            <a:srgbClr val="E07B22"/>
          </a:solidFill>
          <a:ln>
            <a:noFill/>
          </a:ln>
        </p:spPr>
        <p:txBody>
          <a:bodyPr rtlCol="0" anchor="ctr"/>
          <a:lstStyle/>
          <a:p>
            <a:pPr algn="ctr"/>
          </a:p>
        </p:txBody>
      </p:sp>
      <p:sp>
        <p:nvSpPr>
          <p:cNvPr id="4" name="Kicker"/>
          <p:cNvSpPr txBox="1"/>
          <p:nvPr/>
        </p:nvSpPr>
        <p:spPr>
          <a:xfrm>
            <a:off x="548640" y="329184"/>
            <a:ext cx="11091672" cy="237744"/>
          </a:xfrm>
          <a:prstGeom prst="rect">
            <a:avLst/>
          </a:prstGeom>
          <a:noFill/>
        </p:spPr>
        <p:txBody>
          <a:bodyPr wrap="square" lIns="0" rIns="0" tIns="0" bIns="0" anchor="t">
            <a:spAutoFit/>
          </a:bodyPr>
          <a:lstStyle/>
          <a:p>
            <a:pPr algn="l">
              <a:spcAft>
                <a:spcPts val="0"/>
              </a:spcAft>
            </a:pPr>
            <a:r>
              <a:rPr sz="1200" b="1" i="0">
                <a:solidFill>
                  <a:srgbClr val="E07B22"/>
                </a:solidFill>
                <a:latin typeface="Calibri"/>
              </a:rPr>
              <a:t>4 · REAL PROTOTYPE OUTPUT</a:t>
            </a:r>
          </a:p>
        </p:txBody>
      </p:sp>
      <p:sp>
        <p:nvSpPr>
          <p:cNvPr id="5" name="Title"/>
          <p:cNvSpPr txBox="1"/>
          <p:nvPr/>
        </p:nvSpPr>
        <p:spPr>
          <a:xfrm>
            <a:off x="548640" y="566928"/>
            <a:ext cx="11091672" cy="566928"/>
          </a:xfrm>
          <a:prstGeom prst="rect">
            <a:avLst/>
          </a:prstGeom>
          <a:noFill/>
        </p:spPr>
        <p:txBody>
          <a:bodyPr wrap="square" lIns="0" rIns="0" tIns="0" bIns="0" anchor="t">
            <a:spAutoFit/>
          </a:bodyPr>
          <a:lstStyle/>
          <a:p>
            <a:pPr algn="l">
              <a:spcAft>
                <a:spcPts val="0"/>
              </a:spcAft>
            </a:pPr>
            <a:r>
              <a:rPr sz="3000" b="1" i="0">
                <a:solidFill>
                  <a:srgbClr val="1F3A5F"/>
                </a:solidFill>
                <a:latin typeface="Calibri"/>
              </a:rPr>
              <a:t>What the twin already produces</a:t>
            </a:r>
          </a:p>
        </p:txBody>
      </p:sp>
      <p:cxnSp>
        <p:nvCxnSpPr>
          <p:cNvPr id="6" name="Footer rule"/>
          <p:cNvCxnSpPr/>
          <p:nvPr/>
        </p:nvCxnSpPr>
        <p:spPr>
          <a:xfrm>
            <a:off x="548640" y="6382512"/>
            <a:ext cx="11091672" cy="0"/>
          </a:xfrm>
          <a:prstGeom prst="line">
            <a:avLst/>
          </a:prstGeom>
          <a:ln w="9525">
            <a:solidFill>
              <a:srgbClr val="C9D1DC"/>
            </a:solidFill>
          </a:ln>
        </p:spPr>
        <p:style>
          <a:lnRef idx="2">
            <a:schemeClr val="accent1"/>
          </a:lnRef>
          <a:fillRef idx="0">
            <a:schemeClr val="accent1"/>
          </a:fillRef>
          <a:effectRef idx="1">
            <a:schemeClr val="accent1"/>
          </a:effectRef>
          <a:fontRef idx="minor">
            <a:schemeClr val="tx1"/>
          </a:fontRef>
        </p:style>
      </p:cxnSp>
      <p:sp>
        <p:nvSpPr>
          <p:cNvPr id="7" name="Sources"/>
          <p:cNvSpPr txBox="1"/>
          <p:nvPr/>
        </p:nvSpPr>
        <p:spPr>
          <a:xfrm>
            <a:off x="548640" y="6428232"/>
            <a:ext cx="10634472" cy="365760"/>
          </a:xfrm>
          <a:prstGeom prst="rect">
            <a:avLst/>
          </a:prstGeom>
          <a:noFill/>
        </p:spPr>
        <p:txBody>
          <a:bodyPr wrap="square" lIns="0" rIns="0" tIns="0" bIns="0" anchor="t">
            <a:spAutoFit/>
          </a:bodyPr>
          <a:lstStyle/>
          <a:p>
            <a:pPr algn="l">
              <a:spcAft>
                <a:spcPts val="0"/>
              </a:spcAft>
            </a:pPr>
            <a:r>
              <a:rPr sz="900" b="0" i="0">
                <a:solidFill>
                  <a:srgbClr val="5B6675"/>
                </a:solidFill>
                <a:latin typeface="Calibri"/>
              </a:rPr>
              <a:t>Sources: GlucoTwin outputs — reports/sim_eval.json (simulated ward, seed 42); src/lib/glucotwin/real/real_eval.json (CGMacros, doi:10.13026/3z8q-x658); model and data test run, 17 Oct 2026.</a:t>
            </a:r>
          </a:p>
        </p:txBody>
      </p:sp>
      <p:sp>
        <p:nvSpPr>
          <p:cNvPr id="8" name="Page number"/>
          <p:cNvSpPr txBox="1"/>
          <p:nvPr/>
        </p:nvSpPr>
        <p:spPr>
          <a:xfrm>
            <a:off x="11274552" y="6446520"/>
            <a:ext cx="365760" cy="228600"/>
          </a:xfrm>
          <a:prstGeom prst="rect">
            <a:avLst/>
          </a:prstGeom>
          <a:noFill/>
        </p:spPr>
        <p:txBody>
          <a:bodyPr wrap="square" lIns="0" rIns="0" tIns="0" bIns="0" anchor="t">
            <a:spAutoFit/>
          </a:bodyPr>
          <a:lstStyle/>
          <a:p>
            <a:pPr algn="r">
              <a:spcAft>
                <a:spcPts val="0"/>
              </a:spcAft>
            </a:pPr>
            <a:r>
              <a:rPr sz="1100" b="1" i="0">
                <a:solidFill>
                  <a:srgbClr val="1F3A5F"/>
                </a:solidFill>
                <a:latin typeface="Calibri"/>
              </a:rPr>
              <a:t>4</a:t>
            </a:r>
          </a:p>
        </p:txBody>
      </p:sp>
      <p:sp>
        <p:nvSpPr>
          <p:cNvPr id="9" name="Rectangle 8"/>
          <p:cNvSpPr/>
          <p:nvPr/>
        </p:nvSpPr>
        <p:spPr>
          <a:xfrm>
            <a:off x="548640" y="1298448"/>
            <a:ext cx="11091672" cy="365760"/>
          </a:xfrm>
          <a:prstGeom prst="rect">
            <a:avLst/>
          </a:prstGeom>
          <a:solidFill>
            <a:srgbClr val="E07B22"/>
          </a:solidFill>
          <a:ln>
            <a:noFill/>
          </a:ln>
        </p:spPr>
        <p:txBody>
          <a:bodyPr rtlCol="0" anchor="ctr"/>
          <a:lstStyle/>
          <a:p>
            <a:pPr algn="ctr"/>
          </a:p>
        </p:txBody>
      </p:sp>
      <p:sp>
        <p:nvSpPr>
          <p:cNvPr id="10" name="TextBox 9"/>
          <p:cNvSpPr txBox="1"/>
          <p:nvPr/>
        </p:nvSpPr>
        <p:spPr>
          <a:xfrm>
            <a:off x="548640" y="1298448"/>
            <a:ext cx="11091672" cy="365760"/>
          </a:xfrm>
          <a:prstGeom prst="rect">
            <a:avLst/>
          </a:prstGeom>
          <a:noFill/>
        </p:spPr>
        <p:txBody>
          <a:bodyPr wrap="square" lIns="0" rIns="0" tIns="0" bIns="0" anchor="ctr">
            <a:spAutoFit/>
          </a:bodyPr>
          <a:lstStyle/>
          <a:p>
            <a:pPr algn="ctr">
              <a:spcAft>
                <a:spcPts val="0"/>
              </a:spcAft>
            </a:pPr>
            <a:r>
              <a:rPr sz="1300" b="1" i="0">
                <a:solidFill>
                  <a:srgbClr val="FFFFFF"/>
                </a:solidFill>
                <a:latin typeface="Calibri"/>
              </a:rPr>
              <a:t>REAL PROTOTYPE OUTPUT  ·  SIMULATED WARD (11 PATIENTS) + REAL CGMACROS DATA (45 ADULTS)</a:t>
            </a:r>
          </a:p>
        </p:txBody>
      </p:sp>
      <p:graphicFrame>
        <p:nvGraphicFramePr>
          <p:cNvPr id="11" name="Table 10"/>
          <p:cNvGraphicFramePr>
            <a:graphicFrameLocks noGrp="1"/>
          </p:cNvGraphicFramePr>
          <p:nvPr/>
        </p:nvGraphicFramePr>
        <p:xfrm>
          <a:off x="548640" y="1828800"/>
          <a:ext cx="7406640" cy="3200400"/>
        </p:xfrm>
        <a:graphic>
          <a:graphicData uri="http://schemas.openxmlformats.org/drawingml/2006/table">
            <a:tbl>
              <a:tblPr firstRow="1">
                <a:tableStyleId>{5C22544A-7EE6-4342-B048-85BDC9FD1C3A}</a:tableStyleId>
              </a:tblPr>
              <a:tblGrid>
                <a:gridCol w="2148840"/>
                <a:gridCol w="2880360"/>
                <a:gridCol w="2377440"/>
              </a:tblGrid>
              <a:tr h="365760">
                <a:tc>
                  <a:txBody>
                    <a:bodyPr wrap="square"/>
                    <a:lstStyle/>
                    <a:p>
                      <a:r>
                        <a:rPr sz="1200" b="1">
                          <a:solidFill>
                            <a:srgbClr val="FFFFFF"/>
                          </a:solidFill>
                          <a:latin typeface="Calibri"/>
                        </a:rPr>
                        <a:t>Patient</a:t>
                      </a:r>
                    </a:p>
                  </a:txBody>
                  <a:tcPr marL="91440" marR="91440" marT="36576" marB="36576" anchor="ctr">
                    <a:lnL w="9525">
                      <a:noFill/>
                    </a:lnL>
                    <a:lnR w="9525">
                      <a:noFill/>
                    </a:lnR>
                    <a:lnT w="9525">
                      <a:noFill/>
                    </a:lnT>
                    <a:lnB w="9525">
                      <a:solidFill>
                        <a:srgbClr val="3A5578"/>
                      </a:solidFill>
                    </a:lnB>
                    <a:solidFill>
                      <a:srgbClr val="1F3A5F"/>
                    </a:solidFill>
                  </a:tcPr>
                </a:tc>
                <a:tc>
                  <a:txBody>
                    <a:bodyPr wrap="square"/>
                    <a:lstStyle/>
                    <a:p>
                      <a:r>
                        <a:rPr sz="1200" b="1">
                          <a:solidFill>
                            <a:srgbClr val="FFFFFF"/>
                          </a:solidFill>
                          <a:latin typeface="Calibri"/>
                        </a:rPr>
                        <a:t>Fact from the twin</a:t>
                      </a:r>
                    </a:p>
                  </a:txBody>
                  <a:tcPr marL="91440" marR="91440" marT="36576" marB="36576" anchor="ctr">
                    <a:lnL w="9525">
                      <a:noFill/>
                    </a:lnL>
                    <a:lnR w="9525">
                      <a:noFill/>
                    </a:lnR>
                    <a:lnT w="9525">
                      <a:noFill/>
                    </a:lnT>
                    <a:lnB w="9525">
                      <a:solidFill>
                        <a:srgbClr val="3A5578"/>
                      </a:solidFill>
                    </a:lnB>
                    <a:solidFill>
                      <a:srgbClr val="1F3A5F"/>
                    </a:solidFill>
                  </a:tcPr>
                </a:tc>
                <a:tc>
                  <a:txBody>
                    <a:bodyPr wrap="square"/>
                    <a:lstStyle/>
                    <a:p>
                      <a:r>
                        <a:rPr sz="1200" b="1">
                          <a:solidFill>
                            <a:srgbClr val="FFFFFF"/>
                          </a:solidFill>
                          <a:latin typeface="Calibri"/>
                        </a:rPr>
                        <a:t>What the doctor gets</a:t>
                      </a:r>
                    </a:p>
                  </a:txBody>
                  <a:tcPr marL="91440" marR="91440" marT="36576" marB="36576" anchor="ctr">
                    <a:lnL w="9525">
                      <a:noFill/>
                    </a:lnL>
                    <a:lnR w="9525">
                      <a:noFill/>
                    </a:lnR>
                    <a:lnT w="9525">
                      <a:noFill/>
                    </a:lnT>
                    <a:lnB w="9525">
                      <a:solidFill>
                        <a:srgbClr val="3A5578"/>
                      </a:solidFill>
                    </a:lnB>
                    <a:solidFill>
                      <a:srgbClr val="1F3A5F"/>
                    </a:solidFill>
                  </a:tcPr>
                </a:tc>
              </a:tr>
              <a:tr h="731520">
                <a:tc>
                  <a:txBody>
                    <a:bodyPr wrap="square"/>
                    <a:lstStyle/>
                    <a:p>
                      <a:r>
                        <a:rPr sz="1200" b="1">
                          <a:solidFill>
                            <a:srgbClr val="1F2D3D"/>
                          </a:solidFill>
                          <a:latin typeface="Calibri"/>
                        </a:rPr>
                        <a:t>Ananya Rao (GT-07), simulated</a:t>
                      </a:r>
                    </a:p>
                  </a:txBody>
                  <a:tcPr marL="91440" marR="91440" marT="36576" marB="36576" anchor="ctr">
                    <a:lnL w="9525">
                      <a:noFill/>
                    </a:lnL>
                    <a:lnR w="9525">
                      <a:noFill/>
                    </a:lnR>
                    <a:lnT w="9525">
                      <a:noFill/>
                    </a:lnT>
                    <a:lnB w="9525">
                      <a:solidFill>
                        <a:srgbClr val="DDE3EA"/>
                      </a:solidFill>
                    </a:lnB>
                    <a:solidFill>
                      <a:srgbClr val="FFFFFF"/>
                    </a:solidFill>
                  </a:tcPr>
                </a:tc>
                <a:tc>
                  <a:txBody>
                    <a:bodyPr wrap="square"/>
                    <a:lstStyle/>
                    <a:p>
                      <a:r>
                        <a:rPr sz="1200" b="0">
                          <a:solidFill>
                            <a:srgbClr val="1F2D3D"/>
                          </a:solidFill>
                          <a:latin typeface="Calibri"/>
                        </a:rPr>
                        <a:t>After a 67 g carb lunch, the 2-hour forecast rises past 180 mg/dL; spike risk crosses 60%</a:t>
                      </a:r>
                    </a:p>
                  </a:txBody>
                  <a:tcPr marL="91440" marR="91440" marT="36576" marB="36576" anchor="ctr">
                    <a:lnL w="9525">
                      <a:noFill/>
                    </a:lnL>
                    <a:lnR w="9525">
                      <a:noFill/>
                    </a:lnR>
                    <a:lnT w="9525">
                      <a:noFill/>
                    </a:lnT>
                    <a:lnB w="9525">
                      <a:solidFill>
                        <a:srgbClr val="DDE3EA"/>
                      </a:solidFill>
                    </a:lnB>
                    <a:solidFill>
                      <a:srgbClr val="FFFFFF"/>
                    </a:solidFill>
                  </a:tcPr>
                </a:tc>
                <a:tc>
                  <a:txBody>
                    <a:bodyPr wrap="square"/>
                    <a:lstStyle/>
                    <a:p>
                      <a:r>
                        <a:rPr sz="1200" b="0">
                          <a:solidFill>
                            <a:srgbClr val="1F2D3D"/>
                          </a:solidFill>
                          <a:latin typeface="Calibri"/>
                        </a:rPr>
                        <a:t>Urgent alert with reasons: the meal, glucose vs her fasting baseline, time of day</a:t>
                      </a:r>
                    </a:p>
                  </a:txBody>
                  <a:tcPr marL="91440" marR="91440" marT="36576" marB="36576" anchor="ctr">
                    <a:lnL w="9525">
                      <a:noFill/>
                    </a:lnL>
                    <a:lnR w="9525">
                      <a:noFill/>
                    </a:lnR>
                    <a:lnT w="9525">
                      <a:noFill/>
                    </a:lnT>
                    <a:lnB w="9525">
                      <a:solidFill>
                        <a:srgbClr val="DDE3EA"/>
                      </a:solidFill>
                    </a:lnB>
                    <a:solidFill>
                      <a:srgbClr val="FFFFFF"/>
                    </a:solidFill>
                  </a:tcPr>
                </a:tc>
              </a:tr>
              <a:tr h="731520">
                <a:tc>
                  <a:txBody>
                    <a:bodyPr wrap="square"/>
                    <a:lstStyle/>
                    <a:p>
                      <a:r>
                        <a:rPr sz="1200" b="1">
                          <a:solidFill>
                            <a:srgbClr val="1F2D3D"/>
                          </a:solidFill>
                          <a:latin typeface="Calibri"/>
                        </a:rPr>
                        <a:t>Split lunch, 8 Type 2 patients</a:t>
                      </a:r>
                    </a:p>
                  </a:txBody>
                  <a:tcPr marL="91440" marR="91440" marT="36576" marB="36576" anchor="ctr">
                    <a:lnL w="9525">
                      <a:noFill/>
                    </a:lnL>
                    <a:lnR w="9525">
                      <a:noFill/>
                    </a:lnR>
                    <a:lnT w="9525">
                      <a:noFill/>
                    </a:lnT>
                    <a:lnB w="9525">
                      <a:solidFill>
                        <a:srgbClr val="DDE3EA"/>
                      </a:solidFill>
                    </a:lnB>
                    <a:solidFill>
                      <a:srgbClr val="F3F5F9"/>
                    </a:solidFill>
                  </a:tcPr>
                </a:tc>
                <a:tc>
                  <a:txBody>
                    <a:bodyPr wrap="square"/>
                    <a:lstStyle/>
                    <a:p>
                      <a:r>
                        <a:rPr sz="1200" b="0">
                          <a:solidFill>
                            <a:srgbClr val="1F2D3D"/>
                          </a:solidFill>
                          <a:latin typeface="Calibri"/>
                        </a:rPr>
                        <a:t>Vikram +3.6 and Kavita +2.9 points of time in range; Leela −5.4, Fatima −4.1, Suresh −2.9</a:t>
                      </a:r>
                    </a:p>
                  </a:txBody>
                  <a:tcPr marL="91440" marR="91440" marT="36576" marB="36576" anchor="ctr">
                    <a:lnL w="9525">
                      <a:noFill/>
                    </a:lnL>
                    <a:lnR w="9525">
                      <a:noFill/>
                    </a:lnR>
                    <a:lnT w="9525">
                      <a:noFill/>
                    </a:lnT>
                    <a:lnB w="9525">
                      <a:solidFill>
                        <a:srgbClr val="DDE3EA"/>
                      </a:solidFill>
                    </a:lnB>
                    <a:solidFill>
                      <a:srgbClr val="F3F5F9"/>
                    </a:solidFill>
                  </a:tcPr>
                </a:tc>
                <a:tc>
                  <a:txBody>
                    <a:bodyPr wrap="square"/>
                    <a:lstStyle/>
                    <a:p>
                      <a:r>
                        <a:rPr sz="1200" b="0">
                          <a:solidFill>
                            <a:srgbClr val="1F2D3D"/>
                          </a:solidFill>
                          <a:latin typeface="Calibri"/>
                        </a:rPr>
                        <a:t>A personal plan table, not a one-size rule</a:t>
                      </a:r>
                    </a:p>
                  </a:txBody>
                  <a:tcPr marL="91440" marR="91440" marT="36576" marB="36576" anchor="ctr">
                    <a:lnL w="9525">
                      <a:noFill/>
                    </a:lnL>
                    <a:lnR w="9525">
                      <a:noFill/>
                    </a:lnR>
                    <a:lnT w="9525">
                      <a:noFill/>
                    </a:lnT>
                    <a:lnB w="9525">
                      <a:solidFill>
                        <a:srgbClr val="DDE3EA"/>
                      </a:solidFill>
                    </a:lnB>
                    <a:solidFill>
                      <a:srgbClr val="F3F5F9"/>
                    </a:solidFill>
                  </a:tcPr>
                </a:tc>
              </a:tr>
              <a:tr h="685800">
                <a:tc>
                  <a:txBody>
                    <a:bodyPr wrap="square"/>
                    <a:lstStyle/>
                    <a:p>
                      <a:r>
                        <a:rPr sz="1200" b="1">
                          <a:solidFill>
                            <a:srgbClr val="1F2D3D"/>
                          </a:solidFill>
                          <a:latin typeface="Calibri"/>
                        </a:rPr>
                        <a:t>All 8 Type 2 patients, simulated</a:t>
                      </a:r>
                    </a:p>
                  </a:txBody>
                  <a:tcPr marL="91440" marR="91440" marT="36576" marB="36576" anchor="ctr">
                    <a:lnL w="9525">
                      <a:noFill/>
                    </a:lnL>
                    <a:lnR w="9525">
                      <a:noFill/>
                    </a:lnR>
                    <a:lnT w="9525">
                      <a:noFill/>
                    </a:lnT>
                    <a:lnB w="9525">
                      <a:solidFill>
                        <a:srgbClr val="DDE3EA"/>
                      </a:solidFill>
                    </a:lnB>
                    <a:solidFill>
                      <a:srgbClr val="FFFFFF"/>
                    </a:solidFill>
                  </a:tcPr>
                </a:tc>
                <a:tc>
                  <a:txBody>
                    <a:bodyPr wrap="square"/>
                    <a:lstStyle/>
                    <a:p>
                      <a:r>
                        <a:rPr sz="1200" b="0">
                          <a:solidFill>
                            <a:srgbClr val="1F2D3D"/>
                          </a:solidFill>
                          <a:latin typeface="Calibri"/>
                        </a:rPr>
                        <a:t>Personal 60-min error below the group prior for every one (gain 0.5–3.7 mg/dL)</a:t>
                      </a:r>
                    </a:p>
                  </a:txBody>
                  <a:tcPr marL="91440" marR="91440" marT="36576" marB="36576" anchor="ctr">
                    <a:lnL w="9525">
                      <a:noFill/>
                    </a:lnL>
                    <a:lnR w="9525">
                      <a:noFill/>
                    </a:lnR>
                    <a:lnT w="9525">
                      <a:noFill/>
                    </a:lnT>
                    <a:lnB w="9525">
                      <a:solidFill>
                        <a:srgbClr val="DDE3EA"/>
                      </a:solidFill>
                    </a:lnB>
                    <a:solidFill>
                      <a:srgbClr val="FFFFFF"/>
                    </a:solidFill>
                  </a:tcPr>
                </a:tc>
                <a:tc>
                  <a:txBody>
                    <a:bodyPr wrap="square"/>
                    <a:lstStyle/>
                    <a:p>
                      <a:r>
                        <a:rPr sz="1200" b="0">
                          <a:solidFill>
                            <a:srgbClr val="1F2D3D"/>
                          </a:solidFill>
                          <a:latin typeface="Calibri"/>
                        </a:rPr>
                        <a:t>A twin fitted to each person in 5 days</a:t>
                      </a:r>
                    </a:p>
                  </a:txBody>
                  <a:tcPr marL="91440" marR="91440" marT="36576" marB="36576" anchor="ctr">
                    <a:lnL w="9525">
                      <a:noFill/>
                    </a:lnL>
                    <a:lnR w="9525">
                      <a:noFill/>
                    </a:lnR>
                    <a:lnT w="9525">
                      <a:noFill/>
                    </a:lnT>
                    <a:lnB w="9525">
                      <a:solidFill>
                        <a:srgbClr val="DDE3EA"/>
                      </a:solidFill>
                    </a:lnB>
                    <a:solidFill>
                      <a:srgbClr val="FFFFFF"/>
                    </a:solidFill>
                  </a:tcPr>
                </a:tc>
              </a:tr>
              <a:tr h="685800">
                <a:tc>
                  <a:txBody>
                    <a:bodyPr wrap="square"/>
                    <a:lstStyle/>
                    <a:p>
                      <a:r>
                        <a:rPr sz="1200" b="1">
                          <a:solidFill>
                            <a:srgbClr val="1F2D3D"/>
                          </a:solidFill>
                          <a:latin typeface="Calibri"/>
                        </a:rPr>
                        <a:t>3 real CGMacros adults, held out</a:t>
                      </a:r>
                    </a:p>
                  </a:txBody>
                  <a:tcPr marL="91440" marR="91440" marT="36576" marB="36576" anchor="ctr">
                    <a:lnL w="9525">
                      <a:noFill/>
                    </a:lnL>
                    <a:lnR w="9525">
                      <a:noFill/>
                    </a:lnR>
                    <a:lnT w="9525">
                      <a:noFill/>
                    </a:lnT>
                    <a:lnB w="9525">
                      <a:solidFill>
                        <a:srgbClr val="DDE3EA"/>
                      </a:solidFill>
                    </a:lnB>
                    <a:solidFill>
                      <a:srgbClr val="F3F5F9"/>
                    </a:solidFill>
                  </a:tcPr>
                </a:tc>
                <a:tc>
                  <a:txBody>
                    <a:bodyPr wrap="square"/>
                    <a:lstStyle/>
                    <a:p>
                      <a:r>
                        <a:rPr sz="1200" b="0">
                          <a:solidFill>
                            <a:srgbClr val="1F2D3D"/>
                          </a:solidFill>
                          <a:latin typeface="Calibri"/>
                        </a:rPr>
                        <a:t>LightGBM residual cuts their 2-hour error from 46.5 to 40.8 mg/dL</a:t>
                      </a:r>
                    </a:p>
                  </a:txBody>
                  <a:tcPr marL="91440" marR="91440" marT="36576" marB="36576" anchor="ctr">
                    <a:lnL w="9525">
                      <a:noFill/>
                    </a:lnL>
                    <a:lnR w="9525">
                      <a:noFill/>
                    </a:lnR>
                    <a:lnT w="9525">
                      <a:noFill/>
                    </a:lnT>
                    <a:lnB w="9525">
                      <a:solidFill>
                        <a:srgbClr val="DDE3EA"/>
                      </a:solidFill>
                    </a:lnB>
                    <a:solidFill>
                      <a:srgbClr val="F3F5F9"/>
                    </a:solidFill>
                  </a:tcPr>
                </a:tc>
                <a:tc>
                  <a:txBody>
                    <a:bodyPr wrap="square"/>
                    <a:lstStyle/>
                    <a:p>
                      <a:r>
                        <a:rPr sz="1200" b="0">
                          <a:solidFill>
                            <a:srgbClr val="1F2D3D"/>
                          </a:solidFill>
                          <a:latin typeface="Calibri"/>
                        </a:rPr>
                        <a:t>Offline today; candidate for the live curve</a:t>
                      </a:r>
                    </a:p>
                  </a:txBody>
                  <a:tcPr marL="91440" marR="91440" marT="36576" marB="36576" anchor="ctr">
                    <a:lnL w="9525">
                      <a:noFill/>
                    </a:lnL>
                    <a:lnR w="9525">
                      <a:noFill/>
                    </a:lnR>
                    <a:lnT w="9525">
                      <a:noFill/>
                    </a:lnT>
                    <a:lnB w="9525">
                      <a:solidFill>
                        <a:srgbClr val="DDE3EA"/>
                      </a:solidFill>
                    </a:lnB>
                    <a:solidFill>
                      <a:srgbClr val="F3F5F9"/>
                    </a:solidFill>
                  </a:tcPr>
                </a:tc>
              </a:tr>
            </a:tbl>
          </a:graphicData>
        </a:graphic>
      </p:graphicFrame>
      <p:sp>
        <p:nvSpPr>
          <p:cNvPr id="12" name="Rectangle 11"/>
          <p:cNvSpPr/>
          <p:nvPr/>
        </p:nvSpPr>
        <p:spPr>
          <a:xfrm>
            <a:off x="548640" y="5166360"/>
            <a:ext cx="7406640" cy="1051560"/>
          </a:xfrm>
          <a:prstGeom prst="rect">
            <a:avLst/>
          </a:prstGeom>
          <a:solidFill>
            <a:srgbClr val="FFF4E6"/>
          </a:solidFill>
          <a:ln>
            <a:noFill/>
          </a:ln>
        </p:spPr>
        <p:txBody>
          <a:bodyPr rtlCol="0" anchor="ctr"/>
          <a:lstStyle/>
          <a:p>
            <a:pPr algn="ctr"/>
          </a:p>
        </p:txBody>
      </p:sp>
      <p:sp>
        <p:nvSpPr>
          <p:cNvPr id="13" name="TextBox 12"/>
          <p:cNvSpPr txBox="1"/>
          <p:nvPr/>
        </p:nvSpPr>
        <p:spPr>
          <a:xfrm>
            <a:off x="731520" y="5257800"/>
            <a:ext cx="7086600" cy="914400"/>
          </a:xfrm>
          <a:prstGeom prst="rect">
            <a:avLst/>
          </a:prstGeom>
          <a:noFill/>
        </p:spPr>
        <p:txBody>
          <a:bodyPr wrap="square" lIns="0" rIns="0" tIns="0" bIns="0" anchor="t">
            <a:spAutoFit/>
          </a:bodyPr>
          <a:lstStyle/>
          <a:p>
            <a:pPr algn="l">
              <a:spcAft>
                <a:spcPts val="0"/>
              </a:spcAft>
            </a:pPr>
            <a:r>
              <a:rPr sz="1300" b="1" i="0">
                <a:solidFill>
                  <a:srgbClr val="E07B22"/>
                </a:solidFill>
                <a:latin typeface="Calibri"/>
              </a:rPr>
              <a:t>Honest check: </a:t>
            </a:r>
            <a:r>
              <a:rPr sz="1300" b="0" i="0">
                <a:solidFill>
                  <a:srgbClr val="1F2D3D"/>
                </a:solidFill>
                <a:latin typeface="Calibri"/>
              </a:rPr>
              <a:t>on real CGMacros data, spike alerts caught 38.9% of spikes at 63.8% precision (median lead 35 min) and 7 of 17 lows at 39% precision. The habit prior is not yet on the real-data path; Indian pilot data is the fix.</a:t>
            </a:r>
          </a:p>
        </p:txBody>
      </p:sp>
      <p:sp>
        <p:nvSpPr>
          <p:cNvPr id="14" name="Rectangle 13"/>
          <p:cNvSpPr/>
          <p:nvPr/>
        </p:nvSpPr>
        <p:spPr>
          <a:xfrm>
            <a:off x="8183879" y="1828800"/>
            <a:ext cx="3456432" cy="2212848"/>
          </a:xfrm>
          <a:prstGeom prst="rect">
            <a:avLst/>
          </a:prstGeom>
          <a:solidFill>
            <a:srgbClr val="16202C"/>
          </a:solidFill>
          <a:ln>
            <a:noFill/>
          </a:ln>
        </p:spPr>
        <p:txBody>
          <a:bodyPr rtlCol="0" anchor="ctr"/>
          <a:lstStyle/>
          <a:p>
            <a:pPr algn="ctr"/>
          </a:p>
        </p:txBody>
      </p:sp>
      <p:sp>
        <p:nvSpPr>
          <p:cNvPr id="15" name="TextBox 14"/>
          <p:cNvSpPr txBox="1"/>
          <p:nvPr/>
        </p:nvSpPr>
        <p:spPr>
          <a:xfrm>
            <a:off x="8339327" y="1938528"/>
            <a:ext cx="3200400" cy="2057400"/>
          </a:xfrm>
          <a:prstGeom prst="rect">
            <a:avLst/>
          </a:prstGeom>
          <a:noFill/>
        </p:spPr>
        <p:txBody>
          <a:bodyPr wrap="square" lIns="0" rIns="0" tIns="0" bIns="0" anchor="t">
            <a:spAutoFit/>
          </a:bodyPr>
          <a:lstStyle/>
          <a:p>
            <a:pPr algn="l">
              <a:lnSpc>
                <a:spcPct val="108000"/>
              </a:lnSpc>
              <a:spcAft>
                <a:spcPts val="0"/>
              </a:spcAft>
            </a:pPr>
            <a:r>
              <a:rPr sz="1200" b="1" i="0">
                <a:solidFill>
                  <a:srgbClr val="F2B266"/>
                </a:solidFill>
                <a:latin typeface="Consolas"/>
              </a:rPr>
              <a:t>$ cat real_eval.json</a:t>
            </a:r>
          </a:p>
          <a:p>
            <a:pPr algn="l">
              <a:lnSpc>
                <a:spcPct val="108000"/>
              </a:lnSpc>
              <a:spcAft>
                <a:spcPts val="0"/>
              </a:spcAft>
            </a:pPr>
            <a:r>
              <a:rPr sz="1200" b="0" i="0">
                <a:solidFill>
                  <a:srgbClr val="D9E2EC"/>
                </a:solidFill>
                <a:latin typeface="Consolas"/>
              </a:rPr>
              <a:t>participants        45</a:t>
            </a:r>
          </a:p>
          <a:p>
            <a:pPr algn="l">
              <a:lnSpc>
                <a:spcPct val="108000"/>
              </a:lnSpc>
              <a:spcAft>
                <a:spcPts val="0"/>
              </a:spcAft>
            </a:pPr>
            <a:r>
              <a:rPr sz="1200" b="0" i="0">
                <a:solidFill>
                  <a:srgbClr val="D9E2EC"/>
                </a:solidFill>
                <a:latin typeface="Consolas"/>
              </a:rPr>
              <a:t>forecasts/horizon   11,101</a:t>
            </a:r>
          </a:p>
          <a:p>
            <a:pPr algn="l">
              <a:lnSpc>
                <a:spcPct val="108000"/>
              </a:lnSpc>
              <a:spcAft>
                <a:spcPts val="0"/>
              </a:spcAft>
            </a:pPr>
            <a:r>
              <a:rPr sz="1200" b="0" i="0">
                <a:solidFill>
                  <a:srgbClr val="D9E2EC"/>
                </a:solidFill>
                <a:latin typeface="Consolas"/>
              </a:rPr>
              <a:t>rmse_120  twin      31.8</a:t>
            </a:r>
          </a:p>
          <a:p>
            <a:pPr algn="l">
              <a:lnSpc>
                <a:spcPct val="108000"/>
              </a:lnSpc>
              <a:spcAft>
                <a:spcPts val="0"/>
              </a:spcAft>
            </a:pPr>
            <a:r>
              <a:rPr sz="1200" b="0" i="0">
                <a:solidFill>
                  <a:srgbClr val="D9E2EC"/>
                </a:solidFill>
                <a:latin typeface="Consolas"/>
              </a:rPr>
              <a:t>rmse_120  persist   38.9</a:t>
            </a:r>
          </a:p>
          <a:p>
            <a:pPr algn="l">
              <a:lnSpc>
                <a:spcPct val="108000"/>
              </a:lnSpc>
              <a:spcAft>
                <a:spcPts val="0"/>
              </a:spcAft>
            </a:pPr>
            <a:r>
              <a:rPr sz="1200" b="0" i="0">
                <a:solidFill>
                  <a:srgbClr val="D9E2EC"/>
                </a:solidFill>
                <a:latin typeface="Consolas"/>
              </a:rPr>
              <a:t>clarke_AB_30        0.998</a:t>
            </a:r>
          </a:p>
          <a:p>
            <a:pPr algn="l">
              <a:lnSpc>
                <a:spcPct val="108000"/>
              </a:lnSpc>
              <a:spcAft>
                <a:spcPts val="0"/>
              </a:spcAft>
            </a:pPr>
            <a:r>
              <a:rPr sz="1200" b="0" i="0">
                <a:solidFill>
                  <a:srgbClr val="D9E2EC"/>
                </a:solidFill>
                <a:latin typeface="Consolas"/>
              </a:rPr>
              <a:t>band_cover_60       0.794</a:t>
            </a:r>
          </a:p>
          <a:p>
            <a:pPr algn="l">
              <a:lnSpc>
                <a:spcPct val="108000"/>
              </a:lnSpc>
              <a:spcAft>
                <a:spcPts val="0"/>
              </a:spcAft>
            </a:pPr>
            <a:r>
              <a:rPr sz="1200" b="1" i="0">
                <a:solidFill>
                  <a:srgbClr val="F2B266"/>
                </a:solidFill>
                <a:latin typeface="Consolas"/>
              </a:rPr>
              <a:t>$ node --test</a:t>
            </a:r>
            <a:r>
              <a:rPr sz="1200" b="0" i="0">
                <a:solidFill>
                  <a:srgbClr val="7F8C9A"/>
                </a:solidFill>
                <a:latin typeface="Consolas"/>
              </a:rPr>
              <a:t>  # model+data</a:t>
            </a:r>
          </a:p>
          <a:p>
            <a:pPr algn="l">
              <a:lnSpc>
                <a:spcPct val="108000"/>
              </a:lnSpc>
              <a:spcAft>
                <a:spcPts val="0"/>
              </a:spcAft>
            </a:pPr>
            <a:r>
              <a:rPr sz="1200" b="0" i="0">
                <a:solidFill>
                  <a:srgbClr val="D9E2EC"/>
                </a:solidFill>
                <a:latin typeface="Consolas"/>
              </a:rPr>
              <a:t>tests 118  pass 118  fail 0</a:t>
            </a:r>
          </a:p>
        </p:txBody>
      </p:sp>
      <p:sp>
        <p:nvSpPr>
          <p:cNvPr id="16" name="Rectangle 15"/>
          <p:cNvSpPr/>
          <p:nvPr/>
        </p:nvSpPr>
        <p:spPr>
          <a:xfrm>
            <a:off x="8183879" y="4178808"/>
            <a:ext cx="3456432" cy="2039112"/>
          </a:xfrm>
          <a:prstGeom prst="rect">
            <a:avLst/>
          </a:prstGeom>
          <a:solidFill>
            <a:srgbClr val="E6F4F1"/>
          </a:solidFill>
          <a:ln w="15875">
            <a:solidFill>
              <a:srgbClr val="1A8F7A"/>
            </a:solidFill>
          </a:ln>
        </p:spPr>
        <p:txBody>
          <a:bodyPr rtlCol="0" anchor="ctr"/>
          <a:lstStyle/>
          <a:p>
            <a:pPr algn="ctr"/>
          </a:p>
        </p:txBody>
      </p:sp>
      <p:sp>
        <p:nvSpPr>
          <p:cNvPr id="17" name="TextBox 16"/>
          <p:cNvSpPr txBox="1"/>
          <p:nvPr/>
        </p:nvSpPr>
        <p:spPr>
          <a:xfrm>
            <a:off x="8339327" y="4270248"/>
            <a:ext cx="3154680" cy="1874519"/>
          </a:xfrm>
          <a:prstGeom prst="rect">
            <a:avLst/>
          </a:prstGeom>
          <a:noFill/>
        </p:spPr>
        <p:txBody>
          <a:bodyPr wrap="square" lIns="0" rIns="0" tIns="0" bIns="0" anchor="t">
            <a:spAutoFit/>
          </a:bodyPr>
          <a:lstStyle/>
          <a:p>
            <a:pPr algn="l">
              <a:spcAft>
                <a:spcPts val="300"/>
              </a:spcAft>
            </a:pPr>
            <a:r>
              <a:rPr sz="1200" b="1" i="0">
                <a:solidFill>
                  <a:srgbClr val="1A8F7A"/>
                </a:solidFill>
                <a:latin typeface="Calibri"/>
              </a:rPr>
              <a:t>BUILT · habitual-meal anticipation</a:t>
            </a:r>
          </a:p>
          <a:p>
            <a:pPr algn="l">
              <a:spcAft>
                <a:spcPts val="600"/>
              </a:spcAft>
            </a:pPr>
            <a:r>
              <a:rPr sz="1250" b="0" i="0">
                <a:solidFill>
                  <a:srgbClr val="1F2D3D"/>
                </a:solidFill>
                <a:latin typeface="Calibri"/>
              </a:rPr>
              <a:t>Spike risk includes her usual next meal: 109 of 254 spikes warned 60+ min ahead (was 7 of 244), 33 a full 2 hours ahead.</a:t>
            </a:r>
          </a:p>
          <a:p>
            <a:pPr algn="l">
              <a:spcAft>
                <a:spcPts val="0"/>
              </a:spcAft>
            </a:pPr>
            <a:r>
              <a:rPr sz="1250" b="1" i="0">
                <a:solidFill>
                  <a:srgbClr val="1A8F7A"/>
                </a:solidFill>
                <a:latin typeface="Calibri"/>
              </a:rPr>
              <a:t>Then: </a:t>
            </a:r>
            <a:r>
              <a:rPr sz="1250" b="0" i="0">
                <a:solidFill>
                  <a:srgbClr val="1F2D3D"/>
                </a:solidFill>
                <a:latin typeface="Calibri"/>
              </a:rPr>
              <a:t>the LightGBM residual joins the live curve once the pilot review signs it off.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band"/>
          <p:cNvSpPr/>
          <p:nvPr/>
        </p:nvSpPr>
        <p:spPr>
          <a:xfrm>
            <a:off x="0" y="0"/>
            <a:ext cx="12191695" cy="82296"/>
          </a:xfrm>
          <a:prstGeom prst="rect">
            <a:avLst/>
          </a:prstGeom>
          <a:solidFill>
            <a:srgbClr val="1F3A5F"/>
          </a:solidFill>
          <a:ln>
            <a:noFill/>
          </a:ln>
        </p:spPr>
        <p:txBody>
          <a:bodyPr rtlCol="0" anchor="ctr"/>
          <a:lstStyle/>
          <a:p>
            <a:pPr algn="ctr"/>
          </a:p>
        </p:txBody>
      </p:sp>
      <p:sp>
        <p:nvSpPr>
          <p:cNvPr id="3" name="Top accent"/>
          <p:cNvSpPr/>
          <p:nvPr/>
        </p:nvSpPr>
        <p:spPr>
          <a:xfrm>
            <a:off x="0" y="82296"/>
            <a:ext cx="2011680" cy="45720"/>
          </a:xfrm>
          <a:prstGeom prst="rect">
            <a:avLst/>
          </a:prstGeom>
          <a:solidFill>
            <a:srgbClr val="E07B22"/>
          </a:solidFill>
          <a:ln>
            <a:noFill/>
          </a:ln>
        </p:spPr>
        <p:txBody>
          <a:bodyPr rtlCol="0" anchor="ctr"/>
          <a:lstStyle/>
          <a:p>
            <a:pPr algn="ctr"/>
          </a:p>
        </p:txBody>
      </p:sp>
      <p:sp>
        <p:nvSpPr>
          <p:cNvPr id="4" name="Kicker"/>
          <p:cNvSpPr txBox="1"/>
          <p:nvPr/>
        </p:nvSpPr>
        <p:spPr>
          <a:xfrm>
            <a:off x="548640" y="329184"/>
            <a:ext cx="11091672" cy="237744"/>
          </a:xfrm>
          <a:prstGeom prst="rect">
            <a:avLst/>
          </a:prstGeom>
          <a:noFill/>
        </p:spPr>
        <p:txBody>
          <a:bodyPr wrap="square" lIns="0" rIns="0" tIns="0" bIns="0" anchor="t">
            <a:spAutoFit/>
          </a:bodyPr>
          <a:lstStyle/>
          <a:p>
            <a:pPr algn="l">
              <a:spcAft>
                <a:spcPts val="0"/>
              </a:spcAft>
            </a:pPr>
            <a:r>
              <a:rPr sz="1200" b="1" i="0">
                <a:solidFill>
                  <a:srgbClr val="E07B22"/>
                </a:solidFill>
                <a:latin typeface="Calibri"/>
              </a:rPr>
              <a:t>5 · IMPACT ON REAL DATA</a:t>
            </a:r>
          </a:p>
        </p:txBody>
      </p:sp>
      <p:sp>
        <p:nvSpPr>
          <p:cNvPr id="5" name="Title"/>
          <p:cNvSpPr txBox="1"/>
          <p:nvPr/>
        </p:nvSpPr>
        <p:spPr>
          <a:xfrm>
            <a:off x="548640" y="566928"/>
            <a:ext cx="11091672" cy="566928"/>
          </a:xfrm>
          <a:prstGeom prst="rect">
            <a:avLst/>
          </a:prstGeom>
          <a:noFill/>
        </p:spPr>
        <p:txBody>
          <a:bodyPr wrap="square" lIns="0" rIns="0" tIns="0" bIns="0" anchor="t">
            <a:spAutoFit/>
          </a:bodyPr>
          <a:lstStyle/>
          <a:p>
            <a:pPr algn="l">
              <a:spcAft>
                <a:spcPts val="0"/>
              </a:spcAft>
            </a:pPr>
            <a:r>
              <a:rPr sz="3000" b="1" i="0">
                <a:solidFill>
                  <a:srgbClr val="1F3A5F"/>
                </a:solidFill>
                <a:latin typeface="Calibri"/>
              </a:rPr>
              <a:t>On 45 real adults, the twin beats the baseline where it matters</a:t>
            </a:r>
          </a:p>
        </p:txBody>
      </p:sp>
      <p:cxnSp>
        <p:nvCxnSpPr>
          <p:cNvPr id="6" name="Footer rule"/>
          <p:cNvCxnSpPr/>
          <p:nvPr/>
        </p:nvCxnSpPr>
        <p:spPr>
          <a:xfrm>
            <a:off x="548640" y="6382512"/>
            <a:ext cx="11091672" cy="0"/>
          </a:xfrm>
          <a:prstGeom prst="line">
            <a:avLst/>
          </a:prstGeom>
          <a:ln w="9525">
            <a:solidFill>
              <a:srgbClr val="C9D1DC"/>
            </a:solidFill>
          </a:ln>
        </p:spPr>
        <p:style>
          <a:lnRef idx="2">
            <a:schemeClr val="accent1"/>
          </a:lnRef>
          <a:fillRef idx="0">
            <a:schemeClr val="accent1"/>
          </a:fillRef>
          <a:effectRef idx="1">
            <a:schemeClr val="accent1"/>
          </a:effectRef>
          <a:fontRef idx="minor">
            <a:schemeClr val="tx1"/>
          </a:fontRef>
        </p:style>
      </p:cxnSp>
      <p:sp>
        <p:nvSpPr>
          <p:cNvPr id="7" name="Sources"/>
          <p:cNvSpPr txBox="1"/>
          <p:nvPr/>
        </p:nvSpPr>
        <p:spPr>
          <a:xfrm>
            <a:off x="548640" y="6428232"/>
            <a:ext cx="10634472" cy="365760"/>
          </a:xfrm>
          <a:prstGeom prst="rect">
            <a:avLst/>
          </a:prstGeom>
          <a:noFill/>
        </p:spPr>
        <p:txBody>
          <a:bodyPr wrap="square" lIns="0" rIns="0" tIns="0" bIns="0" anchor="t">
            <a:spAutoFit/>
          </a:bodyPr>
          <a:lstStyle/>
          <a:p>
            <a:pPr algn="l">
              <a:spcAft>
                <a:spcPts val="0"/>
              </a:spcAft>
            </a:pPr>
            <a:r>
              <a:rPr sz="900" b="0" i="0">
                <a:solidFill>
                  <a:srgbClr val="5B6675"/>
                </a:solidFill>
                <a:latin typeface="Calibri"/>
              </a:rPr>
              <a:t>CGMacros (PhysioNet, CC BY-NC-SA 4.0): 45 adults (15 healthy, 16 prediabetes, 14 Type 2). Knobs fit on days 1–4, band on days 5–6, test from day 7; ~11,100 forecasts per horizon. Ablation: leave-one-out ridge prior, 11,192 forecasts per arm.</a:t>
            </a:r>
          </a:p>
        </p:txBody>
      </p:sp>
      <p:sp>
        <p:nvSpPr>
          <p:cNvPr id="8" name="Page number"/>
          <p:cNvSpPr txBox="1"/>
          <p:nvPr/>
        </p:nvSpPr>
        <p:spPr>
          <a:xfrm>
            <a:off x="11274552" y="6446520"/>
            <a:ext cx="365760" cy="228600"/>
          </a:xfrm>
          <a:prstGeom prst="rect">
            <a:avLst/>
          </a:prstGeom>
          <a:noFill/>
        </p:spPr>
        <p:txBody>
          <a:bodyPr wrap="square" lIns="0" rIns="0" tIns="0" bIns="0" anchor="t">
            <a:spAutoFit/>
          </a:bodyPr>
          <a:lstStyle/>
          <a:p>
            <a:pPr algn="r">
              <a:spcAft>
                <a:spcPts val="0"/>
              </a:spcAft>
            </a:pPr>
            <a:r>
              <a:rPr sz="1100" b="1" i="0">
                <a:solidFill>
                  <a:srgbClr val="1F3A5F"/>
                </a:solidFill>
                <a:latin typeface="Calibri"/>
              </a:rPr>
              <a:t>5</a:t>
            </a:r>
          </a:p>
        </p:txBody>
      </p:sp>
      <p:sp>
        <p:nvSpPr>
          <p:cNvPr id="9" name="TextBox 8"/>
          <p:cNvSpPr txBox="1"/>
          <p:nvPr/>
        </p:nvSpPr>
        <p:spPr>
          <a:xfrm>
            <a:off x="548640" y="1298448"/>
            <a:ext cx="5760720" cy="237744"/>
          </a:xfrm>
          <a:prstGeom prst="rect">
            <a:avLst/>
          </a:prstGeom>
          <a:noFill/>
        </p:spPr>
        <p:txBody>
          <a:bodyPr wrap="square" lIns="0" rIns="0" tIns="0" bIns="0" anchor="t">
            <a:spAutoFit/>
          </a:bodyPr>
          <a:lstStyle/>
          <a:p>
            <a:pPr algn="l">
              <a:spcAft>
                <a:spcPts val="0"/>
              </a:spcAft>
            </a:pPr>
            <a:r>
              <a:rPr sz="1200" b="1" i="0">
                <a:solidFill>
                  <a:srgbClr val="5B6675"/>
                </a:solidFill>
                <a:latin typeface="Calibri"/>
              </a:rPr>
              <a:t>FORECAST ERROR, RMSE IN MG/DL (LOWER IS BETTER)</a:t>
            </a:r>
          </a:p>
        </p:txBody>
      </p:sp>
      <p:graphicFrame>
        <p:nvGraphicFramePr>
          <p:cNvPr id="10" name="Chart 9"/>
          <p:cNvGraphicFramePr>
            <a:graphicFrameLocks noGrp="1"/>
          </p:cNvGraphicFramePr>
          <p:nvPr/>
        </p:nvGraphicFramePr>
        <p:xfrm>
          <a:off x="548640" y="1572768"/>
          <a:ext cx="5852160" cy="3246120"/>
        </p:xfrm>
        <a:graphic>
          <a:graphicData uri="http://schemas.openxmlformats.org/drawingml/2006/chart">
            <c:chart xmlns:c="http://schemas.openxmlformats.org/drawingml/2006/chart" r:id="rId2"/>
          </a:graphicData>
        </a:graphic>
      </p:graphicFrame>
      <p:sp>
        <p:nvSpPr>
          <p:cNvPr id="11" name="TextBox 10"/>
          <p:cNvSpPr txBox="1"/>
          <p:nvPr/>
        </p:nvSpPr>
        <p:spPr>
          <a:xfrm>
            <a:off x="6675120" y="1298448"/>
            <a:ext cx="4937760" cy="237744"/>
          </a:xfrm>
          <a:prstGeom prst="rect">
            <a:avLst/>
          </a:prstGeom>
          <a:noFill/>
        </p:spPr>
        <p:txBody>
          <a:bodyPr wrap="square" lIns="0" rIns="0" tIns="0" bIns="0" anchor="t">
            <a:spAutoFit/>
          </a:bodyPr>
          <a:lstStyle/>
          <a:p>
            <a:pPr algn="l">
              <a:spcAft>
                <a:spcPts val="0"/>
              </a:spcAft>
            </a:pPr>
            <a:r>
              <a:rPr sz="1200" b="1" i="0">
                <a:solidFill>
                  <a:srgbClr val="5B6675"/>
                </a:solidFill>
                <a:latin typeface="Calibri"/>
              </a:rPr>
              <a:t>1-HOUR ERROR BY WHAT THE TWIN KNOWS AT START</a:t>
            </a:r>
          </a:p>
        </p:txBody>
      </p:sp>
      <p:graphicFrame>
        <p:nvGraphicFramePr>
          <p:cNvPr id="12" name="Chart 11"/>
          <p:cNvGraphicFramePr>
            <a:graphicFrameLocks noGrp="1"/>
          </p:cNvGraphicFramePr>
          <p:nvPr/>
        </p:nvGraphicFramePr>
        <p:xfrm>
          <a:off x="6675120" y="1600200"/>
          <a:ext cx="4965192" cy="3200400"/>
        </p:xfrm>
        <a:graphic>
          <a:graphicData uri="http://schemas.openxmlformats.org/drawingml/2006/chart">
            <c:chart xmlns:c="http://schemas.openxmlformats.org/drawingml/2006/chart" r:id="rId3"/>
          </a:graphicData>
        </a:graphic>
      </p:graphicFrame>
      <p:sp>
        <p:nvSpPr>
          <p:cNvPr id="13" name="Rectangle 12"/>
          <p:cNvSpPr/>
          <p:nvPr/>
        </p:nvSpPr>
        <p:spPr>
          <a:xfrm>
            <a:off x="548640" y="4983480"/>
            <a:ext cx="11091672" cy="1234440"/>
          </a:xfrm>
          <a:prstGeom prst="rect">
            <a:avLst/>
          </a:prstGeom>
          <a:solidFill>
            <a:srgbClr val="1F3A5F"/>
          </a:solidFill>
          <a:ln>
            <a:noFill/>
          </a:ln>
        </p:spPr>
        <p:txBody>
          <a:bodyPr rtlCol="0" anchor="ctr"/>
          <a:lstStyle/>
          <a:p>
            <a:pPr algn="ctr"/>
          </a:p>
        </p:txBody>
      </p:sp>
      <p:sp>
        <p:nvSpPr>
          <p:cNvPr id="14" name="TextBox 13"/>
          <p:cNvSpPr txBox="1"/>
          <p:nvPr/>
        </p:nvSpPr>
        <p:spPr>
          <a:xfrm>
            <a:off x="777240" y="5074920"/>
            <a:ext cx="2606040" cy="502920"/>
          </a:xfrm>
          <a:prstGeom prst="rect">
            <a:avLst/>
          </a:prstGeom>
          <a:noFill/>
        </p:spPr>
        <p:txBody>
          <a:bodyPr wrap="square" lIns="0" rIns="0" tIns="0" bIns="0" anchor="t">
            <a:spAutoFit/>
          </a:bodyPr>
          <a:lstStyle/>
          <a:p>
            <a:pPr algn="l">
              <a:spcAft>
                <a:spcPts val="0"/>
              </a:spcAft>
            </a:pPr>
            <a:r>
              <a:rPr sz="3000" b="1" i="0">
                <a:solidFill>
                  <a:srgbClr val="F2B266"/>
                </a:solidFill>
                <a:latin typeface="Calibri"/>
              </a:rPr>
              <a:t>18.3%</a:t>
            </a:r>
          </a:p>
        </p:txBody>
      </p:sp>
      <p:sp>
        <p:nvSpPr>
          <p:cNvPr id="15" name="TextBox 14"/>
          <p:cNvSpPr txBox="1"/>
          <p:nvPr/>
        </p:nvSpPr>
        <p:spPr>
          <a:xfrm>
            <a:off x="777240" y="5577840"/>
            <a:ext cx="2560320" cy="594360"/>
          </a:xfrm>
          <a:prstGeom prst="rect">
            <a:avLst/>
          </a:prstGeom>
          <a:noFill/>
        </p:spPr>
        <p:txBody>
          <a:bodyPr wrap="square" lIns="0" rIns="0" tIns="0" bIns="0" anchor="t">
            <a:spAutoFit/>
          </a:bodyPr>
          <a:lstStyle/>
          <a:p>
            <a:pPr algn="l">
              <a:spcAft>
                <a:spcPts val="0"/>
              </a:spcAft>
            </a:pPr>
            <a:r>
              <a:rPr sz="1200" b="0" i="0">
                <a:solidFill>
                  <a:srgbClr val="FFFFFF"/>
                </a:solidFill>
                <a:latin typeface="Calibri"/>
              </a:rPr>
              <a:t>lower 2-hour error than persistence (31.8 vs 38.9 mg/dL)</a:t>
            </a:r>
          </a:p>
        </p:txBody>
      </p:sp>
      <p:sp>
        <p:nvSpPr>
          <p:cNvPr id="16" name="TextBox 15"/>
          <p:cNvSpPr txBox="1"/>
          <p:nvPr/>
        </p:nvSpPr>
        <p:spPr>
          <a:xfrm>
            <a:off x="3547872" y="5074920"/>
            <a:ext cx="2606040" cy="502920"/>
          </a:xfrm>
          <a:prstGeom prst="rect">
            <a:avLst/>
          </a:prstGeom>
          <a:noFill/>
        </p:spPr>
        <p:txBody>
          <a:bodyPr wrap="square" lIns="0" rIns="0" tIns="0" bIns="0" anchor="t">
            <a:spAutoFit/>
          </a:bodyPr>
          <a:lstStyle/>
          <a:p>
            <a:pPr algn="l">
              <a:spcAft>
                <a:spcPts val="0"/>
              </a:spcAft>
            </a:pPr>
            <a:r>
              <a:rPr sz="3000" b="1" i="0">
                <a:solidFill>
                  <a:srgbClr val="F2B266"/>
                </a:solidFill>
                <a:latin typeface="Calibri"/>
              </a:rPr>
              <a:t>12%</a:t>
            </a:r>
          </a:p>
        </p:txBody>
      </p:sp>
      <p:sp>
        <p:nvSpPr>
          <p:cNvPr id="17" name="TextBox 16"/>
          <p:cNvSpPr txBox="1"/>
          <p:nvPr/>
        </p:nvSpPr>
        <p:spPr>
          <a:xfrm>
            <a:off x="3547872" y="5577840"/>
            <a:ext cx="2560320" cy="594360"/>
          </a:xfrm>
          <a:prstGeom prst="rect">
            <a:avLst/>
          </a:prstGeom>
          <a:noFill/>
        </p:spPr>
        <p:txBody>
          <a:bodyPr wrap="square" lIns="0" rIns="0" tIns="0" bIns="0" anchor="t">
            <a:spAutoFit/>
          </a:bodyPr>
          <a:lstStyle/>
          <a:p>
            <a:pPr algn="l">
              <a:spcAft>
                <a:spcPts val="0"/>
              </a:spcAft>
            </a:pPr>
            <a:r>
              <a:rPr sz="1200" b="0" i="0">
                <a:solidFill>
                  <a:srgbClr val="FFFFFF"/>
                </a:solidFill>
                <a:latin typeface="Calibri"/>
              </a:rPr>
              <a:t>lower 1-hour error when the record sets the prior (30.4 → 26.8)</a:t>
            </a:r>
          </a:p>
        </p:txBody>
      </p:sp>
      <p:sp>
        <p:nvSpPr>
          <p:cNvPr id="18" name="TextBox 17"/>
          <p:cNvSpPr txBox="1"/>
          <p:nvPr/>
        </p:nvSpPr>
        <p:spPr>
          <a:xfrm>
            <a:off x="6318503" y="5074920"/>
            <a:ext cx="2606040" cy="502920"/>
          </a:xfrm>
          <a:prstGeom prst="rect">
            <a:avLst/>
          </a:prstGeom>
          <a:noFill/>
        </p:spPr>
        <p:txBody>
          <a:bodyPr wrap="square" lIns="0" rIns="0" tIns="0" bIns="0" anchor="t">
            <a:spAutoFit/>
          </a:bodyPr>
          <a:lstStyle/>
          <a:p>
            <a:pPr algn="l">
              <a:spcAft>
                <a:spcPts val="0"/>
              </a:spcAft>
            </a:pPr>
            <a:r>
              <a:rPr sz="3000" b="1" i="0">
                <a:solidFill>
                  <a:srgbClr val="F2B266"/>
                </a:solidFill>
                <a:latin typeface="Calibri"/>
              </a:rPr>
              <a:t>99.8%</a:t>
            </a:r>
          </a:p>
        </p:txBody>
      </p:sp>
      <p:sp>
        <p:nvSpPr>
          <p:cNvPr id="19" name="TextBox 18"/>
          <p:cNvSpPr txBox="1"/>
          <p:nvPr/>
        </p:nvSpPr>
        <p:spPr>
          <a:xfrm>
            <a:off x="6318503" y="5577840"/>
            <a:ext cx="2560320" cy="594360"/>
          </a:xfrm>
          <a:prstGeom prst="rect">
            <a:avLst/>
          </a:prstGeom>
          <a:noFill/>
        </p:spPr>
        <p:txBody>
          <a:bodyPr wrap="square" lIns="0" rIns="0" tIns="0" bIns="0" anchor="t">
            <a:spAutoFit/>
          </a:bodyPr>
          <a:lstStyle/>
          <a:p>
            <a:pPr algn="l">
              <a:spcAft>
                <a:spcPts val="0"/>
              </a:spcAft>
            </a:pPr>
            <a:r>
              <a:rPr sz="1200" b="0" i="0">
                <a:solidFill>
                  <a:srgbClr val="FFFFFF"/>
                </a:solidFill>
                <a:latin typeface="Calibri"/>
              </a:rPr>
              <a:t>of 30-minute forecasts in Clarke error-grid zones A and B</a:t>
            </a:r>
          </a:p>
        </p:txBody>
      </p:sp>
      <p:sp>
        <p:nvSpPr>
          <p:cNvPr id="20" name="TextBox 19"/>
          <p:cNvSpPr txBox="1"/>
          <p:nvPr/>
        </p:nvSpPr>
        <p:spPr>
          <a:xfrm>
            <a:off x="9089136" y="5074920"/>
            <a:ext cx="2606040" cy="502920"/>
          </a:xfrm>
          <a:prstGeom prst="rect">
            <a:avLst/>
          </a:prstGeom>
          <a:noFill/>
        </p:spPr>
        <p:txBody>
          <a:bodyPr wrap="square" lIns="0" rIns="0" tIns="0" bIns="0" anchor="t">
            <a:spAutoFit/>
          </a:bodyPr>
          <a:lstStyle/>
          <a:p>
            <a:pPr algn="l">
              <a:spcAft>
                <a:spcPts val="0"/>
              </a:spcAft>
            </a:pPr>
            <a:r>
              <a:rPr sz="3000" b="1" i="0">
                <a:solidFill>
                  <a:srgbClr val="F2B266"/>
                </a:solidFill>
                <a:latin typeface="Calibri"/>
              </a:rPr>
              <a:t>8–10%</a:t>
            </a:r>
          </a:p>
        </p:txBody>
      </p:sp>
      <p:sp>
        <p:nvSpPr>
          <p:cNvPr id="21" name="TextBox 20"/>
          <p:cNvSpPr txBox="1"/>
          <p:nvPr/>
        </p:nvSpPr>
        <p:spPr>
          <a:xfrm>
            <a:off x="9089136" y="5577840"/>
            <a:ext cx="2560320" cy="594360"/>
          </a:xfrm>
          <a:prstGeom prst="rect">
            <a:avLst/>
          </a:prstGeom>
          <a:noFill/>
        </p:spPr>
        <p:txBody>
          <a:bodyPr wrap="square" lIns="0" rIns="0" tIns="0" bIns="0" anchor="t">
            <a:spAutoFit/>
          </a:bodyPr>
          <a:lstStyle/>
          <a:p>
            <a:pPr algn="l">
              <a:spcAft>
                <a:spcPts val="0"/>
              </a:spcAft>
            </a:pPr>
            <a:r>
              <a:rPr sz="1200" b="0" i="0">
                <a:solidFill>
                  <a:srgbClr val="FFFFFF"/>
                </a:solidFill>
                <a:latin typeface="Calibri"/>
              </a:rPr>
              <a:t>lower 1-hour error in every group: Type 2, prediabetes, healthy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band"/>
          <p:cNvSpPr/>
          <p:nvPr/>
        </p:nvSpPr>
        <p:spPr>
          <a:xfrm>
            <a:off x="0" y="0"/>
            <a:ext cx="12191695" cy="82296"/>
          </a:xfrm>
          <a:prstGeom prst="rect">
            <a:avLst/>
          </a:prstGeom>
          <a:solidFill>
            <a:srgbClr val="1F3A5F"/>
          </a:solidFill>
          <a:ln>
            <a:noFill/>
          </a:ln>
        </p:spPr>
        <p:txBody>
          <a:bodyPr rtlCol="0" anchor="ctr"/>
          <a:lstStyle/>
          <a:p>
            <a:pPr algn="ctr"/>
          </a:p>
        </p:txBody>
      </p:sp>
      <p:sp>
        <p:nvSpPr>
          <p:cNvPr id="3" name="Top accent"/>
          <p:cNvSpPr/>
          <p:nvPr/>
        </p:nvSpPr>
        <p:spPr>
          <a:xfrm>
            <a:off x="0" y="82296"/>
            <a:ext cx="2011680" cy="45720"/>
          </a:xfrm>
          <a:prstGeom prst="rect">
            <a:avLst/>
          </a:prstGeom>
          <a:solidFill>
            <a:srgbClr val="E07B22"/>
          </a:solidFill>
          <a:ln>
            <a:noFill/>
          </a:ln>
        </p:spPr>
        <p:txBody>
          <a:bodyPr rtlCol="0" anchor="ctr"/>
          <a:lstStyle/>
          <a:p>
            <a:pPr algn="ctr"/>
          </a:p>
        </p:txBody>
      </p:sp>
      <p:sp>
        <p:nvSpPr>
          <p:cNvPr id="4" name="Kicker"/>
          <p:cNvSpPr txBox="1"/>
          <p:nvPr/>
        </p:nvSpPr>
        <p:spPr>
          <a:xfrm>
            <a:off x="548640" y="329184"/>
            <a:ext cx="11091672" cy="237744"/>
          </a:xfrm>
          <a:prstGeom prst="rect">
            <a:avLst/>
          </a:prstGeom>
          <a:noFill/>
        </p:spPr>
        <p:txBody>
          <a:bodyPr wrap="square" lIns="0" rIns="0" tIns="0" bIns="0" anchor="t">
            <a:spAutoFit/>
          </a:bodyPr>
          <a:lstStyle/>
          <a:p>
            <a:pPr algn="l">
              <a:spcAft>
                <a:spcPts val="0"/>
              </a:spcAft>
            </a:pPr>
            <a:r>
              <a:rPr sz="1200" b="1" i="0">
                <a:solidFill>
                  <a:srgbClr val="E07B22"/>
                </a:solidFill>
                <a:latin typeface="Calibri"/>
              </a:rPr>
              <a:t>6 · IMPACT FOR PATIENT AND DOCTOR</a:t>
            </a:r>
          </a:p>
        </p:txBody>
      </p:sp>
      <p:sp>
        <p:nvSpPr>
          <p:cNvPr id="5" name="Title"/>
          <p:cNvSpPr txBox="1"/>
          <p:nvPr/>
        </p:nvSpPr>
        <p:spPr>
          <a:xfrm>
            <a:off x="548640" y="566928"/>
            <a:ext cx="11091672" cy="566928"/>
          </a:xfrm>
          <a:prstGeom prst="rect">
            <a:avLst/>
          </a:prstGeom>
          <a:noFill/>
        </p:spPr>
        <p:txBody>
          <a:bodyPr wrap="square" lIns="0" rIns="0" tIns="0" bIns="0" anchor="t">
            <a:spAutoFit/>
          </a:bodyPr>
          <a:lstStyle/>
          <a:p>
            <a:pPr algn="l">
              <a:spcAft>
                <a:spcPts val="0"/>
              </a:spcAft>
            </a:pPr>
            <a:r>
              <a:rPr sz="3000" b="1" i="0">
                <a:solidFill>
                  <a:srgbClr val="1F3A5F"/>
                </a:solidFill>
                <a:latin typeface="Calibri"/>
              </a:rPr>
              <a:t>Warnings arrive early, and plans are personal</a:t>
            </a:r>
          </a:p>
        </p:txBody>
      </p:sp>
      <p:cxnSp>
        <p:nvCxnSpPr>
          <p:cNvPr id="6" name="Footer rule"/>
          <p:cNvCxnSpPr/>
          <p:nvPr/>
        </p:nvCxnSpPr>
        <p:spPr>
          <a:xfrm>
            <a:off x="548640" y="6382512"/>
            <a:ext cx="11091672" cy="0"/>
          </a:xfrm>
          <a:prstGeom prst="line">
            <a:avLst/>
          </a:prstGeom>
          <a:ln w="9525">
            <a:solidFill>
              <a:srgbClr val="C9D1DC"/>
            </a:solidFill>
          </a:ln>
        </p:spPr>
        <p:style>
          <a:lnRef idx="2">
            <a:schemeClr val="accent1"/>
          </a:lnRef>
          <a:fillRef idx="0">
            <a:schemeClr val="accent1"/>
          </a:fillRef>
          <a:effectRef idx="1">
            <a:schemeClr val="accent1"/>
          </a:effectRef>
          <a:fontRef idx="minor">
            <a:schemeClr val="tx1"/>
          </a:fontRef>
        </p:style>
      </p:cxnSp>
      <p:sp>
        <p:nvSpPr>
          <p:cNvPr id="7" name="Sources"/>
          <p:cNvSpPr txBox="1"/>
          <p:nvPr/>
        </p:nvSpPr>
        <p:spPr>
          <a:xfrm>
            <a:off x="548640" y="6428232"/>
            <a:ext cx="10634472" cy="365760"/>
          </a:xfrm>
          <a:prstGeom prst="rect">
            <a:avLst/>
          </a:prstGeom>
          <a:noFill/>
        </p:spPr>
        <p:txBody>
          <a:bodyPr wrap="square" lIns="0" rIns="0" tIns="0" bIns="0" anchor="t">
            <a:spAutoFit/>
          </a:bodyPr>
          <a:lstStyle/>
          <a:p>
            <a:pPr algn="l">
              <a:spcAft>
                <a:spcPts val="0"/>
              </a:spcAft>
            </a:pPr>
            <a:r>
              <a:rPr sz="900" b="0" i="0">
                <a:solidFill>
                  <a:srgbClr val="5B6675"/>
                </a:solidFill>
                <a:latin typeface="Calibri"/>
              </a:rPr>
              <a:t>Alert figures: simulated stress test (generator differs from the twin), 11 patients, 254 spikes, Wilson 95% CIs. Plan figures: simulated ward, days 10–16, time in range 70–180 mg/dL. Battelino et al., Diabetes Care 2019; Vigersky &amp; McMahon, Diabetes Technol Ther 2019.</a:t>
            </a:r>
          </a:p>
        </p:txBody>
      </p:sp>
      <p:sp>
        <p:nvSpPr>
          <p:cNvPr id="8" name="Page number"/>
          <p:cNvSpPr txBox="1"/>
          <p:nvPr/>
        </p:nvSpPr>
        <p:spPr>
          <a:xfrm>
            <a:off x="11274552" y="6446520"/>
            <a:ext cx="365760" cy="228600"/>
          </a:xfrm>
          <a:prstGeom prst="rect">
            <a:avLst/>
          </a:prstGeom>
          <a:noFill/>
        </p:spPr>
        <p:txBody>
          <a:bodyPr wrap="square" lIns="0" rIns="0" tIns="0" bIns="0" anchor="t">
            <a:spAutoFit/>
          </a:bodyPr>
          <a:lstStyle/>
          <a:p>
            <a:pPr algn="r">
              <a:spcAft>
                <a:spcPts val="0"/>
              </a:spcAft>
            </a:pPr>
            <a:r>
              <a:rPr sz="1100" b="1" i="0">
                <a:solidFill>
                  <a:srgbClr val="1F3A5F"/>
                </a:solidFill>
                <a:latin typeface="Calibri"/>
              </a:rPr>
              <a:t>6</a:t>
            </a:r>
          </a:p>
        </p:txBody>
      </p:sp>
      <p:sp>
        <p:nvSpPr>
          <p:cNvPr id="9" name="TextBox 8"/>
          <p:cNvSpPr txBox="1"/>
          <p:nvPr/>
        </p:nvSpPr>
        <p:spPr>
          <a:xfrm>
            <a:off x="548640" y="1298448"/>
            <a:ext cx="5669280" cy="237744"/>
          </a:xfrm>
          <a:prstGeom prst="rect">
            <a:avLst/>
          </a:prstGeom>
          <a:noFill/>
        </p:spPr>
        <p:txBody>
          <a:bodyPr wrap="square" lIns="0" rIns="0" tIns="0" bIns="0" anchor="t">
            <a:spAutoFit/>
          </a:bodyPr>
          <a:lstStyle/>
          <a:p>
            <a:pPr algn="l">
              <a:spcAft>
                <a:spcPts val="0"/>
              </a:spcAft>
            </a:pPr>
            <a:r>
              <a:rPr sz="1200" b="1" i="0">
                <a:solidFill>
                  <a:srgbClr val="5B6675"/>
                </a:solidFill>
                <a:latin typeface="Calibri"/>
              </a:rPr>
              <a:t>SPIKE ALERTS ON THE STRESS TEST</a:t>
            </a:r>
          </a:p>
        </p:txBody>
      </p:sp>
      <p:sp>
        <p:nvSpPr>
          <p:cNvPr id="10" name="Rectangle 9"/>
          <p:cNvSpPr/>
          <p:nvPr/>
        </p:nvSpPr>
        <p:spPr>
          <a:xfrm>
            <a:off x="548640" y="1600200"/>
            <a:ext cx="2724912" cy="1353312"/>
          </a:xfrm>
          <a:prstGeom prst="rect">
            <a:avLst/>
          </a:prstGeom>
          <a:solidFill>
            <a:srgbClr val="F3F5F9"/>
          </a:solidFill>
          <a:ln>
            <a:noFill/>
          </a:ln>
        </p:spPr>
        <p:txBody>
          <a:bodyPr rtlCol="0" anchor="ctr"/>
          <a:lstStyle/>
          <a:p>
            <a:pPr algn="ctr"/>
          </a:p>
        </p:txBody>
      </p:sp>
      <p:sp>
        <p:nvSpPr>
          <p:cNvPr id="11" name="Rectangle 10"/>
          <p:cNvSpPr/>
          <p:nvPr/>
        </p:nvSpPr>
        <p:spPr>
          <a:xfrm>
            <a:off x="548640" y="1600200"/>
            <a:ext cx="64008" cy="1353312"/>
          </a:xfrm>
          <a:prstGeom prst="rect">
            <a:avLst/>
          </a:prstGeom>
          <a:solidFill>
            <a:srgbClr val="1A8F7A"/>
          </a:solidFill>
          <a:ln>
            <a:noFill/>
          </a:ln>
        </p:spPr>
        <p:txBody>
          <a:bodyPr rtlCol="0" anchor="ctr"/>
          <a:lstStyle/>
          <a:p>
            <a:pPr algn="ctr"/>
          </a:p>
        </p:txBody>
      </p:sp>
      <p:sp>
        <p:nvSpPr>
          <p:cNvPr id="12" name="TextBox 11"/>
          <p:cNvSpPr txBox="1"/>
          <p:nvPr/>
        </p:nvSpPr>
        <p:spPr>
          <a:xfrm>
            <a:off x="777240" y="1709928"/>
            <a:ext cx="2377440" cy="566928"/>
          </a:xfrm>
          <a:prstGeom prst="rect">
            <a:avLst/>
          </a:prstGeom>
          <a:noFill/>
        </p:spPr>
        <p:txBody>
          <a:bodyPr wrap="square" lIns="0" rIns="0" tIns="0" bIns="0" anchor="t">
            <a:spAutoFit/>
          </a:bodyPr>
          <a:lstStyle/>
          <a:p>
            <a:pPr algn="l">
              <a:spcAft>
                <a:spcPts val="0"/>
              </a:spcAft>
            </a:pPr>
            <a:r>
              <a:rPr sz="3400" b="1" i="0">
                <a:solidFill>
                  <a:srgbClr val="1A8F7A"/>
                </a:solidFill>
                <a:latin typeface="Calibri"/>
              </a:rPr>
              <a:t>61.0%</a:t>
            </a:r>
          </a:p>
        </p:txBody>
      </p:sp>
      <p:sp>
        <p:nvSpPr>
          <p:cNvPr id="13" name="TextBox 12"/>
          <p:cNvSpPr txBox="1"/>
          <p:nvPr/>
        </p:nvSpPr>
        <p:spPr>
          <a:xfrm>
            <a:off x="777240" y="2331720"/>
            <a:ext cx="2377440" cy="566928"/>
          </a:xfrm>
          <a:prstGeom prst="rect">
            <a:avLst/>
          </a:prstGeom>
          <a:noFill/>
        </p:spPr>
        <p:txBody>
          <a:bodyPr wrap="square" lIns="0" rIns="0" tIns="0" bIns="0" anchor="t">
            <a:spAutoFit/>
          </a:bodyPr>
          <a:lstStyle/>
          <a:p>
            <a:pPr algn="l">
              <a:spcAft>
                <a:spcPts val="0"/>
              </a:spcAft>
            </a:pPr>
            <a:r>
              <a:rPr sz="1250" b="0" i="0">
                <a:solidFill>
                  <a:srgbClr val="1F2D3D"/>
                </a:solidFill>
                <a:latin typeface="Calibri"/>
              </a:rPr>
              <a:t>of spikes warned (95% CI 54.9–66.8%)</a:t>
            </a:r>
          </a:p>
        </p:txBody>
      </p:sp>
      <p:sp>
        <p:nvSpPr>
          <p:cNvPr id="14" name="Rectangle 13"/>
          <p:cNvSpPr/>
          <p:nvPr/>
        </p:nvSpPr>
        <p:spPr>
          <a:xfrm>
            <a:off x="3401568" y="1600200"/>
            <a:ext cx="2724912" cy="1353312"/>
          </a:xfrm>
          <a:prstGeom prst="rect">
            <a:avLst/>
          </a:prstGeom>
          <a:solidFill>
            <a:srgbClr val="F3F5F9"/>
          </a:solidFill>
          <a:ln>
            <a:noFill/>
          </a:ln>
        </p:spPr>
        <p:txBody>
          <a:bodyPr rtlCol="0" anchor="ctr"/>
          <a:lstStyle/>
          <a:p>
            <a:pPr algn="ctr"/>
          </a:p>
        </p:txBody>
      </p:sp>
      <p:sp>
        <p:nvSpPr>
          <p:cNvPr id="15" name="Rectangle 14"/>
          <p:cNvSpPr/>
          <p:nvPr/>
        </p:nvSpPr>
        <p:spPr>
          <a:xfrm>
            <a:off x="3401568" y="1600200"/>
            <a:ext cx="64008" cy="1353312"/>
          </a:xfrm>
          <a:prstGeom prst="rect">
            <a:avLst/>
          </a:prstGeom>
          <a:solidFill>
            <a:srgbClr val="1A8F7A"/>
          </a:solidFill>
          <a:ln>
            <a:noFill/>
          </a:ln>
        </p:spPr>
        <p:txBody>
          <a:bodyPr rtlCol="0" anchor="ctr"/>
          <a:lstStyle/>
          <a:p>
            <a:pPr algn="ctr"/>
          </a:p>
        </p:txBody>
      </p:sp>
      <p:sp>
        <p:nvSpPr>
          <p:cNvPr id="16" name="TextBox 15"/>
          <p:cNvSpPr txBox="1"/>
          <p:nvPr/>
        </p:nvSpPr>
        <p:spPr>
          <a:xfrm>
            <a:off x="3630168" y="1709928"/>
            <a:ext cx="2377440" cy="566928"/>
          </a:xfrm>
          <a:prstGeom prst="rect">
            <a:avLst/>
          </a:prstGeom>
          <a:noFill/>
        </p:spPr>
        <p:txBody>
          <a:bodyPr wrap="square" lIns="0" rIns="0" tIns="0" bIns="0" anchor="t">
            <a:spAutoFit/>
          </a:bodyPr>
          <a:lstStyle/>
          <a:p>
            <a:pPr algn="l">
              <a:spcAft>
                <a:spcPts val="0"/>
              </a:spcAft>
            </a:pPr>
            <a:r>
              <a:rPr sz="3400" b="1" i="0">
                <a:solidFill>
                  <a:srgbClr val="1A8F7A"/>
                </a:solidFill>
                <a:latin typeface="Calibri"/>
              </a:rPr>
              <a:t>66.9%</a:t>
            </a:r>
          </a:p>
        </p:txBody>
      </p:sp>
      <p:sp>
        <p:nvSpPr>
          <p:cNvPr id="17" name="TextBox 16"/>
          <p:cNvSpPr txBox="1"/>
          <p:nvPr/>
        </p:nvSpPr>
        <p:spPr>
          <a:xfrm>
            <a:off x="3630168" y="2331720"/>
            <a:ext cx="2377440" cy="566928"/>
          </a:xfrm>
          <a:prstGeom prst="rect">
            <a:avLst/>
          </a:prstGeom>
          <a:noFill/>
        </p:spPr>
        <p:txBody>
          <a:bodyPr wrap="square" lIns="0" rIns="0" tIns="0" bIns="0" anchor="t">
            <a:spAutoFit/>
          </a:bodyPr>
          <a:lstStyle/>
          <a:p>
            <a:pPr algn="l">
              <a:spcAft>
                <a:spcPts val="0"/>
              </a:spcAft>
            </a:pPr>
            <a:r>
              <a:rPr sz="1250" b="0" i="0">
                <a:solidFill>
                  <a:srgbClr val="1F2D3D"/>
                </a:solidFill>
                <a:latin typeface="Calibri"/>
              </a:rPr>
              <a:t>of spike alerts were right (95% CI 61.4–72.0%)</a:t>
            </a:r>
          </a:p>
        </p:txBody>
      </p:sp>
      <p:sp>
        <p:nvSpPr>
          <p:cNvPr id="18" name="Rectangle 17"/>
          <p:cNvSpPr/>
          <p:nvPr/>
        </p:nvSpPr>
        <p:spPr>
          <a:xfrm>
            <a:off x="548640" y="3081528"/>
            <a:ext cx="2724912" cy="1353312"/>
          </a:xfrm>
          <a:prstGeom prst="rect">
            <a:avLst/>
          </a:prstGeom>
          <a:solidFill>
            <a:srgbClr val="F3F5F9"/>
          </a:solidFill>
          <a:ln>
            <a:noFill/>
          </a:ln>
        </p:spPr>
        <p:txBody>
          <a:bodyPr rtlCol="0" anchor="ctr"/>
          <a:lstStyle/>
          <a:p>
            <a:pPr algn="ctr"/>
          </a:p>
        </p:txBody>
      </p:sp>
      <p:sp>
        <p:nvSpPr>
          <p:cNvPr id="19" name="Rectangle 18"/>
          <p:cNvSpPr/>
          <p:nvPr/>
        </p:nvSpPr>
        <p:spPr>
          <a:xfrm>
            <a:off x="548640" y="3081528"/>
            <a:ext cx="64008" cy="1353312"/>
          </a:xfrm>
          <a:prstGeom prst="rect">
            <a:avLst/>
          </a:prstGeom>
          <a:solidFill>
            <a:srgbClr val="1F3A5F"/>
          </a:solidFill>
          <a:ln>
            <a:noFill/>
          </a:ln>
        </p:spPr>
        <p:txBody>
          <a:bodyPr rtlCol="0" anchor="ctr"/>
          <a:lstStyle/>
          <a:p>
            <a:pPr algn="ctr"/>
          </a:p>
        </p:txBody>
      </p:sp>
      <p:sp>
        <p:nvSpPr>
          <p:cNvPr id="20" name="TextBox 19"/>
          <p:cNvSpPr txBox="1"/>
          <p:nvPr/>
        </p:nvSpPr>
        <p:spPr>
          <a:xfrm>
            <a:off x="777240" y="3191256"/>
            <a:ext cx="2377440" cy="566928"/>
          </a:xfrm>
          <a:prstGeom prst="rect">
            <a:avLst/>
          </a:prstGeom>
          <a:noFill/>
        </p:spPr>
        <p:txBody>
          <a:bodyPr wrap="square" lIns="0" rIns="0" tIns="0" bIns="0" anchor="t">
            <a:spAutoFit/>
          </a:bodyPr>
          <a:lstStyle/>
          <a:p>
            <a:pPr algn="l">
              <a:spcAft>
                <a:spcPts val="0"/>
              </a:spcAft>
            </a:pPr>
            <a:r>
              <a:rPr sz="3400" b="1" i="0">
                <a:solidFill>
                  <a:srgbClr val="1F3A5F"/>
                </a:solidFill>
                <a:latin typeface="Calibri"/>
              </a:rPr>
              <a:t>105 min</a:t>
            </a:r>
          </a:p>
        </p:txBody>
      </p:sp>
      <p:sp>
        <p:nvSpPr>
          <p:cNvPr id="21" name="TextBox 20"/>
          <p:cNvSpPr txBox="1"/>
          <p:nvPr/>
        </p:nvSpPr>
        <p:spPr>
          <a:xfrm>
            <a:off x="777240" y="3813048"/>
            <a:ext cx="2377440" cy="566928"/>
          </a:xfrm>
          <a:prstGeom prst="rect">
            <a:avLst/>
          </a:prstGeom>
          <a:noFill/>
        </p:spPr>
        <p:txBody>
          <a:bodyPr wrap="square" lIns="0" rIns="0" tIns="0" bIns="0" anchor="t">
            <a:spAutoFit/>
          </a:bodyPr>
          <a:lstStyle/>
          <a:p>
            <a:pPr algn="l">
              <a:spcAft>
                <a:spcPts val="0"/>
              </a:spcAft>
            </a:pPr>
            <a:r>
              <a:rPr sz="1250" b="0" i="0">
                <a:solidFill>
                  <a:srgbClr val="1F2D3D"/>
                </a:solidFill>
                <a:latin typeface="Calibri"/>
              </a:rPr>
              <a:t>median warning before the spike (IQR 50–115)</a:t>
            </a:r>
          </a:p>
        </p:txBody>
      </p:sp>
      <p:sp>
        <p:nvSpPr>
          <p:cNvPr id="22" name="Rectangle 21"/>
          <p:cNvSpPr/>
          <p:nvPr/>
        </p:nvSpPr>
        <p:spPr>
          <a:xfrm>
            <a:off x="3401568" y="3081528"/>
            <a:ext cx="2724912" cy="1353312"/>
          </a:xfrm>
          <a:prstGeom prst="rect">
            <a:avLst/>
          </a:prstGeom>
          <a:solidFill>
            <a:srgbClr val="F3F5F9"/>
          </a:solidFill>
          <a:ln>
            <a:noFill/>
          </a:ln>
        </p:spPr>
        <p:txBody>
          <a:bodyPr rtlCol="0" anchor="ctr"/>
          <a:lstStyle/>
          <a:p>
            <a:pPr algn="ctr"/>
          </a:p>
        </p:txBody>
      </p:sp>
      <p:sp>
        <p:nvSpPr>
          <p:cNvPr id="23" name="Rectangle 22"/>
          <p:cNvSpPr/>
          <p:nvPr/>
        </p:nvSpPr>
        <p:spPr>
          <a:xfrm>
            <a:off x="3401568" y="3081528"/>
            <a:ext cx="64008" cy="1353312"/>
          </a:xfrm>
          <a:prstGeom prst="rect">
            <a:avLst/>
          </a:prstGeom>
          <a:solidFill>
            <a:srgbClr val="1F3A5F"/>
          </a:solidFill>
          <a:ln>
            <a:noFill/>
          </a:ln>
        </p:spPr>
        <p:txBody>
          <a:bodyPr rtlCol="0" anchor="ctr"/>
          <a:lstStyle/>
          <a:p>
            <a:pPr algn="ctr"/>
          </a:p>
        </p:txBody>
      </p:sp>
      <p:sp>
        <p:nvSpPr>
          <p:cNvPr id="24" name="TextBox 23"/>
          <p:cNvSpPr txBox="1"/>
          <p:nvPr/>
        </p:nvSpPr>
        <p:spPr>
          <a:xfrm>
            <a:off x="3630168" y="3191256"/>
            <a:ext cx="2377440" cy="566928"/>
          </a:xfrm>
          <a:prstGeom prst="rect">
            <a:avLst/>
          </a:prstGeom>
          <a:noFill/>
        </p:spPr>
        <p:txBody>
          <a:bodyPr wrap="square" lIns="0" rIns="0" tIns="0" bIns="0" anchor="t">
            <a:spAutoFit/>
          </a:bodyPr>
          <a:lstStyle/>
          <a:p>
            <a:pPr algn="l">
              <a:spcAft>
                <a:spcPts val="0"/>
              </a:spcAft>
            </a:pPr>
            <a:r>
              <a:rPr sz="3400" b="1" i="0">
                <a:solidFill>
                  <a:srgbClr val="1F3A5F"/>
                </a:solidFill>
                <a:latin typeface="Calibri"/>
              </a:rPr>
              <a:t>0.75</a:t>
            </a:r>
          </a:p>
        </p:txBody>
      </p:sp>
      <p:sp>
        <p:nvSpPr>
          <p:cNvPr id="25" name="TextBox 24"/>
          <p:cNvSpPr txBox="1"/>
          <p:nvPr/>
        </p:nvSpPr>
        <p:spPr>
          <a:xfrm>
            <a:off x="3630168" y="3813048"/>
            <a:ext cx="2377440" cy="566928"/>
          </a:xfrm>
          <a:prstGeom prst="rect">
            <a:avLst/>
          </a:prstGeom>
          <a:noFill/>
        </p:spPr>
        <p:txBody>
          <a:bodyPr wrap="square" lIns="0" rIns="0" tIns="0" bIns="0" anchor="t">
            <a:spAutoFit/>
          </a:bodyPr>
          <a:lstStyle/>
          <a:p>
            <a:pPr algn="l">
              <a:spcAft>
                <a:spcPts val="0"/>
              </a:spcAft>
            </a:pPr>
            <a:r>
              <a:rPr sz="1250" b="0" i="0">
                <a:solidFill>
                  <a:srgbClr val="1F2D3D"/>
                </a:solidFill>
                <a:latin typeface="Calibri"/>
              </a:rPr>
              <a:t>false alerts per patient-day</a:t>
            </a:r>
          </a:p>
        </p:txBody>
      </p:sp>
      <p:sp>
        <p:nvSpPr>
          <p:cNvPr id="26" name="TextBox 25"/>
          <p:cNvSpPr txBox="1"/>
          <p:nvPr/>
        </p:nvSpPr>
        <p:spPr>
          <a:xfrm>
            <a:off x="548640" y="4617720"/>
            <a:ext cx="5577840" cy="365760"/>
          </a:xfrm>
          <a:prstGeom prst="rect">
            <a:avLst/>
          </a:prstGeom>
          <a:noFill/>
        </p:spPr>
        <p:txBody>
          <a:bodyPr wrap="square" lIns="0" rIns="0" tIns="0" bIns="0" anchor="t">
            <a:spAutoFit/>
          </a:bodyPr>
          <a:lstStyle/>
          <a:p>
            <a:pPr algn="l">
              <a:spcAft>
                <a:spcPts val="0"/>
              </a:spcAft>
            </a:pPr>
            <a:r>
              <a:rPr sz="1300" b="0" i="0">
                <a:solidFill>
                  <a:srgbClr val="1F2D3D"/>
                </a:solidFill>
                <a:latin typeface="Calibri"/>
              </a:rPr>
              <a:t>Only Urgent alerts interrupt, and </a:t>
            </a:r>
            <a:r>
              <a:rPr sz="1300" b="1" i="0">
                <a:solidFill>
                  <a:srgbClr val="1A8F7A"/>
                </a:solidFill>
                <a:latin typeface="Calibri"/>
              </a:rPr>
              <a:t>83.5%</a:t>
            </a:r>
            <a:r>
              <a:rPr sz="1300" b="0" i="0">
                <a:solidFill>
                  <a:srgbClr val="1F2D3D"/>
                </a:solidFill>
                <a:latin typeface="Calibri"/>
              </a:rPr>
              <a:t> of them were right. A Watch is upgraded to Urgent if the curve gets worse.</a:t>
            </a:r>
          </a:p>
        </p:txBody>
      </p:sp>
      <p:sp>
        <p:nvSpPr>
          <p:cNvPr id="27" name="TextBox 26"/>
          <p:cNvSpPr txBox="1"/>
          <p:nvPr/>
        </p:nvSpPr>
        <p:spPr>
          <a:xfrm>
            <a:off x="6537960" y="1298448"/>
            <a:ext cx="5120640" cy="237744"/>
          </a:xfrm>
          <a:prstGeom prst="rect">
            <a:avLst/>
          </a:prstGeom>
          <a:noFill/>
        </p:spPr>
        <p:txBody>
          <a:bodyPr wrap="square" lIns="0" rIns="0" tIns="0" bIns="0" anchor="t">
            <a:spAutoFit/>
          </a:bodyPr>
          <a:lstStyle/>
          <a:p>
            <a:pPr algn="l">
              <a:spcAft>
                <a:spcPts val="0"/>
              </a:spcAft>
            </a:pPr>
            <a:r>
              <a:rPr sz="1200" b="1" i="0">
                <a:solidFill>
                  <a:srgbClr val="5B6675"/>
                </a:solidFill>
                <a:latin typeface="Calibri"/>
              </a:rPr>
              <a:t>SAME PLAN, DIFFERENT TWINS: SPLIT LUNCH, CHANGE IN TIME IN RANGE (PTS)</a:t>
            </a:r>
          </a:p>
        </p:txBody>
      </p:sp>
      <p:graphicFrame>
        <p:nvGraphicFramePr>
          <p:cNvPr id="28" name="Chart 27"/>
          <p:cNvGraphicFramePr>
            <a:graphicFrameLocks noGrp="1"/>
          </p:cNvGraphicFramePr>
          <p:nvPr/>
        </p:nvGraphicFramePr>
        <p:xfrm>
          <a:off x="6537960" y="1600200"/>
          <a:ext cx="5102352" cy="2651760"/>
        </p:xfrm>
        <a:graphic>
          <a:graphicData uri="http://schemas.openxmlformats.org/drawingml/2006/chart">
            <c:chart xmlns:c="http://schemas.openxmlformats.org/drawingml/2006/chart" r:id="rId2"/>
          </a:graphicData>
        </a:graphic>
      </p:graphicFrame>
      <p:sp>
        <p:nvSpPr>
          <p:cNvPr id="29" name="TextBox 28"/>
          <p:cNvSpPr txBox="1"/>
          <p:nvPr/>
        </p:nvSpPr>
        <p:spPr>
          <a:xfrm>
            <a:off x="6537960" y="4315968"/>
            <a:ext cx="5102352" cy="548640"/>
          </a:xfrm>
          <a:prstGeom prst="rect">
            <a:avLst/>
          </a:prstGeom>
          <a:noFill/>
        </p:spPr>
        <p:txBody>
          <a:bodyPr wrap="square" lIns="0" rIns="0" tIns="0" bIns="0" anchor="t">
            <a:spAutoFit/>
          </a:bodyPr>
          <a:lstStyle/>
          <a:p>
            <a:pPr algn="l">
              <a:spcAft>
                <a:spcPts val="0"/>
              </a:spcAft>
            </a:pPr>
            <a:r>
              <a:rPr sz="1250" b="0" i="0">
                <a:solidFill>
                  <a:srgbClr val="1F2D3D"/>
                </a:solidFill>
                <a:latin typeface="Calibri"/>
              </a:rPr>
              <a:t>It helps 4 of 8 Type 2 twins and hurts the other 4: a one-size rule would be wrong for half. Lifestyle plans only, never a dose.</a:t>
            </a:r>
          </a:p>
        </p:txBody>
      </p:sp>
      <p:sp>
        <p:nvSpPr>
          <p:cNvPr id="30" name="Rectangle 29"/>
          <p:cNvSpPr/>
          <p:nvPr/>
        </p:nvSpPr>
        <p:spPr>
          <a:xfrm>
            <a:off x="548640" y="5120640"/>
            <a:ext cx="11091672" cy="1097280"/>
          </a:xfrm>
          <a:prstGeom prst="rect">
            <a:avLst/>
          </a:prstGeom>
          <a:solidFill>
            <a:srgbClr val="FFF4E6"/>
          </a:solidFill>
          <a:ln>
            <a:noFill/>
          </a:ln>
        </p:spPr>
        <p:txBody>
          <a:bodyPr rtlCol="0" anchor="ctr"/>
          <a:lstStyle/>
          <a:p>
            <a:pPr algn="ctr"/>
          </a:p>
        </p:txBody>
      </p:sp>
      <p:sp>
        <p:nvSpPr>
          <p:cNvPr id="31" name="TextBox 30"/>
          <p:cNvSpPr txBox="1"/>
          <p:nvPr/>
        </p:nvSpPr>
        <p:spPr>
          <a:xfrm>
            <a:off x="777240" y="5230368"/>
            <a:ext cx="1737360" cy="868680"/>
          </a:xfrm>
          <a:prstGeom prst="rect">
            <a:avLst/>
          </a:prstGeom>
          <a:noFill/>
        </p:spPr>
        <p:txBody>
          <a:bodyPr wrap="square" lIns="0" rIns="0" tIns="0" bIns="0" anchor="t">
            <a:spAutoFit/>
          </a:bodyPr>
          <a:lstStyle/>
          <a:p>
            <a:pPr algn="l">
              <a:spcAft>
                <a:spcPts val="0"/>
              </a:spcAft>
            </a:pPr>
            <a:r>
              <a:rPr sz="1300" b="1" i="0">
                <a:solidFill>
                  <a:srgbClr val="E07B22"/>
                </a:solidFill>
                <a:latin typeface="Calibri"/>
              </a:rPr>
              <a:t>WHY IT</a:t>
            </a:r>
          </a:p>
          <a:p>
            <a:pPr algn="l">
              <a:spcAft>
                <a:spcPts val="0"/>
              </a:spcAft>
            </a:pPr>
            <a:r>
              <a:rPr sz="1300" b="1" i="0">
                <a:solidFill>
                  <a:srgbClr val="E07B22"/>
                </a:solidFill>
                <a:latin typeface="Calibri"/>
              </a:rPr>
              <a:t>MATTERS</a:t>
            </a:r>
          </a:p>
        </p:txBody>
      </p:sp>
      <p:sp>
        <p:nvSpPr>
          <p:cNvPr id="32" name="TextBox 31"/>
          <p:cNvSpPr txBox="1"/>
          <p:nvPr/>
        </p:nvSpPr>
        <p:spPr>
          <a:xfrm>
            <a:off x="2057400" y="5230368"/>
            <a:ext cx="3017520" cy="914400"/>
          </a:xfrm>
          <a:prstGeom prst="rect">
            <a:avLst/>
          </a:prstGeom>
          <a:noFill/>
        </p:spPr>
        <p:txBody>
          <a:bodyPr wrap="square" lIns="0" rIns="0" tIns="0" bIns="0" anchor="t">
            <a:spAutoFit/>
          </a:bodyPr>
          <a:lstStyle/>
          <a:p>
            <a:pPr algn="l">
              <a:spcAft>
                <a:spcPts val="0"/>
              </a:spcAft>
            </a:pPr>
            <a:r>
              <a:rPr sz="2400" b="1" i="0">
                <a:solidFill>
                  <a:srgbClr val="1F3A5F"/>
                </a:solidFill>
                <a:latin typeface="Calibri"/>
              </a:rPr>
              <a:t>+5 pts</a:t>
            </a:r>
          </a:p>
          <a:p>
            <a:pPr algn="l">
              <a:spcAft>
                <a:spcPts val="0"/>
              </a:spcAft>
            </a:pPr>
            <a:r>
              <a:rPr sz="1200" b="0" i="0">
                <a:solidFill>
                  <a:srgbClr val="1F2D3D"/>
                </a:solidFill>
                <a:latin typeface="Calibri"/>
              </a:rPr>
              <a:t>of time in range is clinically meaningful (international consensus, 2019)</a:t>
            </a:r>
          </a:p>
        </p:txBody>
      </p:sp>
      <p:sp>
        <p:nvSpPr>
          <p:cNvPr id="33" name="TextBox 32"/>
          <p:cNvSpPr txBox="1"/>
          <p:nvPr/>
        </p:nvSpPr>
        <p:spPr>
          <a:xfrm>
            <a:off x="5257800" y="5230368"/>
            <a:ext cx="3017520" cy="914400"/>
          </a:xfrm>
          <a:prstGeom prst="rect">
            <a:avLst/>
          </a:prstGeom>
          <a:noFill/>
        </p:spPr>
        <p:txBody>
          <a:bodyPr wrap="square" lIns="0" rIns="0" tIns="0" bIns="0" anchor="t">
            <a:spAutoFit/>
          </a:bodyPr>
          <a:lstStyle/>
          <a:p>
            <a:pPr algn="l">
              <a:spcAft>
                <a:spcPts val="0"/>
              </a:spcAft>
            </a:pPr>
            <a:r>
              <a:rPr sz="2400" b="1" i="0">
                <a:solidFill>
                  <a:srgbClr val="1F3A5F"/>
                </a:solidFill>
                <a:latin typeface="Calibri"/>
              </a:rPr>
              <a:t>10 pts</a:t>
            </a:r>
          </a:p>
          <a:p>
            <a:pPr algn="l">
              <a:spcAft>
                <a:spcPts val="0"/>
              </a:spcAft>
            </a:pPr>
            <a:r>
              <a:rPr sz="1200" b="0" i="0">
                <a:solidFill>
                  <a:srgbClr val="1F2D3D"/>
                </a:solidFill>
                <a:latin typeface="Calibri"/>
              </a:rPr>
              <a:t>of time in range track about 0.8% of HbA1c (Vigersky &amp; McMahon, 2019)</a:t>
            </a:r>
          </a:p>
        </p:txBody>
      </p:sp>
      <p:sp>
        <p:nvSpPr>
          <p:cNvPr id="34" name="TextBox 33"/>
          <p:cNvSpPr txBox="1"/>
          <p:nvPr/>
        </p:nvSpPr>
        <p:spPr>
          <a:xfrm>
            <a:off x="8458200" y="5230368"/>
            <a:ext cx="3017520" cy="914400"/>
          </a:xfrm>
          <a:prstGeom prst="rect">
            <a:avLst/>
          </a:prstGeom>
          <a:noFill/>
        </p:spPr>
        <p:txBody>
          <a:bodyPr wrap="square" lIns="0" rIns="0" tIns="0" bIns="0" anchor="t">
            <a:spAutoFit/>
          </a:bodyPr>
          <a:lstStyle/>
          <a:p>
            <a:pPr algn="l">
              <a:spcAft>
                <a:spcPts val="0"/>
              </a:spcAft>
            </a:pPr>
            <a:r>
              <a:rPr sz="2400" b="1" i="0">
                <a:solidFill>
                  <a:srgbClr val="1F3A5F"/>
                </a:solidFill>
                <a:latin typeface="Calibri"/>
              </a:rPr>
              <a:t>105 min</a:t>
            </a:r>
          </a:p>
          <a:p>
            <a:pPr algn="l">
              <a:spcAft>
                <a:spcPts val="0"/>
              </a:spcAft>
            </a:pPr>
            <a:r>
              <a:rPr sz="1200" b="0" i="0">
                <a:solidFill>
                  <a:srgbClr val="1F2D3D"/>
                </a:solidFill>
                <a:latin typeface="Calibri"/>
              </a:rPr>
              <a:t>of warning leaves time to change the meal itself, not only walk after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band"/>
          <p:cNvSpPr/>
          <p:nvPr/>
        </p:nvSpPr>
        <p:spPr>
          <a:xfrm>
            <a:off x="0" y="0"/>
            <a:ext cx="12191695" cy="82296"/>
          </a:xfrm>
          <a:prstGeom prst="rect">
            <a:avLst/>
          </a:prstGeom>
          <a:solidFill>
            <a:srgbClr val="1F3A5F"/>
          </a:solidFill>
          <a:ln>
            <a:noFill/>
          </a:ln>
        </p:spPr>
        <p:txBody>
          <a:bodyPr rtlCol="0" anchor="ctr"/>
          <a:lstStyle/>
          <a:p>
            <a:pPr algn="ctr"/>
          </a:p>
        </p:txBody>
      </p:sp>
      <p:sp>
        <p:nvSpPr>
          <p:cNvPr id="3" name="Top accent"/>
          <p:cNvSpPr/>
          <p:nvPr/>
        </p:nvSpPr>
        <p:spPr>
          <a:xfrm>
            <a:off x="0" y="82296"/>
            <a:ext cx="2011680" cy="45720"/>
          </a:xfrm>
          <a:prstGeom prst="rect">
            <a:avLst/>
          </a:prstGeom>
          <a:solidFill>
            <a:srgbClr val="E07B22"/>
          </a:solidFill>
          <a:ln>
            <a:noFill/>
          </a:ln>
        </p:spPr>
        <p:txBody>
          <a:bodyPr rtlCol="0" anchor="ctr"/>
          <a:lstStyle/>
          <a:p>
            <a:pPr algn="ctr"/>
          </a:p>
        </p:txBody>
      </p:sp>
      <p:sp>
        <p:nvSpPr>
          <p:cNvPr id="4" name="Kicker"/>
          <p:cNvSpPr txBox="1"/>
          <p:nvPr/>
        </p:nvSpPr>
        <p:spPr>
          <a:xfrm>
            <a:off x="548640" y="329184"/>
            <a:ext cx="11091672" cy="237744"/>
          </a:xfrm>
          <a:prstGeom prst="rect">
            <a:avLst/>
          </a:prstGeom>
          <a:noFill/>
        </p:spPr>
        <p:txBody>
          <a:bodyPr wrap="square" lIns="0" rIns="0" tIns="0" bIns="0" anchor="t">
            <a:spAutoFit/>
          </a:bodyPr>
          <a:lstStyle/>
          <a:p>
            <a:pPr algn="l">
              <a:spcAft>
                <a:spcPts val="0"/>
              </a:spcAft>
            </a:pPr>
            <a:r>
              <a:rPr sz="1200" b="1" i="0">
                <a:solidFill>
                  <a:srgbClr val="E07B22"/>
                </a:solidFill>
                <a:latin typeface="Calibri"/>
              </a:rPr>
              <a:t>7 · PROOF: ALERTS VS SIMPLE ALARMS</a:t>
            </a:r>
          </a:p>
        </p:txBody>
      </p:sp>
      <p:sp>
        <p:nvSpPr>
          <p:cNvPr id="5" name="Title"/>
          <p:cNvSpPr txBox="1"/>
          <p:nvPr/>
        </p:nvSpPr>
        <p:spPr>
          <a:xfrm>
            <a:off x="548640" y="566928"/>
            <a:ext cx="11091672" cy="566928"/>
          </a:xfrm>
          <a:prstGeom prst="rect">
            <a:avLst/>
          </a:prstGeom>
          <a:noFill/>
        </p:spPr>
        <p:txBody>
          <a:bodyPr wrap="square" lIns="0" rIns="0" tIns="0" bIns="0" anchor="t">
            <a:spAutoFit/>
          </a:bodyPr>
          <a:lstStyle/>
          <a:p>
            <a:pPr algn="l">
              <a:spcAft>
                <a:spcPts val="0"/>
              </a:spcAft>
            </a:pPr>
            <a:r>
              <a:rPr sz="3000" b="1" i="0">
                <a:solidFill>
                  <a:srgbClr val="1F3A5F"/>
                </a:solidFill>
                <a:latin typeface="Calibri"/>
              </a:rPr>
              <a:t>Level with the best simple alarm on F1, with a third of its false alarms</a:t>
            </a:r>
          </a:p>
        </p:txBody>
      </p:sp>
      <p:cxnSp>
        <p:nvCxnSpPr>
          <p:cNvPr id="6" name="Footer rule"/>
          <p:cNvCxnSpPr/>
          <p:nvPr/>
        </p:nvCxnSpPr>
        <p:spPr>
          <a:xfrm>
            <a:off x="548640" y="6382512"/>
            <a:ext cx="11091672" cy="0"/>
          </a:xfrm>
          <a:prstGeom prst="line">
            <a:avLst/>
          </a:prstGeom>
          <a:ln w="9525">
            <a:solidFill>
              <a:srgbClr val="C9D1DC"/>
            </a:solidFill>
          </a:ln>
        </p:spPr>
        <p:style>
          <a:lnRef idx="2">
            <a:schemeClr val="accent1"/>
          </a:lnRef>
          <a:fillRef idx="0">
            <a:schemeClr val="accent1"/>
          </a:fillRef>
          <a:effectRef idx="1">
            <a:schemeClr val="accent1"/>
          </a:effectRef>
          <a:fontRef idx="minor">
            <a:schemeClr val="tx1"/>
          </a:fontRef>
        </p:style>
      </p:cxnSp>
      <p:sp>
        <p:nvSpPr>
          <p:cNvPr id="7" name="Sources"/>
          <p:cNvSpPr txBox="1"/>
          <p:nvPr/>
        </p:nvSpPr>
        <p:spPr>
          <a:xfrm>
            <a:off x="548640" y="6428232"/>
            <a:ext cx="10634472" cy="365760"/>
          </a:xfrm>
          <a:prstGeom prst="rect">
            <a:avLst/>
          </a:prstGeom>
          <a:noFill/>
        </p:spPr>
        <p:txBody>
          <a:bodyPr wrap="square" lIns="0" rIns="0" tIns="0" bIns="0" anchor="t">
            <a:spAutoFit/>
          </a:bodyPr>
          <a:lstStyle/>
          <a:p>
            <a:pPr algn="l">
              <a:spcAft>
                <a:spcPts val="0"/>
              </a:spcAft>
            </a:pPr>
            <a:r>
              <a:rPr sz="900" b="0" i="0">
                <a:solidFill>
                  <a:srgbClr val="5B6675"/>
                </a:solidFill>
                <a:latin typeface="Calibri"/>
              </a:rPr>
              <a:t>Simulated stress test (mismatched generator, seed 42): 11 patients × 12 scored days, 254 spikes. Every method uses the same events, the same alert hygiene and the same scorer. scripts/alert-proof.ts → docs/ALERT_PROOF.md. CGMacros comparison not yet run.</a:t>
            </a:r>
          </a:p>
        </p:txBody>
      </p:sp>
      <p:sp>
        <p:nvSpPr>
          <p:cNvPr id="8" name="Page number"/>
          <p:cNvSpPr txBox="1"/>
          <p:nvPr/>
        </p:nvSpPr>
        <p:spPr>
          <a:xfrm>
            <a:off x="11274552" y="6446520"/>
            <a:ext cx="365760" cy="228600"/>
          </a:xfrm>
          <a:prstGeom prst="rect">
            <a:avLst/>
          </a:prstGeom>
          <a:noFill/>
        </p:spPr>
        <p:txBody>
          <a:bodyPr wrap="square" lIns="0" rIns="0" tIns="0" bIns="0" anchor="t">
            <a:spAutoFit/>
          </a:bodyPr>
          <a:lstStyle/>
          <a:p>
            <a:pPr algn="r">
              <a:spcAft>
                <a:spcPts val="0"/>
              </a:spcAft>
            </a:pPr>
            <a:r>
              <a:rPr sz="1100" b="1" i="0">
                <a:solidFill>
                  <a:srgbClr val="1F3A5F"/>
                </a:solidFill>
                <a:latin typeface="Calibri"/>
              </a:rPr>
              <a:t>7</a:t>
            </a:r>
          </a:p>
        </p:txBody>
      </p:sp>
      <p:sp>
        <p:nvSpPr>
          <p:cNvPr id="9" name="TextBox 8"/>
          <p:cNvSpPr txBox="1"/>
          <p:nvPr/>
        </p:nvSpPr>
        <p:spPr>
          <a:xfrm>
            <a:off x="548640" y="1298448"/>
            <a:ext cx="7223760" cy="237744"/>
          </a:xfrm>
          <a:prstGeom prst="rect">
            <a:avLst/>
          </a:prstGeom>
          <a:noFill/>
        </p:spPr>
        <p:txBody>
          <a:bodyPr wrap="square" lIns="0" rIns="0" tIns="0" bIns="0" anchor="t">
            <a:spAutoFit/>
          </a:bodyPr>
          <a:lstStyle/>
          <a:p>
            <a:pPr algn="l">
              <a:spcAft>
                <a:spcPts val="0"/>
              </a:spcAft>
            </a:pPr>
            <a:r>
              <a:rPr sz="1200" b="1" i="0">
                <a:solidFill>
                  <a:srgbClr val="5B6675"/>
                </a:solidFill>
                <a:latin typeface="Calibri"/>
              </a:rPr>
              <a:t>SAME 254 SPIKES, SAME ALERT RULES, SAME SCORER</a:t>
            </a:r>
          </a:p>
        </p:txBody>
      </p:sp>
      <p:graphicFrame>
        <p:nvGraphicFramePr>
          <p:cNvPr id="10" name="Table 9"/>
          <p:cNvGraphicFramePr>
            <a:graphicFrameLocks noGrp="1"/>
          </p:cNvGraphicFramePr>
          <p:nvPr/>
        </p:nvGraphicFramePr>
        <p:xfrm>
          <a:off x="548640" y="1600200"/>
          <a:ext cx="7315200" cy="2999232"/>
        </p:xfrm>
        <a:graphic>
          <a:graphicData uri="http://schemas.openxmlformats.org/drawingml/2006/table">
            <a:tbl>
              <a:tblPr firstRow="1">
                <a:tableStyleId>{5C22544A-7EE6-4342-B048-85BDC9FD1C3A}</a:tableStyleId>
              </a:tblPr>
              <a:tblGrid>
                <a:gridCol w="2331720"/>
                <a:gridCol w="1463040"/>
                <a:gridCol w="868680"/>
                <a:gridCol w="777240"/>
                <a:gridCol w="868680"/>
                <a:gridCol w="1005840"/>
              </a:tblGrid>
              <a:tr h="438912">
                <a:tc>
                  <a:txBody>
                    <a:bodyPr wrap="square"/>
                    <a:lstStyle/>
                    <a:p>
                      <a:r>
                        <a:rPr sz="1200" b="1">
                          <a:solidFill>
                            <a:srgbClr val="FFFFFF"/>
                          </a:solidFill>
                          <a:latin typeface="Calibri"/>
                        </a:rPr>
                        <a:t>Method</a:t>
                      </a:r>
                    </a:p>
                  </a:txBody>
                  <a:tcPr marL="91440" marR="91440" marT="36576" marB="36576" anchor="ctr">
                    <a:lnL w="9525">
                      <a:noFill/>
                    </a:lnL>
                    <a:lnR w="9525">
                      <a:noFill/>
                    </a:lnR>
                    <a:lnT w="9525">
                      <a:noFill/>
                    </a:lnT>
                    <a:lnB w="9525">
                      <a:solidFill>
                        <a:srgbClr val="3A5578"/>
                      </a:solidFill>
                    </a:lnB>
                    <a:solidFill>
                      <a:srgbClr val="1F3A5F"/>
                    </a:solidFill>
                  </a:tcPr>
                </a:tc>
                <a:tc>
                  <a:txBody>
                    <a:bodyPr wrap="square"/>
                    <a:lstStyle/>
                    <a:p>
                      <a:r>
                        <a:rPr sz="1200" b="1">
                          <a:solidFill>
                            <a:srgbClr val="FFFFFF"/>
                          </a:solidFill>
                          <a:latin typeface="Calibri"/>
                        </a:rPr>
                        <a:t>Uses</a:t>
                      </a:r>
                    </a:p>
                  </a:txBody>
                  <a:tcPr marL="91440" marR="91440" marT="36576" marB="36576" anchor="ctr">
                    <a:lnL w="9525">
                      <a:noFill/>
                    </a:lnL>
                    <a:lnR w="9525">
                      <a:noFill/>
                    </a:lnR>
                    <a:lnT w="9525">
                      <a:noFill/>
                    </a:lnT>
                    <a:lnB w="9525">
                      <a:solidFill>
                        <a:srgbClr val="3A5578"/>
                      </a:solidFill>
                    </a:lnB>
                    <a:solidFill>
                      <a:srgbClr val="1F3A5F"/>
                    </a:solidFill>
                  </a:tcPr>
                </a:tc>
                <a:tc>
                  <a:txBody>
                    <a:bodyPr wrap="square"/>
                    <a:lstStyle/>
                    <a:p>
                      <a:pPr algn="ctr"/>
                      <a:r>
                        <a:rPr sz="1200" b="1">
                          <a:solidFill>
                            <a:srgbClr val="FFFFFF"/>
                          </a:solidFill>
                          <a:latin typeface="Calibri"/>
                        </a:rPr>
                        <a:t>Catches</a:t>
                      </a:r>
                    </a:p>
                  </a:txBody>
                  <a:tcPr marL="91440" marR="91440" marT="36576" marB="36576" anchor="ctr">
                    <a:lnL w="9525">
                      <a:noFill/>
                    </a:lnL>
                    <a:lnR w="9525">
                      <a:noFill/>
                    </a:lnR>
                    <a:lnT w="9525">
                      <a:noFill/>
                    </a:lnT>
                    <a:lnB w="9525">
                      <a:solidFill>
                        <a:srgbClr val="3A5578"/>
                      </a:solidFill>
                    </a:lnB>
                    <a:solidFill>
                      <a:srgbClr val="1F3A5F"/>
                    </a:solidFill>
                  </a:tcPr>
                </a:tc>
                <a:tc>
                  <a:txBody>
                    <a:bodyPr wrap="square"/>
                    <a:lstStyle/>
                    <a:p>
                      <a:pPr algn="ctr"/>
                      <a:r>
                        <a:rPr sz="1200" b="1">
                          <a:solidFill>
                            <a:srgbClr val="FFFFFF"/>
                          </a:solidFill>
                          <a:latin typeface="Calibri"/>
                        </a:rPr>
                        <a:t>Right</a:t>
                      </a:r>
                    </a:p>
                  </a:txBody>
                  <a:tcPr marL="91440" marR="91440" marT="36576" marB="36576" anchor="ctr">
                    <a:lnL w="9525">
                      <a:noFill/>
                    </a:lnL>
                    <a:lnR w="9525">
                      <a:noFill/>
                    </a:lnR>
                    <a:lnT w="9525">
                      <a:noFill/>
                    </a:lnT>
                    <a:lnB w="9525">
                      <a:solidFill>
                        <a:srgbClr val="3A5578"/>
                      </a:solidFill>
                    </a:lnB>
                    <a:solidFill>
                      <a:srgbClr val="1F3A5F"/>
                    </a:solidFill>
                  </a:tcPr>
                </a:tc>
                <a:tc>
                  <a:txBody>
                    <a:bodyPr wrap="square"/>
                    <a:lstStyle/>
                    <a:p>
                      <a:pPr algn="ctr"/>
                      <a:r>
                        <a:rPr sz="1200" b="1">
                          <a:solidFill>
                            <a:srgbClr val="FFFFFF"/>
                          </a:solidFill>
                          <a:latin typeface="Calibri"/>
                        </a:rPr>
                        <a:t>False / day</a:t>
                      </a:r>
                    </a:p>
                  </a:txBody>
                  <a:tcPr marL="91440" marR="91440" marT="36576" marB="36576" anchor="ctr">
                    <a:lnL w="9525">
                      <a:noFill/>
                    </a:lnL>
                    <a:lnR w="9525">
                      <a:noFill/>
                    </a:lnR>
                    <a:lnT w="9525">
                      <a:noFill/>
                    </a:lnT>
                    <a:lnB w="9525">
                      <a:solidFill>
                        <a:srgbClr val="3A5578"/>
                      </a:solidFill>
                    </a:lnB>
                    <a:solidFill>
                      <a:srgbClr val="1F3A5F"/>
                    </a:solidFill>
                  </a:tcPr>
                </a:tc>
                <a:tc>
                  <a:txBody>
                    <a:bodyPr wrap="square"/>
                    <a:lstStyle/>
                    <a:p>
                      <a:pPr algn="ctr"/>
                      <a:r>
                        <a:rPr sz="1200" b="1">
                          <a:solidFill>
                            <a:srgbClr val="FFFFFF"/>
                          </a:solidFill>
                          <a:latin typeface="Calibri"/>
                        </a:rPr>
                        <a:t>Median warning</a:t>
                      </a:r>
                    </a:p>
                  </a:txBody>
                  <a:tcPr marL="91440" marR="91440" marT="36576" marB="36576" anchor="ctr">
                    <a:lnL w="9525">
                      <a:noFill/>
                    </a:lnL>
                    <a:lnR w="9525">
                      <a:noFill/>
                    </a:lnR>
                    <a:lnT w="9525">
                      <a:noFill/>
                    </a:lnT>
                    <a:lnB w="9525">
                      <a:solidFill>
                        <a:srgbClr val="3A5578"/>
                      </a:solidFill>
                    </a:lnB>
                    <a:solidFill>
                      <a:srgbClr val="1F3A5F"/>
                    </a:solidFill>
                  </a:tcPr>
                </a:tc>
              </a:tr>
              <a:tr h="512064">
                <a:tc>
                  <a:txBody>
                    <a:bodyPr wrap="square"/>
                    <a:lstStyle/>
                    <a:p>
                      <a:r>
                        <a:rPr sz="1250" b="1">
                          <a:solidFill>
                            <a:srgbClr val="1F2D3D"/>
                          </a:solidFill>
                          <a:latin typeface="Calibri"/>
                        </a:rPr>
                        <a:t>GlucoTwin (risk ≥ 0.8)</a:t>
                      </a:r>
                    </a:p>
                  </a:txBody>
                  <a:tcPr marL="91440" marR="91440" marT="36576" marB="36576" anchor="ctr">
                    <a:lnL w="9525">
                      <a:noFill/>
                    </a:lnL>
                    <a:lnR w="9525">
                      <a:noFill/>
                    </a:lnR>
                    <a:lnT w="9525">
                      <a:noFill/>
                    </a:lnT>
                    <a:lnB w="9525">
                      <a:solidFill>
                        <a:srgbClr val="DDE3EA"/>
                      </a:solidFill>
                    </a:lnB>
                    <a:solidFill>
                      <a:srgbClr val="FFF4E6"/>
                    </a:solidFill>
                  </a:tcPr>
                </a:tc>
                <a:tc>
                  <a:txBody>
                    <a:bodyPr wrap="square"/>
                    <a:lstStyle/>
                    <a:p>
                      <a:r>
                        <a:rPr sz="1250" b="1">
                          <a:solidFill>
                            <a:srgbClr val="1A8F7A"/>
                          </a:solidFill>
                          <a:latin typeface="Calibri"/>
                        </a:rPr>
                        <a:t>Record + CGM + meals + sleep</a:t>
                      </a:r>
                    </a:p>
                  </a:txBody>
                  <a:tcPr marL="91440" marR="91440" marT="36576" marB="36576" anchor="ctr">
                    <a:lnL w="9525">
                      <a:noFill/>
                    </a:lnL>
                    <a:lnR w="9525">
                      <a:noFill/>
                    </a:lnR>
                    <a:lnT w="9525">
                      <a:noFill/>
                    </a:lnT>
                    <a:lnB w="9525">
                      <a:solidFill>
                        <a:srgbClr val="DDE3EA"/>
                      </a:solidFill>
                    </a:lnB>
                    <a:solidFill>
                      <a:srgbClr val="FFF4E6"/>
                    </a:solidFill>
                  </a:tcPr>
                </a:tc>
                <a:tc>
                  <a:txBody>
                    <a:bodyPr wrap="square"/>
                    <a:lstStyle/>
                    <a:p>
                      <a:pPr algn="ctr"/>
                      <a:r>
                        <a:rPr sz="1250" b="1">
                          <a:solidFill>
                            <a:srgbClr val="1A8F7A"/>
                          </a:solidFill>
                          <a:latin typeface="Calibri"/>
                        </a:rPr>
                        <a:t>61.0%</a:t>
                      </a:r>
                    </a:p>
                  </a:txBody>
                  <a:tcPr marL="91440" marR="91440" marT="36576" marB="36576" anchor="ctr">
                    <a:lnL w="9525">
                      <a:noFill/>
                    </a:lnL>
                    <a:lnR w="9525">
                      <a:noFill/>
                    </a:lnR>
                    <a:lnT w="9525">
                      <a:noFill/>
                    </a:lnT>
                    <a:lnB w="9525">
                      <a:solidFill>
                        <a:srgbClr val="DDE3EA"/>
                      </a:solidFill>
                    </a:lnB>
                    <a:solidFill>
                      <a:srgbClr val="FFF4E6"/>
                    </a:solidFill>
                  </a:tcPr>
                </a:tc>
                <a:tc>
                  <a:txBody>
                    <a:bodyPr wrap="square"/>
                    <a:lstStyle/>
                    <a:p>
                      <a:pPr algn="ctr"/>
                      <a:r>
                        <a:rPr sz="1250" b="1">
                          <a:solidFill>
                            <a:srgbClr val="1A8F7A"/>
                          </a:solidFill>
                          <a:latin typeface="Calibri"/>
                        </a:rPr>
                        <a:t>66.9%</a:t>
                      </a:r>
                    </a:p>
                  </a:txBody>
                  <a:tcPr marL="91440" marR="91440" marT="36576" marB="36576" anchor="ctr">
                    <a:lnL w="9525">
                      <a:noFill/>
                    </a:lnL>
                    <a:lnR w="9525">
                      <a:noFill/>
                    </a:lnR>
                    <a:lnT w="9525">
                      <a:noFill/>
                    </a:lnT>
                    <a:lnB w="9525">
                      <a:solidFill>
                        <a:srgbClr val="DDE3EA"/>
                      </a:solidFill>
                    </a:lnB>
                    <a:solidFill>
                      <a:srgbClr val="FFF4E6"/>
                    </a:solidFill>
                  </a:tcPr>
                </a:tc>
                <a:tc>
                  <a:txBody>
                    <a:bodyPr wrap="square"/>
                    <a:lstStyle/>
                    <a:p>
                      <a:pPr algn="ctr"/>
                      <a:r>
                        <a:rPr sz="1250" b="1">
                          <a:solidFill>
                            <a:srgbClr val="1A8F7A"/>
                          </a:solidFill>
                          <a:latin typeface="Calibri"/>
                        </a:rPr>
                        <a:t>0.75</a:t>
                      </a:r>
                    </a:p>
                  </a:txBody>
                  <a:tcPr marL="91440" marR="91440" marT="36576" marB="36576" anchor="ctr">
                    <a:lnL w="9525">
                      <a:noFill/>
                    </a:lnL>
                    <a:lnR w="9525">
                      <a:noFill/>
                    </a:lnR>
                    <a:lnT w="9525">
                      <a:noFill/>
                    </a:lnT>
                    <a:lnB w="9525">
                      <a:solidFill>
                        <a:srgbClr val="DDE3EA"/>
                      </a:solidFill>
                    </a:lnB>
                    <a:solidFill>
                      <a:srgbClr val="FFF4E6"/>
                    </a:solidFill>
                  </a:tcPr>
                </a:tc>
                <a:tc>
                  <a:txBody>
                    <a:bodyPr wrap="square"/>
                    <a:lstStyle/>
                    <a:p>
                      <a:pPr algn="ctr"/>
                      <a:r>
                        <a:rPr sz="1250" b="1">
                          <a:solidFill>
                            <a:srgbClr val="1A8F7A"/>
                          </a:solidFill>
                          <a:latin typeface="Calibri"/>
                        </a:rPr>
                        <a:t>105 min</a:t>
                      </a:r>
                    </a:p>
                  </a:txBody>
                  <a:tcPr marL="91440" marR="91440" marT="36576" marB="36576" anchor="ctr">
                    <a:lnL w="9525">
                      <a:noFill/>
                    </a:lnL>
                    <a:lnR w="9525">
                      <a:noFill/>
                    </a:lnR>
                    <a:lnT w="9525">
                      <a:noFill/>
                    </a:lnT>
                    <a:lnB w="9525">
                      <a:solidFill>
                        <a:srgbClr val="DDE3EA"/>
                      </a:solidFill>
                    </a:lnB>
                    <a:solidFill>
                      <a:srgbClr val="FFF4E6"/>
                    </a:solidFill>
                  </a:tcPr>
                </a:tc>
              </a:tr>
              <a:tr h="512064">
                <a:tc>
                  <a:txBody>
                    <a:bodyPr wrap="square"/>
                    <a:lstStyle/>
                    <a:p>
                      <a:r>
                        <a:rPr sz="1250" b="1">
                          <a:solidFill>
                            <a:srgbClr val="1F2D3D"/>
                          </a:solidFill>
                          <a:latin typeface="Calibri"/>
                        </a:rPr>
                        <a:t>Rise-rate alarm</a:t>
                      </a:r>
                    </a:p>
                  </a:txBody>
                  <a:tcPr marL="91440" marR="91440" marT="36576" marB="36576" anchor="ctr">
                    <a:lnL w="9525">
                      <a:noFill/>
                    </a:lnL>
                    <a:lnR w="9525">
                      <a:noFill/>
                    </a:lnR>
                    <a:lnT w="9525">
                      <a:noFill/>
                    </a:lnT>
                    <a:lnB w="9525">
                      <a:solidFill>
                        <a:srgbClr val="DDE3EA"/>
                      </a:solidFill>
                    </a:lnB>
                    <a:solidFill>
                      <a:srgbClr val="F3F5F9"/>
                    </a:solidFill>
                  </a:tcPr>
                </a:tc>
                <a:tc>
                  <a:txBody>
                    <a:bodyPr wrap="square"/>
                    <a:lstStyle/>
                    <a:p>
                      <a:r>
                        <a:rPr sz="1250" b="0">
                          <a:solidFill>
                            <a:srgbClr val="1F2D3D"/>
                          </a:solidFill>
                          <a:latin typeface="Calibri"/>
                        </a:rPr>
                        <a:t>CGM only</a:t>
                      </a:r>
                    </a:p>
                  </a:txBody>
                  <a:tcPr marL="91440" marR="91440" marT="36576" marB="36576" anchor="ctr">
                    <a:lnL w="9525">
                      <a:noFill/>
                    </a:lnL>
                    <a:lnR w="9525">
                      <a:noFill/>
                    </a:lnR>
                    <a:lnT w="9525">
                      <a:noFill/>
                    </a:lnT>
                    <a:lnB w="9525">
                      <a:solidFill>
                        <a:srgbClr val="DDE3EA"/>
                      </a:solidFill>
                    </a:lnB>
                    <a:solidFill>
                      <a:srgbClr val="F3F5F9"/>
                    </a:solidFill>
                  </a:tcPr>
                </a:tc>
                <a:tc>
                  <a:txBody>
                    <a:bodyPr wrap="square"/>
                    <a:lstStyle/>
                    <a:p>
                      <a:pPr algn="ctr"/>
                      <a:r>
                        <a:rPr sz="1250" b="0">
                          <a:solidFill>
                            <a:srgbClr val="1F2D3D"/>
                          </a:solidFill>
                          <a:latin typeface="Calibri"/>
                        </a:rPr>
                        <a:t>24.8%</a:t>
                      </a:r>
                    </a:p>
                  </a:txBody>
                  <a:tcPr marL="91440" marR="91440" marT="36576" marB="36576" anchor="ctr">
                    <a:lnL w="9525">
                      <a:noFill/>
                    </a:lnL>
                    <a:lnR w="9525">
                      <a:noFill/>
                    </a:lnR>
                    <a:lnT w="9525">
                      <a:noFill/>
                    </a:lnT>
                    <a:lnB w="9525">
                      <a:solidFill>
                        <a:srgbClr val="DDE3EA"/>
                      </a:solidFill>
                    </a:lnB>
                    <a:solidFill>
                      <a:srgbClr val="F3F5F9"/>
                    </a:solidFill>
                  </a:tcPr>
                </a:tc>
                <a:tc>
                  <a:txBody>
                    <a:bodyPr wrap="square"/>
                    <a:lstStyle/>
                    <a:p>
                      <a:pPr algn="ctr"/>
                      <a:r>
                        <a:rPr sz="1250" b="0">
                          <a:solidFill>
                            <a:srgbClr val="1F2D3D"/>
                          </a:solidFill>
                          <a:latin typeface="Calibri"/>
                        </a:rPr>
                        <a:t>78.8%</a:t>
                      </a:r>
                    </a:p>
                  </a:txBody>
                  <a:tcPr marL="91440" marR="91440" marT="36576" marB="36576" anchor="ctr">
                    <a:lnL w="9525">
                      <a:noFill/>
                    </a:lnL>
                    <a:lnR w="9525">
                      <a:noFill/>
                    </a:lnR>
                    <a:lnT w="9525">
                      <a:noFill/>
                    </a:lnT>
                    <a:lnB w="9525">
                      <a:solidFill>
                        <a:srgbClr val="DDE3EA"/>
                      </a:solidFill>
                    </a:lnB>
                    <a:solidFill>
                      <a:srgbClr val="F3F5F9"/>
                    </a:solidFill>
                  </a:tcPr>
                </a:tc>
                <a:tc>
                  <a:txBody>
                    <a:bodyPr wrap="square"/>
                    <a:lstStyle/>
                    <a:p>
                      <a:pPr algn="ctr"/>
                      <a:r>
                        <a:rPr sz="1250" b="0">
                          <a:solidFill>
                            <a:srgbClr val="1F2D3D"/>
                          </a:solidFill>
                          <a:latin typeface="Calibri"/>
                        </a:rPr>
                        <a:t>0.13</a:t>
                      </a:r>
                    </a:p>
                  </a:txBody>
                  <a:tcPr marL="91440" marR="91440" marT="36576" marB="36576" anchor="ctr">
                    <a:lnL w="9525">
                      <a:noFill/>
                    </a:lnL>
                    <a:lnR w="9525">
                      <a:noFill/>
                    </a:lnR>
                    <a:lnT w="9525">
                      <a:noFill/>
                    </a:lnT>
                    <a:lnB w="9525">
                      <a:solidFill>
                        <a:srgbClr val="DDE3EA"/>
                      </a:solidFill>
                    </a:lnB>
                    <a:solidFill>
                      <a:srgbClr val="F3F5F9"/>
                    </a:solidFill>
                  </a:tcPr>
                </a:tc>
                <a:tc>
                  <a:txBody>
                    <a:bodyPr wrap="square"/>
                    <a:lstStyle/>
                    <a:p>
                      <a:pPr algn="ctr"/>
                      <a:r>
                        <a:rPr sz="1250" b="0">
                          <a:solidFill>
                            <a:srgbClr val="1F2D3D"/>
                          </a:solidFill>
                          <a:latin typeface="Calibri"/>
                        </a:rPr>
                        <a:t>5 min</a:t>
                      </a:r>
                    </a:p>
                  </a:txBody>
                  <a:tcPr marL="91440" marR="91440" marT="36576" marB="36576" anchor="ctr">
                    <a:lnL w="9525">
                      <a:noFill/>
                    </a:lnL>
                    <a:lnR w="9525">
                      <a:noFill/>
                    </a:lnR>
                    <a:lnT w="9525">
                      <a:noFill/>
                    </a:lnT>
                    <a:lnB w="9525">
                      <a:solidFill>
                        <a:srgbClr val="DDE3EA"/>
                      </a:solidFill>
                    </a:lnB>
                    <a:solidFill>
                      <a:srgbClr val="F3F5F9"/>
                    </a:solidFill>
                  </a:tcPr>
                </a:tc>
              </a:tr>
              <a:tr h="512064">
                <a:tc>
                  <a:txBody>
                    <a:bodyPr wrap="square"/>
                    <a:lstStyle/>
                    <a:p>
                      <a:r>
                        <a:rPr sz="1250" b="1">
                          <a:solidFill>
                            <a:srgbClr val="1F2D3D"/>
                          </a:solidFill>
                          <a:latin typeface="Calibri"/>
                        </a:rPr>
                        <a:t>Trend projection, 60 min</a:t>
                      </a:r>
                    </a:p>
                  </a:txBody>
                  <a:tcPr marL="91440" marR="91440" marT="36576" marB="36576" anchor="ctr">
                    <a:lnL w="9525">
                      <a:noFill/>
                    </a:lnL>
                    <a:lnR w="9525">
                      <a:noFill/>
                    </a:lnR>
                    <a:lnT w="9525">
                      <a:noFill/>
                    </a:lnT>
                    <a:lnB w="9525">
                      <a:solidFill>
                        <a:srgbClr val="DDE3EA"/>
                      </a:solidFill>
                    </a:lnB>
                    <a:solidFill>
                      <a:srgbClr val="FFFFFF"/>
                    </a:solidFill>
                  </a:tcPr>
                </a:tc>
                <a:tc>
                  <a:txBody>
                    <a:bodyPr wrap="square"/>
                    <a:lstStyle/>
                    <a:p>
                      <a:r>
                        <a:rPr sz="1250" b="0">
                          <a:solidFill>
                            <a:srgbClr val="1F2D3D"/>
                          </a:solidFill>
                          <a:latin typeface="Calibri"/>
                        </a:rPr>
                        <a:t>CGM only</a:t>
                      </a:r>
                    </a:p>
                  </a:txBody>
                  <a:tcPr marL="91440" marR="91440" marT="36576" marB="36576" anchor="ctr">
                    <a:lnL w="9525">
                      <a:noFill/>
                    </a:lnL>
                    <a:lnR w="9525">
                      <a:noFill/>
                    </a:lnR>
                    <a:lnT w="9525">
                      <a:noFill/>
                    </a:lnT>
                    <a:lnB w="9525">
                      <a:solidFill>
                        <a:srgbClr val="DDE3EA"/>
                      </a:solidFill>
                    </a:lnB>
                    <a:solidFill>
                      <a:srgbClr val="FFFFFF"/>
                    </a:solidFill>
                  </a:tcPr>
                </a:tc>
                <a:tc>
                  <a:txBody>
                    <a:bodyPr wrap="square"/>
                    <a:lstStyle/>
                    <a:p>
                      <a:pPr algn="ctr"/>
                      <a:r>
                        <a:rPr sz="1250" b="0">
                          <a:solidFill>
                            <a:srgbClr val="1F2D3D"/>
                          </a:solidFill>
                          <a:latin typeface="Calibri"/>
                        </a:rPr>
                        <a:t>89.4%</a:t>
                      </a:r>
                    </a:p>
                  </a:txBody>
                  <a:tcPr marL="91440" marR="91440" marT="36576" marB="36576" anchor="ctr">
                    <a:lnL w="9525">
                      <a:noFill/>
                    </a:lnL>
                    <a:lnR w="9525">
                      <a:noFill/>
                    </a:lnR>
                    <a:lnT w="9525">
                      <a:noFill/>
                    </a:lnT>
                    <a:lnB w="9525">
                      <a:solidFill>
                        <a:srgbClr val="DDE3EA"/>
                      </a:solidFill>
                    </a:lnB>
                    <a:solidFill>
                      <a:srgbClr val="FFFFFF"/>
                    </a:solidFill>
                  </a:tcPr>
                </a:tc>
                <a:tc>
                  <a:txBody>
                    <a:bodyPr wrap="square"/>
                    <a:lstStyle/>
                    <a:p>
                      <a:pPr algn="ctr"/>
                      <a:r>
                        <a:rPr sz="1250" b="0">
                          <a:solidFill>
                            <a:srgbClr val="1F2D3D"/>
                          </a:solidFill>
                          <a:latin typeface="Calibri"/>
                        </a:rPr>
                        <a:t>49.5%</a:t>
                      </a:r>
                    </a:p>
                  </a:txBody>
                  <a:tcPr marL="91440" marR="91440" marT="36576" marB="36576" anchor="ctr">
                    <a:lnL w="9525">
                      <a:noFill/>
                    </a:lnL>
                    <a:lnR w="9525">
                      <a:noFill/>
                    </a:lnR>
                    <a:lnT w="9525">
                      <a:noFill/>
                    </a:lnT>
                    <a:lnB w="9525">
                      <a:solidFill>
                        <a:srgbClr val="DDE3EA"/>
                      </a:solidFill>
                    </a:lnB>
                    <a:solidFill>
                      <a:srgbClr val="FFFFFF"/>
                    </a:solidFill>
                  </a:tcPr>
                </a:tc>
                <a:tc>
                  <a:txBody>
                    <a:bodyPr wrap="square"/>
                    <a:lstStyle/>
                    <a:p>
                      <a:pPr algn="ctr"/>
                      <a:r>
                        <a:rPr sz="1250" b="0">
                          <a:solidFill>
                            <a:srgbClr val="1F2D3D"/>
                          </a:solidFill>
                          <a:latin typeface="Calibri"/>
                        </a:rPr>
                        <a:t>2.11</a:t>
                      </a:r>
                    </a:p>
                  </a:txBody>
                  <a:tcPr marL="91440" marR="91440" marT="36576" marB="36576" anchor="ctr">
                    <a:lnL w="9525">
                      <a:noFill/>
                    </a:lnL>
                    <a:lnR w="9525">
                      <a:noFill/>
                    </a:lnR>
                    <a:lnT w="9525">
                      <a:noFill/>
                    </a:lnT>
                    <a:lnB w="9525">
                      <a:solidFill>
                        <a:srgbClr val="DDE3EA"/>
                      </a:solidFill>
                    </a:lnB>
                    <a:solidFill>
                      <a:srgbClr val="FFFFFF"/>
                    </a:solidFill>
                  </a:tcPr>
                </a:tc>
                <a:tc>
                  <a:txBody>
                    <a:bodyPr wrap="square"/>
                    <a:lstStyle/>
                    <a:p>
                      <a:pPr algn="ctr"/>
                      <a:r>
                        <a:rPr sz="1250" b="0">
                          <a:solidFill>
                            <a:srgbClr val="1F2D3D"/>
                          </a:solidFill>
                          <a:latin typeface="Calibri"/>
                        </a:rPr>
                        <a:t>25 min</a:t>
                      </a:r>
                    </a:p>
                  </a:txBody>
                  <a:tcPr marL="91440" marR="91440" marT="36576" marB="36576" anchor="ctr">
                    <a:lnL w="9525">
                      <a:noFill/>
                    </a:lnL>
                    <a:lnR w="9525">
                      <a:noFill/>
                    </a:lnR>
                    <a:lnT w="9525">
                      <a:noFill/>
                    </a:lnT>
                    <a:lnB w="9525">
                      <a:solidFill>
                        <a:srgbClr val="DDE3EA"/>
                      </a:solidFill>
                    </a:lnB>
                    <a:solidFill>
                      <a:srgbClr val="FFFFFF"/>
                    </a:solidFill>
                  </a:tcPr>
                </a:tc>
              </a:tr>
              <a:tr h="512064">
                <a:tc>
                  <a:txBody>
                    <a:bodyPr wrap="square"/>
                    <a:lstStyle/>
                    <a:p>
                      <a:r>
                        <a:rPr sz="1250" b="1">
                          <a:solidFill>
                            <a:srgbClr val="1F2D3D"/>
                          </a:solidFill>
                          <a:latin typeface="Calibri"/>
                        </a:rPr>
                        <a:t>Trend projection, 120 min</a:t>
                      </a:r>
                    </a:p>
                  </a:txBody>
                  <a:tcPr marL="91440" marR="91440" marT="36576" marB="36576" anchor="ctr">
                    <a:lnL w="9525">
                      <a:noFill/>
                    </a:lnL>
                    <a:lnR w="9525">
                      <a:noFill/>
                    </a:lnR>
                    <a:lnT w="9525">
                      <a:noFill/>
                    </a:lnT>
                    <a:lnB w="9525">
                      <a:solidFill>
                        <a:srgbClr val="DDE3EA"/>
                      </a:solidFill>
                    </a:lnB>
                    <a:solidFill>
                      <a:srgbClr val="F3F5F9"/>
                    </a:solidFill>
                  </a:tcPr>
                </a:tc>
                <a:tc>
                  <a:txBody>
                    <a:bodyPr wrap="square"/>
                    <a:lstStyle/>
                    <a:p>
                      <a:r>
                        <a:rPr sz="1250" b="0">
                          <a:solidFill>
                            <a:srgbClr val="1F2D3D"/>
                          </a:solidFill>
                          <a:latin typeface="Calibri"/>
                        </a:rPr>
                        <a:t>CGM only</a:t>
                      </a:r>
                    </a:p>
                  </a:txBody>
                  <a:tcPr marL="91440" marR="91440" marT="36576" marB="36576" anchor="ctr">
                    <a:lnL w="9525">
                      <a:noFill/>
                    </a:lnL>
                    <a:lnR w="9525">
                      <a:noFill/>
                    </a:lnR>
                    <a:lnT w="9525">
                      <a:noFill/>
                    </a:lnT>
                    <a:lnB w="9525">
                      <a:solidFill>
                        <a:srgbClr val="DDE3EA"/>
                      </a:solidFill>
                    </a:lnB>
                    <a:solidFill>
                      <a:srgbClr val="F3F5F9"/>
                    </a:solidFill>
                  </a:tcPr>
                </a:tc>
                <a:tc>
                  <a:txBody>
                    <a:bodyPr wrap="square"/>
                    <a:lstStyle/>
                    <a:p>
                      <a:pPr algn="ctr"/>
                      <a:r>
                        <a:rPr sz="1250" b="0">
                          <a:solidFill>
                            <a:srgbClr val="1F2D3D"/>
                          </a:solidFill>
                          <a:latin typeface="Calibri"/>
                        </a:rPr>
                        <a:t>81.5%</a:t>
                      </a:r>
                    </a:p>
                  </a:txBody>
                  <a:tcPr marL="91440" marR="91440" marT="36576" marB="36576" anchor="ctr">
                    <a:lnL w="9525">
                      <a:noFill/>
                    </a:lnL>
                    <a:lnR w="9525">
                      <a:noFill/>
                    </a:lnR>
                    <a:lnT w="9525">
                      <a:noFill/>
                    </a:lnT>
                    <a:lnB w="9525">
                      <a:solidFill>
                        <a:srgbClr val="DDE3EA"/>
                      </a:solidFill>
                    </a:lnB>
                    <a:solidFill>
                      <a:srgbClr val="F3F5F9"/>
                    </a:solidFill>
                  </a:tcPr>
                </a:tc>
                <a:tc>
                  <a:txBody>
                    <a:bodyPr wrap="square"/>
                    <a:lstStyle/>
                    <a:p>
                      <a:pPr algn="ctr"/>
                      <a:r>
                        <a:rPr sz="1250" b="0">
                          <a:solidFill>
                            <a:srgbClr val="1F2D3D"/>
                          </a:solidFill>
                          <a:latin typeface="Calibri"/>
                        </a:rPr>
                        <a:t>34.5%</a:t>
                      </a:r>
                    </a:p>
                  </a:txBody>
                  <a:tcPr marL="91440" marR="91440" marT="36576" marB="36576" anchor="ctr">
                    <a:lnL w="9525">
                      <a:noFill/>
                    </a:lnL>
                    <a:lnR w="9525">
                      <a:noFill/>
                    </a:lnR>
                    <a:lnT w="9525">
                      <a:noFill/>
                    </a:lnT>
                    <a:lnB w="9525">
                      <a:solidFill>
                        <a:srgbClr val="DDE3EA"/>
                      </a:solidFill>
                    </a:lnB>
                    <a:solidFill>
                      <a:srgbClr val="F3F5F9"/>
                    </a:solidFill>
                  </a:tcPr>
                </a:tc>
                <a:tc>
                  <a:txBody>
                    <a:bodyPr wrap="square"/>
                    <a:lstStyle/>
                    <a:p>
                      <a:pPr algn="ctr"/>
                      <a:r>
                        <a:rPr sz="1250" b="0">
                          <a:solidFill>
                            <a:srgbClr val="1F2D3D"/>
                          </a:solidFill>
                          <a:latin typeface="Calibri"/>
                        </a:rPr>
                        <a:t>3.86</a:t>
                      </a:r>
                    </a:p>
                  </a:txBody>
                  <a:tcPr marL="91440" marR="91440" marT="36576" marB="36576" anchor="ctr">
                    <a:lnL w="9525">
                      <a:noFill/>
                    </a:lnL>
                    <a:lnR w="9525">
                      <a:noFill/>
                    </a:lnR>
                    <a:lnT w="9525">
                      <a:noFill/>
                    </a:lnT>
                    <a:lnB w="9525">
                      <a:solidFill>
                        <a:srgbClr val="DDE3EA"/>
                      </a:solidFill>
                    </a:lnB>
                    <a:solidFill>
                      <a:srgbClr val="F3F5F9"/>
                    </a:solidFill>
                  </a:tcPr>
                </a:tc>
                <a:tc>
                  <a:txBody>
                    <a:bodyPr wrap="square"/>
                    <a:lstStyle/>
                    <a:p>
                      <a:pPr algn="ctr"/>
                      <a:r>
                        <a:rPr sz="1250" b="0">
                          <a:solidFill>
                            <a:srgbClr val="1F2D3D"/>
                          </a:solidFill>
                          <a:latin typeface="Calibri"/>
                        </a:rPr>
                        <a:t>45 min</a:t>
                      </a:r>
                    </a:p>
                  </a:txBody>
                  <a:tcPr marL="91440" marR="91440" marT="36576" marB="36576" anchor="ctr">
                    <a:lnL w="9525">
                      <a:noFill/>
                    </a:lnL>
                    <a:lnR w="9525">
                      <a:noFill/>
                    </a:lnR>
                    <a:lnT w="9525">
                      <a:noFill/>
                    </a:lnT>
                    <a:lnB w="9525">
                      <a:solidFill>
                        <a:srgbClr val="DDE3EA"/>
                      </a:solidFill>
                    </a:lnB>
                    <a:solidFill>
                      <a:srgbClr val="F3F5F9"/>
                    </a:solidFill>
                  </a:tcPr>
                </a:tc>
              </a:tr>
              <a:tr h="512064">
                <a:tc>
                  <a:txBody>
                    <a:bodyPr wrap="square"/>
                    <a:lstStyle/>
                    <a:p>
                      <a:r>
                        <a:rPr sz="1250" b="1">
                          <a:solidFill>
                            <a:srgbClr val="1F2D3D"/>
                          </a:solidFill>
                          <a:latin typeface="Calibri"/>
                        </a:rPr>
                        <a:t>Big-meal rule, ≥ 40 g carbs</a:t>
                      </a:r>
                    </a:p>
                  </a:txBody>
                  <a:tcPr marL="91440" marR="91440" marT="36576" marB="36576" anchor="ctr">
                    <a:lnL w="9525">
                      <a:noFill/>
                    </a:lnL>
                    <a:lnR w="9525">
                      <a:noFill/>
                    </a:lnR>
                    <a:lnT w="9525">
                      <a:noFill/>
                    </a:lnT>
                    <a:lnB w="9525">
                      <a:solidFill>
                        <a:srgbClr val="DDE3EA"/>
                      </a:solidFill>
                    </a:lnB>
                    <a:solidFill>
                      <a:srgbClr val="FFFFFF"/>
                    </a:solidFill>
                  </a:tcPr>
                </a:tc>
                <a:tc>
                  <a:txBody>
                    <a:bodyPr wrap="square"/>
                    <a:lstStyle/>
                    <a:p>
                      <a:r>
                        <a:rPr sz="1250" b="0">
                          <a:solidFill>
                            <a:srgbClr val="1F2D3D"/>
                          </a:solidFill>
                          <a:latin typeface="Calibri"/>
                        </a:rPr>
                        <a:t>Meal log only</a:t>
                      </a:r>
                    </a:p>
                  </a:txBody>
                  <a:tcPr marL="91440" marR="91440" marT="36576" marB="36576" anchor="ctr">
                    <a:lnL w="9525">
                      <a:noFill/>
                    </a:lnL>
                    <a:lnR w="9525">
                      <a:noFill/>
                    </a:lnR>
                    <a:lnT w="9525">
                      <a:noFill/>
                    </a:lnT>
                    <a:lnB w="9525">
                      <a:solidFill>
                        <a:srgbClr val="DDE3EA"/>
                      </a:solidFill>
                    </a:lnB>
                    <a:solidFill>
                      <a:srgbClr val="FFFFFF"/>
                    </a:solidFill>
                  </a:tcPr>
                </a:tc>
                <a:tc>
                  <a:txBody>
                    <a:bodyPr wrap="square"/>
                    <a:lstStyle/>
                    <a:p>
                      <a:pPr algn="ctr"/>
                      <a:r>
                        <a:rPr sz="1250" b="0">
                          <a:solidFill>
                            <a:srgbClr val="1F2D3D"/>
                          </a:solidFill>
                          <a:latin typeface="Calibri"/>
                        </a:rPr>
                        <a:t>56.7%</a:t>
                      </a:r>
                    </a:p>
                  </a:txBody>
                  <a:tcPr marL="91440" marR="91440" marT="36576" marB="36576" anchor="ctr">
                    <a:lnL w="9525">
                      <a:noFill/>
                    </a:lnL>
                    <a:lnR w="9525">
                      <a:noFill/>
                    </a:lnR>
                    <a:lnT w="9525">
                      <a:noFill/>
                    </a:lnT>
                    <a:lnB w="9525">
                      <a:solidFill>
                        <a:srgbClr val="DDE3EA"/>
                      </a:solidFill>
                    </a:lnB>
                    <a:solidFill>
                      <a:srgbClr val="FFFFFF"/>
                    </a:solidFill>
                  </a:tcPr>
                </a:tc>
                <a:tc>
                  <a:txBody>
                    <a:bodyPr wrap="square"/>
                    <a:lstStyle/>
                    <a:p>
                      <a:pPr algn="ctr"/>
                      <a:r>
                        <a:rPr sz="1250" b="0">
                          <a:solidFill>
                            <a:srgbClr val="1F2D3D"/>
                          </a:solidFill>
                          <a:latin typeface="Calibri"/>
                        </a:rPr>
                        <a:t>58.5%</a:t>
                      </a:r>
                    </a:p>
                  </a:txBody>
                  <a:tcPr marL="91440" marR="91440" marT="36576" marB="36576" anchor="ctr">
                    <a:lnL w="9525">
                      <a:noFill/>
                    </a:lnL>
                    <a:lnR w="9525">
                      <a:noFill/>
                    </a:lnR>
                    <a:lnT w="9525">
                      <a:noFill/>
                    </a:lnT>
                    <a:lnB w="9525">
                      <a:solidFill>
                        <a:srgbClr val="DDE3EA"/>
                      </a:solidFill>
                    </a:lnB>
                    <a:solidFill>
                      <a:srgbClr val="FFFFFF"/>
                    </a:solidFill>
                  </a:tcPr>
                </a:tc>
                <a:tc>
                  <a:txBody>
                    <a:bodyPr wrap="square"/>
                    <a:lstStyle/>
                    <a:p>
                      <a:pPr algn="ctr"/>
                      <a:r>
                        <a:rPr sz="1250" b="0">
                          <a:solidFill>
                            <a:srgbClr val="1F2D3D"/>
                          </a:solidFill>
                          <a:latin typeface="Calibri"/>
                        </a:rPr>
                        <a:t>0.77</a:t>
                      </a:r>
                    </a:p>
                  </a:txBody>
                  <a:tcPr marL="91440" marR="91440" marT="36576" marB="36576" anchor="ctr">
                    <a:lnL w="9525">
                      <a:noFill/>
                    </a:lnL>
                    <a:lnR w="9525">
                      <a:noFill/>
                    </a:lnR>
                    <a:lnT w="9525">
                      <a:noFill/>
                    </a:lnT>
                    <a:lnB w="9525">
                      <a:solidFill>
                        <a:srgbClr val="DDE3EA"/>
                      </a:solidFill>
                    </a:lnB>
                    <a:solidFill>
                      <a:srgbClr val="FFFFFF"/>
                    </a:solidFill>
                  </a:tcPr>
                </a:tc>
                <a:tc>
                  <a:txBody>
                    <a:bodyPr wrap="square"/>
                    <a:lstStyle/>
                    <a:p>
                      <a:pPr algn="ctr"/>
                      <a:r>
                        <a:rPr sz="1250" b="0">
                          <a:solidFill>
                            <a:srgbClr val="1F2D3D"/>
                          </a:solidFill>
                          <a:latin typeface="Calibri"/>
                        </a:rPr>
                        <a:t>30 min</a:t>
                      </a:r>
                    </a:p>
                  </a:txBody>
                  <a:tcPr marL="91440" marR="91440" marT="36576" marB="36576" anchor="ctr">
                    <a:lnL w="9525">
                      <a:noFill/>
                    </a:lnL>
                    <a:lnR w="9525">
                      <a:noFill/>
                    </a:lnR>
                    <a:lnT w="9525">
                      <a:noFill/>
                    </a:lnT>
                    <a:lnB w="9525">
                      <a:solidFill>
                        <a:srgbClr val="DDE3EA"/>
                      </a:solidFill>
                    </a:lnB>
                    <a:solidFill>
                      <a:srgbClr val="FFFFFF"/>
                    </a:solidFill>
                  </a:tcPr>
                </a:tc>
              </a:tr>
            </a:tbl>
          </a:graphicData>
        </a:graphic>
      </p:graphicFrame>
      <p:sp>
        <p:nvSpPr>
          <p:cNvPr id="11" name="TextBox 10"/>
          <p:cNvSpPr txBox="1"/>
          <p:nvPr/>
        </p:nvSpPr>
        <p:spPr>
          <a:xfrm>
            <a:off x="548640" y="4663440"/>
            <a:ext cx="7315200" cy="274320"/>
          </a:xfrm>
          <a:prstGeom prst="rect">
            <a:avLst/>
          </a:prstGeom>
          <a:noFill/>
        </p:spPr>
        <p:txBody>
          <a:bodyPr wrap="square" lIns="0" rIns="0" tIns="0" bIns="0" anchor="t">
            <a:spAutoFit/>
          </a:bodyPr>
          <a:lstStyle/>
          <a:p>
            <a:pPr algn="l">
              <a:spcAft>
                <a:spcPts val="0"/>
              </a:spcAft>
            </a:pPr>
            <a:r>
              <a:rPr sz="1100" b="0" i="0">
                <a:solidFill>
                  <a:srgbClr val="5B6675"/>
                </a:solidFill>
                <a:latin typeface="Calibri"/>
              </a:rPr>
              <a:t>Catches = share of spikes warned in the 2 hours before.  Right = share of alerts followed by a spike.</a:t>
            </a:r>
          </a:p>
        </p:txBody>
      </p:sp>
      <p:sp>
        <p:nvSpPr>
          <p:cNvPr id="12" name="Rectangle 11"/>
          <p:cNvSpPr/>
          <p:nvPr/>
        </p:nvSpPr>
        <p:spPr>
          <a:xfrm>
            <a:off x="8183879" y="1600200"/>
            <a:ext cx="3456432" cy="969264"/>
          </a:xfrm>
          <a:prstGeom prst="rect">
            <a:avLst/>
          </a:prstGeom>
          <a:solidFill>
            <a:srgbClr val="F3F5F9"/>
          </a:solidFill>
          <a:ln>
            <a:noFill/>
          </a:ln>
        </p:spPr>
        <p:txBody>
          <a:bodyPr rtlCol="0" anchor="ctr"/>
          <a:lstStyle/>
          <a:p>
            <a:pPr algn="ctr"/>
          </a:p>
        </p:txBody>
      </p:sp>
      <p:sp>
        <p:nvSpPr>
          <p:cNvPr id="13" name="Rectangle 12"/>
          <p:cNvSpPr/>
          <p:nvPr/>
        </p:nvSpPr>
        <p:spPr>
          <a:xfrm>
            <a:off x="8183879" y="1600200"/>
            <a:ext cx="64008" cy="969264"/>
          </a:xfrm>
          <a:prstGeom prst="rect">
            <a:avLst/>
          </a:prstGeom>
          <a:solidFill>
            <a:srgbClr val="1A8F7A"/>
          </a:solidFill>
          <a:ln>
            <a:noFill/>
          </a:ln>
        </p:spPr>
        <p:txBody>
          <a:bodyPr rtlCol="0" anchor="ctr"/>
          <a:lstStyle/>
          <a:p>
            <a:pPr algn="ctr"/>
          </a:p>
        </p:txBody>
      </p:sp>
      <p:sp>
        <p:nvSpPr>
          <p:cNvPr id="14" name="TextBox 13"/>
          <p:cNvSpPr txBox="1"/>
          <p:nvPr/>
        </p:nvSpPr>
        <p:spPr>
          <a:xfrm>
            <a:off x="8385048" y="1691640"/>
            <a:ext cx="3154680" cy="457200"/>
          </a:xfrm>
          <a:prstGeom prst="rect">
            <a:avLst/>
          </a:prstGeom>
          <a:noFill/>
        </p:spPr>
        <p:txBody>
          <a:bodyPr wrap="square" lIns="0" rIns="0" tIns="0" bIns="0" anchor="t">
            <a:spAutoFit/>
          </a:bodyPr>
          <a:lstStyle/>
          <a:p>
            <a:pPr algn="l">
              <a:spcAft>
                <a:spcPts val="0"/>
              </a:spcAft>
            </a:pPr>
            <a:r>
              <a:rPr sz="2600" b="1" i="0">
                <a:solidFill>
                  <a:srgbClr val="1A8F7A"/>
                </a:solidFill>
                <a:latin typeface="Calibri"/>
              </a:rPr>
              <a:t>0.638</a:t>
            </a:r>
          </a:p>
        </p:txBody>
      </p:sp>
      <p:sp>
        <p:nvSpPr>
          <p:cNvPr id="15" name="TextBox 14"/>
          <p:cNvSpPr txBox="1"/>
          <p:nvPr/>
        </p:nvSpPr>
        <p:spPr>
          <a:xfrm>
            <a:off x="8385048" y="2103120"/>
            <a:ext cx="3154680" cy="457200"/>
          </a:xfrm>
          <a:prstGeom prst="rect">
            <a:avLst/>
          </a:prstGeom>
          <a:noFill/>
        </p:spPr>
        <p:txBody>
          <a:bodyPr wrap="square" lIns="0" rIns="0" tIns="0" bIns="0" anchor="t">
            <a:spAutoFit/>
          </a:bodyPr>
          <a:lstStyle/>
          <a:p>
            <a:pPr algn="l">
              <a:spcAft>
                <a:spcPts val="0"/>
              </a:spcAft>
            </a:pPr>
            <a:r>
              <a:rPr sz="1150" b="0" i="0">
                <a:solidFill>
                  <a:srgbClr val="1F2D3D"/>
                </a:solidFill>
                <a:latin typeface="Calibri"/>
              </a:rPr>
              <a:t>F1, level with the 60-min trend projection (0.637), which raises 2.8× the false alerts</a:t>
            </a:r>
          </a:p>
        </p:txBody>
      </p:sp>
      <p:sp>
        <p:nvSpPr>
          <p:cNvPr id="16" name="Rectangle 15"/>
          <p:cNvSpPr/>
          <p:nvPr/>
        </p:nvSpPr>
        <p:spPr>
          <a:xfrm>
            <a:off x="8183879" y="2679191"/>
            <a:ext cx="3456432" cy="969264"/>
          </a:xfrm>
          <a:prstGeom prst="rect">
            <a:avLst/>
          </a:prstGeom>
          <a:solidFill>
            <a:srgbClr val="F3F5F9"/>
          </a:solidFill>
          <a:ln>
            <a:noFill/>
          </a:ln>
        </p:spPr>
        <p:txBody>
          <a:bodyPr rtlCol="0" anchor="ctr"/>
          <a:lstStyle/>
          <a:p>
            <a:pPr algn="ctr"/>
          </a:p>
        </p:txBody>
      </p:sp>
      <p:sp>
        <p:nvSpPr>
          <p:cNvPr id="17" name="Rectangle 16"/>
          <p:cNvSpPr/>
          <p:nvPr/>
        </p:nvSpPr>
        <p:spPr>
          <a:xfrm>
            <a:off x="8183879" y="2679191"/>
            <a:ext cx="64008" cy="969264"/>
          </a:xfrm>
          <a:prstGeom prst="rect">
            <a:avLst/>
          </a:prstGeom>
          <a:solidFill>
            <a:srgbClr val="1F3A5F"/>
          </a:solidFill>
          <a:ln>
            <a:noFill/>
          </a:ln>
        </p:spPr>
        <p:txBody>
          <a:bodyPr rtlCol="0" anchor="ctr"/>
          <a:lstStyle/>
          <a:p>
            <a:pPr algn="ctr"/>
          </a:p>
        </p:txBody>
      </p:sp>
      <p:sp>
        <p:nvSpPr>
          <p:cNvPr id="18" name="TextBox 17"/>
          <p:cNvSpPr txBox="1"/>
          <p:nvPr/>
        </p:nvSpPr>
        <p:spPr>
          <a:xfrm>
            <a:off x="8385048" y="2770632"/>
            <a:ext cx="3154680" cy="457200"/>
          </a:xfrm>
          <a:prstGeom prst="rect">
            <a:avLst/>
          </a:prstGeom>
          <a:noFill/>
        </p:spPr>
        <p:txBody>
          <a:bodyPr wrap="square" lIns="0" rIns="0" tIns="0" bIns="0" anchor="t">
            <a:spAutoFit/>
          </a:bodyPr>
          <a:lstStyle/>
          <a:p>
            <a:pPr algn="l">
              <a:spcAft>
                <a:spcPts val="0"/>
              </a:spcAft>
            </a:pPr>
            <a:r>
              <a:rPr sz="2600" b="1" i="0">
                <a:solidFill>
                  <a:srgbClr val="1F3A5F"/>
                </a:solidFill>
                <a:latin typeface="Calibri"/>
              </a:rPr>
              <a:t>3–5×</a:t>
            </a:r>
          </a:p>
        </p:txBody>
      </p:sp>
      <p:sp>
        <p:nvSpPr>
          <p:cNvPr id="19" name="TextBox 18"/>
          <p:cNvSpPr txBox="1"/>
          <p:nvPr/>
        </p:nvSpPr>
        <p:spPr>
          <a:xfrm>
            <a:off x="8385048" y="3182111"/>
            <a:ext cx="3154680" cy="457200"/>
          </a:xfrm>
          <a:prstGeom prst="rect">
            <a:avLst/>
          </a:prstGeom>
          <a:noFill/>
        </p:spPr>
        <p:txBody>
          <a:bodyPr wrap="square" lIns="0" rIns="0" tIns="0" bIns="0" anchor="t">
            <a:spAutoFit/>
          </a:bodyPr>
          <a:lstStyle/>
          <a:p>
            <a:pPr algn="l">
              <a:spcAft>
                <a:spcPts val="0"/>
              </a:spcAft>
            </a:pPr>
            <a:r>
              <a:rPr sz="1150" b="0" i="0">
                <a:solidFill>
                  <a:srgbClr val="1F2D3D"/>
                </a:solidFill>
                <a:latin typeface="Calibri"/>
              </a:rPr>
              <a:t>fewer false alerts than CGM trend projections (0.75 vs 2.1–3.9 a day)</a:t>
            </a:r>
          </a:p>
        </p:txBody>
      </p:sp>
      <p:sp>
        <p:nvSpPr>
          <p:cNvPr id="20" name="Rectangle 19"/>
          <p:cNvSpPr/>
          <p:nvPr/>
        </p:nvSpPr>
        <p:spPr>
          <a:xfrm>
            <a:off x="8183879" y="3758183"/>
            <a:ext cx="3456432" cy="969264"/>
          </a:xfrm>
          <a:prstGeom prst="rect">
            <a:avLst/>
          </a:prstGeom>
          <a:solidFill>
            <a:srgbClr val="F3F5F9"/>
          </a:solidFill>
          <a:ln>
            <a:noFill/>
          </a:ln>
        </p:spPr>
        <p:txBody>
          <a:bodyPr rtlCol="0" anchor="ctr"/>
          <a:lstStyle/>
          <a:p>
            <a:pPr algn="ctr"/>
          </a:p>
        </p:txBody>
      </p:sp>
      <p:sp>
        <p:nvSpPr>
          <p:cNvPr id="21" name="Rectangle 20"/>
          <p:cNvSpPr/>
          <p:nvPr/>
        </p:nvSpPr>
        <p:spPr>
          <a:xfrm>
            <a:off x="8183879" y="3758183"/>
            <a:ext cx="64008" cy="969264"/>
          </a:xfrm>
          <a:prstGeom prst="rect">
            <a:avLst/>
          </a:prstGeom>
          <a:solidFill>
            <a:srgbClr val="1A8F7A"/>
          </a:solidFill>
          <a:ln>
            <a:noFill/>
          </a:ln>
        </p:spPr>
        <p:txBody>
          <a:bodyPr rtlCol="0" anchor="ctr"/>
          <a:lstStyle/>
          <a:p>
            <a:pPr algn="ctr"/>
          </a:p>
        </p:txBody>
      </p:sp>
      <p:sp>
        <p:nvSpPr>
          <p:cNvPr id="22" name="TextBox 21"/>
          <p:cNvSpPr txBox="1"/>
          <p:nvPr/>
        </p:nvSpPr>
        <p:spPr>
          <a:xfrm>
            <a:off x="8385048" y="3849623"/>
            <a:ext cx="3154680" cy="457200"/>
          </a:xfrm>
          <a:prstGeom prst="rect">
            <a:avLst/>
          </a:prstGeom>
          <a:noFill/>
        </p:spPr>
        <p:txBody>
          <a:bodyPr wrap="square" lIns="0" rIns="0" tIns="0" bIns="0" anchor="t">
            <a:spAutoFit/>
          </a:bodyPr>
          <a:lstStyle/>
          <a:p>
            <a:pPr algn="l">
              <a:spcAft>
                <a:spcPts val="0"/>
              </a:spcAft>
            </a:pPr>
            <a:r>
              <a:rPr sz="2600" b="1" i="0">
                <a:solidFill>
                  <a:srgbClr val="1A8F7A"/>
                </a:solidFill>
                <a:latin typeface="Calibri"/>
              </a:rPr>
              <a:t>2.5×</a:t>
            </a:r>
          </a:p>
        </p:txBody>
      </p:sp>
      <p:sp>
        <p:nvSpPr>
          <p:cNvPr id="23" name="TextBox 22"/>
          <p:cNvSpPr txBox="1"/>
          <p:nvPr/>
        </p:nvSpPr>
        <p:spPr>
          <a:xfrm>
            <a:off x="8385048" y="4261103"/>
            <a:ext cx="3154680" cy="457200"/>
          </a:xfrm>
          <a:prstGeom prst="rect">
            <a:avLst/>
          </a:prstGeom>
          <a:noFill/>
        </p:spPr>
        <p:txBody>
          <a:bodyPr wrap="square" lIns="0" rIns="0" tIns="0" bIns="0" anchor="t">
            <a:spAutoFit/>
          </a:bodyPr>
          <a:lstStyle/>
          <a:p>
            <a:pPr algn="l">
              <a:spcAft>
                <a:spcPts val="0"/>
              </a:spcAft>
            </a:pPr>
            <a:r>
              <a:rPr sz="1150" b="0" i="0">
                <a:solidFill>
                  <a:srgbClr val="1F2D3D"/>
                </a:solidFill>
                <a:latin typeface="Calibri"/>
              </a:rPr>
              <a:t>the spikes a CGM rise-rate alarm catches, and 100 min earlier</a:t>
            </a:r>
          </a:p>
        </p:txBody>
      </p:sp>
      <p:sp>
        <p:nvSpPr>
          <p:cNvPr id="24" name="Rectangle 23"/>
          <p:cNvSpPr/>
          <p:nvPr/>
        </p:nvSpPr>
        <p:spPr>
          <a:xfrm>
            <a:off x="548640" y="5074920"/>
            <a:ext cx="11091672" cy="1143000"/>
          </a:xfrm>
          <a:prstGeom prst="rect">
            <a:avLst/>
          </a:prstGeom>
          <a:solidFill>
            <a:srgbClr val="FFF4E6"/>
          </a:solidFill>
          <a:ln>
            <a:noFill/>
          </a:ln>
        </p:spPr>
        <p:txBody>
          <a:bodyPr rtlCol="0" anchor="ctr"/>
          <a:lstStyle/>
          <a:p>
            <a:pPr algn="ctr"/>
          </a:p>
        </p:txBody>
      </p:sp>
      <p:sp>
        <p:nvSpPr>
          <p:cNvPr id="25" name="TextBox 24"/>
          <p:cNvSpPr txBox="1"/>
          <p:nvPr/>
        </p:nvSpPr>
        <p:spPr>
          <a:xfrm>
            <a:off x="777240" y="5166360"/>
            <a:ext cx="10634472" cy="1005840"/>
          </a:xfrm>
          <a:prstGeom prst="rect">
            <a:avLst/>
          </a:prstGeom>
          <a:noFill/>
        </p:spPr>
        <p:txBody>
          <a:bodyPr wrap="square" lIns="0" rIns="0" tIns="0" bIns="0" anchor="t">
            <a:spAutoFit/>
          </a:bodyPr>
          <a:lstStyle/>
          <a:p>
            <a:pPr algn="l">
              <a:spcAft>
                <a:spcPts val="400"/>
              </a:spcAft>
            </a:pPr>
            <a:r>
              <a:rPr sz="1300" b="1" i="0">
                <a:solidFill>
                  <a:srgbClr val="E07B22"/>
                </a:solidFill>
                <a:latin typeface="Calibri"/>
              </a:rPr>
              <a:t>Warning time: </a:t>
            </a:r>
            <a:r>
              <a:rPr sz="1300" b="0" i="0">
                <a:solidFill>
                  <a:srgbClr val="1F2D3D"/>
                </a:solidFill>
                <a:latin typeface="Calibri"/>
              </a:rPr>
              <a:t>median 105 min. 109 of 254 spikes were warned 60+ min ahead and 33 a full 2 hours, because spike risk includes the habitual next meal. CGM trend projections warn at most 45 min ahead, with 3–5× the false alarms.</a:t>
            </a:r>
          </a:p>
          <a:p>
            <a:pPr algn="l">
              <a:spcAft>
                <a:spcPts val="0"/>
              </a:spcAft>
            </a:pPr>
            <a:r>
              <a:rPr sz="1300" b="1" i="0">
                <a:solidFill>
                  <a:srgbClr val="E07B22"/>
                </a:solidFill>
                <a:latin typeface="Calibri"/>
              </a:rPr>
              <a:t>Risk numbers: </a:t>
            </a:r>
            <a:r>
              <a:rPr sz="1300" b="0" i="0">
                <a:solidFill>
                  <a:srgbClr val="1F2D3D"/>
                </a:solidFill>
                <a:latin typeface="Calibri"/>
              </a:rPr>
              <a:t>when the twin showed a spike risk of 95% or more, a spike followed 95.6% of the time (2,544 steps). Brier skill 0.61.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band"/>
          <p:cNvSpPr/>
          <p:nvPr/>
        </p:nvSpPr>
        <p:spPr>
          <a:xfrm>
            <a:off x="0" y="0"/>
            <a:ext cx="12191695" cy="82296"/>
          </a:xfrm>
          <a:prstGeom prst="rect">
            <a:avLst/>
          </a:prstGeom>
          <a:solidFill>
            <a:srgbClr val="1F3A5F"/>
          </a:solidFill>
          <a:ln>
            <a:noFill/>
          </a:ln>
        </p:spPr>
        <p:txBody>
          <a:bodyPr rtlCol="0" anchor="ctr"/>
          <a:lstStyle/>
          <a:p>
            <a:pPr algn="ctr"/>
          </a:p>
        </p:txBody>
      </p:sp>
      <p:sp>
        <p:nvSpPr>
          <p:cNvPr id="3" name="Top accent"/>
          <p:cNvSpPr/>
          <p:nvPr/>
        </p:nvSpPr>
        <p:spPr>
          <a:xfrm>
            <a:off x="0" y="82296"/>
            <a:ext cx="2011680" cy="45720"/>
          </a:xfrm>
          <a:prstGeom prst="rect">
            <a:avLst/>
          </a:prstGeom>
          <a:solidFill>
            <a:srgbClr val="E07B22"/>
          </a:solidFill>
          <a:ln>
            <a:noFill/>
          </a:ln>
        </p:spPr>
        <p:txBody>
          <a:bodyPr rtlCol="0" anchor="ctr"/>
          <a:lstStyle/>
          <a:p>
            <a:pPr algn="ctr"/>
          </a:p>
        </p:txBody>
      </p:sp>
      <p:sp>
        <p:nvSpPr>
          <p:cNvPr id="4" name="Kicker"/>
          <p:cNvSpPr txBox="1"/>
          <p:nvPr/>
        </p:nvSpPr>
        <p:spPr>
          <a:xfrm>
            <a:off x="548640" y="329184"/>
            <a:ext cx="11091672" cy="237744"/>
          </a:xfrm>
          <a:prstGeom prst="rect">
            <a:avLst/>
          </a:prstGeom>
          <a:noFill/>
        </p:spPr>
        <p:txBody>
          <a:bodyPr wrap="square" lIns="0" rIns="0" tIns="0" bIns="0" anchor="t">
            <a:spAutoFit/>
          </a:bodyPr>
          <a:lstStyle/>
          <a:p>
            <a:pPr algn="l">
              <a:spcAft>
                <a:spcPts val="0"/>
              </a:spcAft>
            </a:pPr>
            <a:r>
              <a:rPr sz="1200" b="1" i="0">
                <a:solidFill>
                  <a:srgbClr val="E07B22"/>
                </a:solidFill>
                <a:latin typeface="Calibri"/>
              </a:rPr>
              <a:t>8 · USERS &amp; CONTEXT</a:t>
            </a:r>
          </a:p>
        </p:txBody>
      </p:sp>
      <p:sp>
        <p:nvSpPr>
          <p:cNvPr id="5" name="Title"/>
          <p:cNvSpPr txBox="1"/>
          <p:nvPr/>
        </p:nvSpPr>
        <p:spPr>
          <a:xfrm>
            <a:off x="548640" y="566928"/>
            <a:ext cx="11091672" cy="566928"/>
          </a:xfrm>
          <a:prstGeom prst="rect">
            <a:avLst/>
          </a:prstGeom>
          <a:noFill/>
        </p:spPr>
        <p:txBody>
          <a:bodyPr wrap="square" lIns="0" rIns="0" tIns="0" bIns="0" anchor="t">
            <a:spAutoFit/>
          </a:bodyPr>
          <a:lstStyle/>
          <a:p>
            <a:pPr algn="l">
              <a:spcAft>
                <a:spcPts val="0"/>
              </a:spcAft>
            </a:pPr>
            <a:r>
              <a:rPr sz="3000" b="1" i="0">
                <a:solidFill>
                  <a:srgbClr val="1F3A5F"/>
                </a:solidFill>
                <a:latin typeface="Calibri"/>
              </a:rPr>
              <a:t>Built around the doctor who reviews the patient</a:t>
            </a:r>
          </a:p>
        </p:txBody>
      </p:sp>
      <p:cxnSp>
        <p:nvCxnSpPr>
          <p:cNvPr id="6" name="Footer rule"/>
          <p:cNvCxnSpPr/>
          <p:nvPr/>
        </p:nvCxnSpPr>
        <p:spPr>
          <a:xfrm>
            <a:off x="548640" y="6382512"/>
            <a:ext cx="11091672" cy="0"/>
          </a:xfrm>
          <a:prstGeom prst="line">
            <a:avLst/>
          </a:prstGeom>
          <a:ln w="9525">
            <a:solidFill>
              <a:srgbClr val="C9D1DC"/>
            </a:solidFill>
          </a:ln>
        </p:spPr>
        <p:style>
          <a:lnRef idx="2">
            <a:schemeClr val="accent1"/>
          </a:lnRef>
          <a:fillRef idx="0">
            <a:schemeClr val="accent1"/>
          </a:fillRef>
          <a:effectRef idx="1">
            <a:schemeClr val="accent1"/>
          </a:effectRef>
          <a:fontRef idx="minor">
            <a:schemeClr val="tx1"/>
          </a:fontRef>
        </p:style>
      </p:cxnSp>
      <p:sp>
        <p:nvSpPr>
          <p:cNvPr id="7" name="Sources"/>
          <p:cNvSpPr txBox="1"/>
          <p:nvPr/>
        </p:nvSpPr>
        <p:spPr>
          <a:xfrm>
            <a:off x="548640" y="6428232"/>
            <a:ext cx="10634472" cy="365760"/>
          </a:xfrm>
          <a:prstGeom prst="rect">
            <a:avLst/>
          </a:prstGeom>
          <a:noFill/>
        </p:spPr>
        <p:txBody>
          <a:bodyPr wrap="square" lIns="0" rIns="0" tIns="0" bIns="0" anchor="t">
            <a:spAutoFit/>
          </a:bodyPr>
          <a:lstStyle/>
          <a:p>
            <a:pPr algn="l">
              <a:spcAft>
                <a:spcPts val="0"/>
              </a:spcAft>
            </a:pPr>
            <a:r>
              <a:rPr sz="900" b="0" i="0">
                <a:solidFill>
                  <a:srgbClr val="5B6675"/>
                </a:solidFill>
                <a:latin typeface="Calibri"/>
              </a:rPr>
              <a:t>Sources: Anjana et al., Nature Medicine 2025 (62.3% carbohydrate energy); docs/CLUSTERS.md (approximate subgroup rule, not INSPIRED); PIB ABDM fact sheet, 6 Jul 2026; CGM cadence of one reading per 5 minutes.</a:t>
            </a:r>
          </a:p>
        </p:txBody>
      </p:sp>
      <p:sp>
        <p:nvSpPr>
          <p:cNvPr id="8" name="Page number"/>
          <p:cNvSpPr txBox="1"/>
          <p:nvPr/>
        </p:nvSpPr>
        <p:spPr>
          <a:xfrm>
            <a:off x="11274552" y="6446520"/>
            <a:ext cx="365760" cy="228600"/>
          </a:xfrm>
          <a:prstGeom prst="rect">
            <a:avLst/>
          </a:prstGeom>
          <a:noFill/>
        </p:spPr>
        <p:txBody>
          <a:bodyPr wrap="square" lIns="0" rIns="0" tIns="0" bIns="0" anchor="t">
            <a:spAutoFit/>
          </a:bodyPr>
          <a:lstStyle/>
          <a:p>
            <a:pPr algn="r">
              <a:spcAft>
                <a:spcPts val="0"/>
              </a:spcAft>
            </a:pPr>
            <a:r>
              <a:rPr sz="1100" b="1" i="0">
                <a:solidFill>
                  <a:srgbClr val="1F3A5F"/>
                </a:solidFill>
                <a:latin typeface="Calibri"/>
              </a:rPr>
              <a:t>8</a:t>
            </a:r>
          </a:p>
        </p:txBody>
      </p:sp>
      <p:sp>
        <p:nvSpPr>
          <p:cNvPr id="9" name="Rectangle 8"/>
          <p:cNvSpPr/>
          <p:nvPr/>
        </p:nvSpPr>
        <p:spPr>
          <a:xfrm>
            <a:off x="548640" y="1325880"/>
            <a:ext cx="3538728" cy="2743200"/>
          </a:xfrm>
          <a:prstGeom prst="rect">
            <a:avLst/>
          </a:prstGeom>
          <a:solidFill>
            <a:srgbClr val="F3F5F9"/>
          </a:solidFill>
          <a:ln>
            <a:noFill/>
          </a:ln>
        </p:spPr>
        <p:txBody>
          <a:bodyPr rtlCol="0" anchor="ctr"/>
          <a:lstStyle/>
          <a:p>
            <a:pPr algn="ctr"/>
          </a:p>
        </p:txBody>
      </p:sp>
      <p:sp>
        <p:nvSpPr>
          <p:cNvPr id="10" name="Rectangle 9"/>
          <p:cNvSpPr/>
          <p:nvPr/>
        </p:nvSpPr>
        <p:spPr>
          <a:xfrm>
            <a:off x="548640" y="1325880"/>
            <a:ext cx="3538728" cy="64008"/>
          </a:xfrm>
          <a:prstGeom prst="rect">
            <a:avLst/>
          </a:prstGeom>
          <a:solidFill>
            <a:srgbClr val="2F6DB5"/>
          </a:solidFill>
          <a:ln>
            <a:noFill/>
          </a:ln>
        </p:spPr>
        <p:txBody>
          <a:bodyPr rtlCol="0" anchor="ctr"/>
          <a:lstStyle/>
          <a:p>
            <a:pPr algn="ctr"/>
          </a:p>
        </p:txBody>
      </p:sp>
      <p:sp>
        <p:nvSpPr>
          <p:cNvPr id="11" name="TextBox 10"/>
          <p:cNvSpPr txBox="1"/>
          <p:nvPr/>
        </p:nvSpPr>
        <p:spPr>
          <a:xfrm>
            <a:off x="749808" y="1508760"/>
            <a:ext cx="3200400" cy="228600"/>
          </a:xfrm>
          <a:prstGeom prst="rect">
            <a:avLst/>
          </a:prstGeom>
          <a:noFill/>
        </p:spPr>
        <p:txBody>
          <a:bodyPr wrap="square" lIns="0" rIns="0" tIns="0" bIns="0" anchor="t">
            <a:spAutoFit/>
          </a:bodyPr>
          <a:lstStyle/>
          <a:p>
            <a:pPr algn="l">
              <a:spcAft>
                <a:spcPts val="0"/>
              </a:spcAft>
            </a:pPr>
            <a:r>
              <a:rPr sz="1100" b="1" i="0">
                <a:solidFill>
                  <a:srgbClr val="2F6DB5"/>
                </a:solidFill>
                <a:latin typeface="Calibri"/>
              </a:rPr>
              <a:t>PRIMARY</a:t>
            </a:r>
          </a:p>
        </p:txBody>
      </p:sp>
      <p:sp>
        <p:nvSpPr>
          <p:cNvPr id="12" name="TextBox 11"/>
          <p:cNvSpPr txBox="1"/>
          <p:nvPr/>
        </p:nvSpPr>
        <p:spPr>
          <a:xfrm>
            <a:off x="749808" y="1755648"/>
            <a:ext cx="3200400" cy="365760"/>
          </a:xfrm>
          <a:prstGeom prst="rect">
            <a:avLst/>
          </a:prstGeom>
          <a:noFill/>
        </p:spPr>
        <p:txBody>
          <a:bodyPr wrap="square" lIns="0" rIns="0" tIns="0" bIns="0" anchor="t">
            <a:spAutoFit/>
          </a:bodyPr>
          <a:lstStyle/>
          <a:p>
            <a:pPr algn="l">
              <a:spcAft>
                <a:spcPts val="0"/>
              </a:spcAft>
            </a:pPr>
            <a:r>
              <a:rPr sz="1700" b="1" i="0">
                <a:solidFill>
                  <a:srgbClr val="1F3A5F"/>
                </a:solidFill>
                <a:latin typeface="Calibri"/>
              </a:rPr>
              <a:t>Diabetologist / physician</a:t>
            </a:r>
          </a:p>
        </p:txBody>
      </p:sp>
      <p:sp>
        <p:nvSpPr>
          <p:cNvPr id="13" name="TextBox 12"/>
          <p:cNvSpPr txBox="1"/>
          <p:nvPr/>
        </p:nvSpPr>
        <p:spPr>
          <a:xfrm>
            <a:off x="749808" y="2212848"/>
            <a:ext cx="3154680" cy="1828800"/>
          </a:xfrm>
          <a:prstGeom prst="rect">
            <a:avLst/>
          </a:prstGeom>
          <a:noFill/>
        </p:spPr>
        <p:txBody>
          <a:bodyPr wrap="square" lIns="0" rIns="0" tIns="0" bIns="0" anchor="t">
            <a:spAutoFit/>
          </a:bodyPr>
          <a:lstStyle/>
          <a:p>
            <a:pPr algn="l" marL="182880" indent="-182880">
              <a:spcAft>
                <a:spcPts val="500"/>
              </a:spcAft>
              <a:buClr>
                <a:srgbClr val="2F6DB5"/>
              </a:buClr>
              <a:buFont typeface="Arial"/>
              <a:buChar char="•"/>
            </a:pPr>
            <a:r>
              <a:rPr sz="1350" b="0" i="0">
                <a:solidFill>
                  <a:srgbClr val="1F2D3D"/>
                </a:solidFill>
                <a:latin typeface="Calibri"/>
              </a:rPr>
              <a:t>Reviews CGM and labs between visits</a:t>
            </a:r>
          </a:p>
          <a:p>
            <a:pPr algn="l" marL="182880" indent="-182880">
              <a:spcAft>
                <a:spcPts val="500"/>
              </a:spcAft>
              <a:buClr>
                <a:srgbClr val="2F6DB5"/>
              </a:buClr>
              <a:buFont typeface="Arial"/>
              <a:buChar char="•"/>
            </a:pPr>
            <a:r>
              <a:rPr sz="1350" b="0" i="0">
                <a:solidFill>
                  <a:srgbClr val="1F2D3D"/>
                </a:solidFill>
                <a:latin typeface="Calibri"/>
              </a:rPr>
              <a:t>Wants: who to look at now, why, and what to try</a:t>
            </a:r>
          </a:p>
          <a:p>
            <a:pPr algn="l" marL="182880" indent="-182880">
              <a:spcAft>
                <a:spcPts val="500"/>
              </a:spcAft>
              <a:buClr>
                <a:srgbClr val="2F6DB5"/>
              </a:buClr>
              <a:buFont typeface="Arial"/>
              <a:buChar char="•"/>
            </a:pPr>
            <a:r>
              <a:rPr sz="1350" b="0" i="0">
                <a:solidFill>
                  <a:srgbClr val="1F2D3D"/>
                </a:solidFill>
                <a:latin typeface="Calibri"/>
              </a:rPr>
              <a:t>Works at a desktop; sees reasons, not black-box scores</a:t>
            </a:r>
          </a:p>
          <a:p>
            <a:pPr algn="l" marL="182880" indent="-182880">
              <a:spcAft>
                <a:spcPts val="500"/>
              </a:spcAft>
              <a:buClr>
                <a:srgbClr val="2F6DB5"/>
              </a:buClr>
              <a:buFont typeface="Arial"/>
              <a:buChar char="•"/>
            </a:pPr>
            <a:r>
              <a:rPr sz="1350" b="0" i="0">
                <a:solidFill>
                  <a:srgbClr val="1F2D3D"/>
                </a:solidFill>
                <a:latin typeface="Calibri"/>
              </a:rPr>
              <a:t>Decides; the twin never doses</a:t>
            </a:r>
          </a:p>
        </p:txBody>
      </p:sp>
      <p:sp>
        <p:nvSpPr>
          <p:cNvPr id="14" name="Rectangle 13"/>
          <p:cNvSpPr/>
          <p:nvPr/>
        </p:nvSpPr>
        <p:spPr>
          <a:xfrm>
            <a:off x="4325112" y="1325880"/>
            <a:ext cx="3538728" cy="2743200"/>
          </a:xfrm>
          <a:prstGeom prst="rect">
            <a:avLst/>
          </a:prstGeom>
          <a:solidFill>
            <a:srgbClr val="F3F5F9"/>
          </a:solidFill>
          <a:ln>
            <a:noFill/>
          </a:ln>
        </p:spPr>
        <p:txBody>
          <a:bodyPr rtlCol="0" anchor="ctr"/>
          <a:lstStyle/>
          <a:p>
            <a:pPr algn="ctr"/>
          </a:p>
        </p:txBody>
      </p:sp>
      <p:sp>
        <p:nvSpPr>
          <p:cNvPr id="15" name="Rectangle 14"/>
          <p:cNvSpPr/>
          <p:nvPr/>
        </p:nvSpPr>
        <p:spPr>
          <a:xfrm>
            <a:off x="4325112" y="1325880"/>
            <a:ext cx="3538728" cy="64008"/>
          </a:xfrm>
          <a:prstGeom prst="rect">
            <a:avLst/>
          </a:prstGeom>
          <a:solidFill>
            <a:srgbClr val="E07B22"/>
          </a:solidFill>
          <a:ln>
            <a:noFill/>
          </a:ln>
        </p:spPr>
        <p:txBody>
          <a:bodyPr rtlCol="0" anchor="ctr"/>
          <a:lstStyle/>
          <a:p>
            <a:pPr algn="ctr"/>
          </a:p>
        </p:txBody>
      </p:sp>
      <p:sp>
        <p:nvSpPr>
          <p:cNvPr id="16" name="TextBox 15"/>
          <p:cNvSpPr txBox="1"/>
          <p:nvPr/>
        </p:nvSpPr>
        <p:spPr>
          <a:xfrm>
            <a:off x="4526279" y="1508760"/>
            <a:ext cx="3200400" cy="228600"/>
          </a:xfrm>
          <a:prstGeom prst="rect">
            <a:avLst/>
          </a:prstGeom>
          <a:noFill/>
        </p:spPr>
        <p:txBody>
          <a:bodyPr wrap="square" lIns="0" rIns="0" tIns="0" bIns="0" anchor="t">
            <a:spAutoFit/>
          </a:bodyPr>
          <a:lstStyle/>
          <a:p>
            <a:pPr algn="l">
              <a:spcAft>
                <a:spcPts val="0"/>
              </a:spcAft>
            </a:pPr>
            <a:r>
              <a:rPr sz="1100" b="1" i="0">
                <a:solidFill>
                  <a:srgbClr val="E07B22"/>
                </a:solidFill>
                <a:latin typeface="Calibri"/>
              </a:rPr>
              <a:t>SECONDARY</a:t>
            </a:r>
          </a:p>
        </p:txBody>
      </p:sp>
      <p:sp>
        <p:nvSpPr>
          <p:cNvPr id="17" name="TextBox 16"/>
          <p:cNvSpPr txBox="1"/>
          <p:nvPr/>
        </p:nvSpPr>
        <p:spPr>
          <a:xfrm>
            <a:off x="4526279" y="1755648"/>
            <a:ext cx="3200400" cy="365760"/>
          </a:xfrm>
          <a:prstGeom prst="rect">
            <a:avLst/>
          </a:prstGeom>
          <a:noFill/>
        </p:spPr>
        <p:txBody>
          <a:bodyPr wrap="square" lIns="0" rIns="0" tIns="0" bIns="0" anchor="t">
            <a:spAutoFit/>
          </a:bodyPr>
          <a:lstStyle/>
          <a:p>
            <a:pPr algn="l">
              <a:spcAft>
                <a:spcPts val="0"/>
              </a:spcAft>
            </a:pPr>
            <a:r>
              <a:rPr sz="1700" b="1" i="0">
                <a:solidFill>
                  <a:srgbClr val="1F3A5F"/>
                </a:solidFill>
                <a:latin typeface="Calibri"/>
              </a:rPr>
              <a:t>Diabetes educator / care team</a:t>
            </a:r>
          </a:p>
        </p:txBody>
      </p:sp>
      <p:sp>
        <p:nvSpPr>
          <p:cNvPr id="18" name="TextBox 17"/>
          <p:cNvSpPr txBox="1"/>
          <p:nvPr/>
        </p:nvSpPr>
        <p:spPr>
          <a:xfrm>
            <a:off x="4526279" y="2212848"/>
            <a:ext cx="3154680" cy="1828800"/>
          </a:xfrm>
          <a:prstGeom prst="rect">
            <a:avLst/>
          </a:prstGeom>
          <a:noFill/>
        </p:spPr>
        <p:txBody>
          <a:bodyPr wrap="square" lIns="0" rIns="0" tIns="0" bIns="0" anchor="t">
            <a:spAutoFit/>
          </a:bodyPr>
          <a:lstStyle/>
          <a:p>
            <a:pPr algn="l" marL="182880" indent="-182880">
              <a:spcAft>
                <a:spcPts val="500"/>
              </a:spcAft>
              <a:buClr>
                <a:srgbClr val="E07B22"/>
              </a:buClr>
              <a:buFont typeface="Arial"/>
              <a:buChar char="•"/>
            </a:pPr>
            <a:r>
              <a:rPr sz="1350" b="0" i="0">
                <a:solidFill>
                  <a:srgbClr val="1F2D3D"/>
                </a:solidFill>
                <a:latin typeface="Calibri"/>
              </a:rPr>
              <a:t>Explains the chosen plan to the patient</a:t>
            </a:r>
          </a:p>
          <a:p>
            <a:pPr algn="l" marL="182880" indent="-182880">
              <a:spcAft>
                <a:spcPts val="500"/>
              </a:spcAft>
              <a:buClr>
                <a:srgbClr val="E07B22"/>
              </a:buClr>
              <a:buFont typeface="Arial"/>
              <a:buChar char="•"/>
            </a:pPr>
            <a:r>
              <a:rPr sz="1350" b="0" i="0">
                <a:solidFill>
                  <a:srgbClr val="1F2D3D"/>
                </a:solidFill>
                <a:latin typeface="Calibri"/>
              </a:rPr>
              <a:t>Follows up Urgent alerts and plan adherence</a:t>
            </a:r>
          </a:p>
          <a:p>
            <a:pPr algn="l" marL="182880" indent="-182880">
              <a:spcAft>
                <a:spcPts val="500"/>
              </a:spcAft>
              <a:buClr>
                <a:srgbClr val="E07B22"/>
              </a:buClr>
              <a:buFont typeface="Arial"/>
              <a:buChar char="•"/>
            </a:pPr>
            <a:r>
              <a:rPr sz="1350" b="0" i="0">
                <a:solidFill>
                  <a:srgbClr val="1F2D3D"/>
                </a:solidFill>
                <a:latin typeface="Calibri"/>
              </a:rPr>
              <a:t>Needs plain reasons and simple plan tables</a:t>
            </a:r>
          </a:p>
        </p:txBody>
      </p:sp>
      <p:sp>
        <p:nvSpPr>
          <p:cNvPr id="19" name="Rectangle 18"/>
          <p:cNvSpPr/>
          <p:nvPr/>
        </p:nvSpPr>
        <p:spPr>
          <a:xfrm>
            <a:off x="8101583" y="1325880"/>
            <a:ext cx="3538728" cy="2743200"/>
          </a:xfrm>
          <a:prstGeom prst="rect">
            <a:avLst/>
          </a:prstGeom>
          <a:solidFill>
            <a:srgbClr val="F3F5F9"/>
          </a:solidFill>
          <a:ln>
            <a:noFill/>
          </a:ln>
        </p:spPr>
        <p:txBody>
          <a:bodyPr rtlCol="0" anchor="ctr"/>
          <a:lstStyle/>
          <a:p>
            <a:pPr algn="ctr"/>
          </a:p>
        </p:txBody>
      </p:sp>
      <p:sp>
        <p:nvSpPr>
          <p:cNvPr id="20" name="Rectangle 19"/>
          <p:cNvSpPr/>
          <p:nvPr/>
        </p:nvSpPr>
        <p:spPr>
          <a:xfrm>
            <a:off x="8101583" y="1325880"/>
            <a:ext cx="3538728" cy="64008"/>
          </a:xfrm>
          <a:prstGeom prst="rect">
            <a:avLst/>
          </a:prstGeom>
          <a:solidFill>
            <a:srgbClr val="1A8F7A"/>
          </a:solidFill>
          <a:ln>
            <a:noFill/>
          </a:ln>
        </p:spPr>
        <p:txBody>
          <a:bodyPr rtlCol="0" anchor="ctr"/>
          <a:lstStyle/>
          <a:p>
            <a:pPr algn="ctr"/>
          </a:p>
        </p:txBody>
      </p:sp>
      <p:sp>
        <p:nvSpPr>
          <p:cNvPr id="21" name="TextBox 20"/>
          <p:cNvSpPr txBox="1"/>
          <p:nvPr/>
        </p:nvSpPr>
        <p:spPr>
          <a:xfrm>
            <a:off x="8302752" y="1508760"/>
            <a:ext cx="3200400" cy="228600"/>
          </a:xfrm>
          <a:prstGeom prst="rect">
            <a:avLst/>
          </a:prstGeom>
          <a:noFill/>
        </p:spPr>
        <p:txBody>
          <a:bodyPr wrap="square" lIns="0" rIns="0" tIns="0" bIns="0" anchor="t">
            <a:spAutoFit/>
          </a:bodyPr>
          <a:lstStyle/>
          <a:p>
            <a:pPr algn="l">
              <a:spcAft>
                <a:spcPts val="0"/>
              </a:spcAft>
            </a:pPr>
            <a:r>
              <a:rPr sz="1100" b="1" i="0">
                <a:solidFill>
                  <a:srgbClr val="1A8F7A"/>
                </a:solidFill>
                <a:latin typeface="Calibri"/>
              </a:rPr>
              <a:t>DATA OWNER</a:t>
            </a:r>
          </a:p>
        </p:txBody>
      </p:sp>
      <p:sp>
        <p:nvSpPr>
          <p:cNvPr id="22" name="TextBox 21"/>
          <p:cNvSpPr txBox="1"/>
          <p:nvPr/>
        </p:nvSpPr>
        <p:spPr>
          <a:xfrm>
            <a:off x="8302752" y="1755648"/>
            <a:ext cx="3200400" cy="365760"/>
          </a:xfrm>
          <a:prstGeom prst="rect">
            <a:avLst/>
          </a:prstGeom>
          <a:noFill/>
        </p:spPr>
        <p:txBody>
          <a:bodyPr wrap="square" lIns="0" rIns="0" tIns="0" bIns="0" anchor="t">
            <a:spAutoFit/>
          </a:bodyPr>
          <a:lstStyle/>
          <a:p>
            <a:pPr algn="l">
              <a:spcAft>
                <a:spcPts val="0"/>
              </a:spcAft>
            </a:pPr>
            <a:r>
              <a:rPr sz="1700" b="1" i="0">
                <a:solidFill>
                  <a:srgbClr val="1F3A5F"/>
                </a:solidFill>
                <a:latin typeface="Calibri"/>
              </a:rPr>
              <a:t>The patient</a:t>
            </a:r>
          </a:p>
        </p:txBody>
      </p:sp>
      <p:sp>
        <p:nvSpPr>
          <p:cNvPr id="23" name="TextBox 22"/>
          <p:cNvSpPr txBox="1"/>
          <p:nvPr/>
        </p:nvSpPr>
        <p:spPr>
          <a:xfrm>
            <a:off x="8302752" y="2212848"/>
            <a:ext cx="3154680" cy="1828800"/>
          </a:xfrm>
          <a:prstGeom prst="rect">
            <a:avLst/>
          </a:prstGeom>
          <a:noFill/>
        </p:spPr>
        <p:txBody>
          <a:bodyPr wrap="square" lIns="0" rIns="0" tIns="0" bIns="0" anchor="t">
            <a:spAutoFit/>
          </a:bodyPr>
          <a:lstStyle/>
          <a:p>
            <a:pPr algn="l" marL="182880" indent="-182880">
              <a:spcAft>
                <a:spcPts val="500"/>
              </a:spcAft>
              <a:buClr>
                <a:srgbClr val="1A8F7A"/>
              </a:buClr>
              <a:buFont typeface="Arial"/>
              <a:buChar char="•"/>
            </a:pPr>
            <a:r>
              <a:rPr sz="1350" b="0" i="0">
                <a:solidFill>
                  <a:srgbClr val="1F2D3D"/>
                </a:solidFill>
                <a:latin typeface="Calibri"/>
              </a:rPr>
              <a:t>Wears a CGM; logs meals and walks</a:t>
            </a:r>
          </a:p>
          <a:p>
            <a:pPr algn="l" marL="182880" indent="-182880">
              <a:spcAft>
                <a:spcPts val="500"/>
              </a:spcAft>
              <a:buClr>
                <a:srgbClr val="1A8F7A"/>
              </a:buClr>
              <a:buFont typeface="Arial"/>
              <a:buChar char="•"/>
            </a:pPr>
            <a:r>
              <a:rPr sz="1350" b="0" i="0">
                <a:solidFill>
                  <a:srgbClr val="1F2D3D"/>
                </a:solidFill>
                <a:latin typeface="Calibri"/>
              </a:rPr>
              <a:t>Consents per stream (DPDP-style, live in the dashboard)</a:t>
            </a:r>
          </a:p>
          <a:p>
            <a:pPr algn="l" marL="182880" indent="-182880">
              <a:spcAft>
                <a:spcPts val="500"/>
              </a:spcAft>
              <a:buClr>
                <a:srgbClr val="1A8F7A"/>
              </a:buClr>
              <a:buFont typeface="Arial"/>
              <a:buChar char="•"/>
            </a:pPr>
            <a:r>
              <a:rPr sz="1350" b="0" i="0">
                <a:solidFill>
                  <a:srgbClr val="1F2D3D"/>
                </a:solidFill>
                <a:latin typeface="Calibri"/>
              </a:rPr>
              <a:t>Gets advice from the doctor, never from the twin</a:t>
            </a:r>
          </a:p>
        </p:txBody>
      </p:sp>
      <p:sp>
        <p:nvSpPr>
          <p:cNvPr id="24" name="TextBox 23"/>
          <p:cNvSpPr txBox="1"/>
          <p:nvPr/>
        </p:nvSpPr>
        <p:spPr>
          <a:xfrm>
            <a:off x="548640" y="4297680"/>
            <a:ext cx="11091672" cy="237744"/>
          </a:xfrm>
          <a:prstGeom prst="rect">
            <a:avLst/>
          </a:prstGeom>
          <a:noFill/>
        </p:spPr>
        <p:txBody>
          <a:bodyPr wrap="square" lIns="0" rIns="0" tIns="0" bIns="0" anchor="t">
            <a:spAutoFit/>
          </a:bodyPr>
          <a:lstStyle/>
          <a:p>
            <a:pPr algn="l">
              <a:spcAft>
                <a:spcPts val="0"/>
              </a:spcAft>
            </a:pPr>
            <a:r>
              <a:rPr sz="1200" b="1" i="0">
                <a:solidFill>
                  <a:srgbClr val="5B6675"/>
                </a:solidFill>
                <a:latin typeface="Calibri"/>
              </a:rPr>
              <a:t>CONTEXT THAT SHAPES THE DESIGN</a:t>
            </a:r>
          </a:p>
        </p:txBody>
      </p:sp>
      <p:sp>
        <p:nvSpPr>
          <p:cNvPr id="25" name="TextBox 24"/>
          <p:cNvSpPr txBox="1"/>
          <p:nvPr/>
        </p:nvSpPr>
        <p:spPr>
          <a:xfrm>
            <a:off x="548640" y="4617720"/>
            <a:ext cx="2606040" cy="548640"/>
          </a:xfrm>
          <a:prstGeom prst="rect">
            <a:avLst/>
          </a:prstGeom>
          <a:noFill/>
        </p:spPr>
        <p:txBody>
          <a:bodyPr wrap="square" lIns="0" rIns="0" tIns="0" bIns="0" anchor="t">
            <a:spAutoFit/>
          </a:bodyPr>
          <a:lstStyle/>
          <a:p>
            <a:pPr algn="l">
              <a:spcAft>
                <a:spcPts val="0"/>
              </a:spcAft>
            </a:pPr>
            <a:r>
              <a:rPr sz="3000" b="1" i="0">
                <a:solidFill>
                  <a:srgbClr val="E07B22"/>
                </a:solidFill>
                <a:latin typeface="Calibri"/>
              </a:rPr>
              <a:t>62.3%</a:t>
            </a:r>
          </a:p>
        </p:txBody>
      </p:sp>
      <p:sp>
        <p:nvSpPr>
          <p:cNvPr id="26" name="TextBox 25"/>
          <p:cNvSpPr txBox="1"/>
          <p:nvPr/>
        </p:nvSpPr>
        <p:spPr>
          <a:xfrm>
            <a:off x="548640" y="5093970"/>
            <a:ext cx="2606040" cy="731520"/>
          </a:xfrm>
          <a:prstGeom prst="rect">
            <a:avLst/>
          </a:prstGeom>
          <a:noFill/>
        </p:spPr>
        <p:txBody>
          <a:bodyPr wrap="square" lIns="0" rIns="0" tIns="0" bIns="0" anchor="t">
            <a:spAutoFit/>
          </a:bodyPr>
          <a:lstStyle/>
          <a:p>
            <a:pPr algn="l">
              <a:spcAft>
                <a:spcPts val="0"/>
              </a:spcAft>
            </a:pPr>
            <a:r>
              <a:rPr sz="1250" b="0" i="0">
                <a:solidFill>
                  <a:srgbClr val="1F2D3D"/>
                </a:solidFill>
                <a:latin typeface="Calibri"/>
              </a:rPr>
              <a:t>of daily energy in India comes from carbohydrate → a meal model built on IFCT 2017 Indian foods</a:t>
            </a:r>
          </a:p>
        </p:txBody>
      </p:sp>
      <p:sp>
        <p:nvSpPr>
          <p:cNvPr id="27" name="TextBox 26"/>
          <p:cNvSpPr txBox="1"/>
          <p:nvPr/>
        </p:nvSpPr>
        <p:spPr>
          <a:xfrm>
            <a:off x="3346704" y="4617720"/>
            <a:ext cx="2606040" cy="548640"/>
          </a:xfrm>
          <a:prstGeom prst="rect">
            <a:avLst/>
          </a:prstGeom>
          <a:noFill/>
        </p:spPr>
        <p:txBody>
          <a:bodyPr wrap="square" lIns="0" rIns="0" tIns="0" bIns="0" anchor="t">
            <a:spAutoFit/>
          </a:bodyPr>
          <a:lstStyle/>
          <a:p>
            <a:pPr algn="l">
              <a:spcAft>
                <a:spcPts val="0"/>
              </a:spcAft>
            </a:pPr>
            <a:r>
              <a:rPr sz="3000" b="1" i="0">
                <a:solidFill>
                  <a:srgbClr val="E07B22"/>
                </a:solidFill>
                <a:latin typeface="Calibri"/>
              </a:rPr>
              <a:t>4</a:t>
            </a:r>
          </a:p>
        </p:txBody>
      </p:sp>
      <p:sp>
        <p:nvSpPr>
          <p:cNvPr id="28" name="TextBox 27"/>
          <p:cNvSpPr txBox="1"/>
          <p:nvPr/>
        </p:nvSpPr>
        <p:spPr>
          <a:xfrm>
            <a:off x="3346704" y="5093970"/>
            <a:ext cx="2606040" cy="731520"/>
          </a:xfrm>
          <a:prstGeom prst="rect">
            <a:avLst/>
          </a:prstGeom>
          <a:noFill/>
        </p:spPr>
        <p:txBody>
          <a:bodyPr wrap="square" lIns="0" rIns="0" tIns="0" bIns="0" anchor="t">
            <a:spAutoFit/>
          </a:bodyPr>
          <a:lstStyle/>
          <a:p>
            <a:pPr algn="l">
              <a:spcAft>
                <a:spcPts val="0"/>
              </a:spcAft>
            </a:pPr>
            <a:r>
              <a:rPr sz="1250" b="0" i="0">
                <a:solidFill>
                  <a:srgbClr val="1F2D3D"/>
                </a:solidFill>
                <a:latin typeface="Calibri"/>
              </a:rPr>
              <a:t>Indian Type 2 subgroups (SIDD, IROD, CIRDD, MARD) → an approximate cold-start prior</a:t>
            </a:r>
          </a:p>
        </p:txBody>
      </p:sp>
      <p:sp>
        <p:nvSpPr>
          <p:cNvPr id="29" name="TextBox 28"/>
          <p:cNvSpPr txBox="1"/>
          <p:nvPr/>
        </p:nvSpPr>
        <p:spPr>
          <a:xfrm>
            <a:off x="6144768" y="4617720"/>
            <a:ext cx="2606040" cy="548640"/>
          </a:xfrm>
          <a:prstGeom prst="rect">
            <a:avLst/>
          </a:prstGeom>
          <a:noFill/>
        </p:spPr>
        <p:txBody>
          <a:bodyPr wrap="square" lIns="0" rIns="0" tIns="0" bIns="0" anchor="t">
            <a:spAutoFit/>
          </a:bodyPr>
          <a:lstStyle/>
          <a:p>
            <a:pPr algn="l">
              <a:spcAft>
                <a:spcPts val="0"/>
              </a:spcAft>
            </a:pPr>
            <a:r>
              <a:rPr sz="3000" b="1" i="0">
                <a:solidFill>
                  <a:srgbClr val="E07B22"/>
                </a:solidFill>
                <a:latin typeface="Calibri"/>
              </a:rPr>
              <a:t>93 crore</a:t>
            </a:r>
          </a:p>
        </p:txBody>
      </p:sp>
      <p:sp>
        <p:nvSpPr>
          <p:cNvPr id="30" name="TextBox 29"/>
          <p:cNvSpPr txBox="1"/>
          <p:nvPr/>
        </p:nvSpPr>
        <p:spPr>
          <a:xfrm>
            <a:off x="6144768" y="5093970"/>
            <a:ext cx="2606040" cy="731520"/>
          </a:xfrm>
          <a:prstGeom prst="rect">
            <a:avLst/>
          </a:prstGeom>
          <a:noFill/>
        </p:spPr>
        <p:txBody>
          <a:bodyPr wrap="square" lIns="0" rIns="0" tIns="0" bIns="0" anchor="t">
            <a:spAutoFit/>
          </a:bodyPr>
          <a:lstStyle/>
          <a:p>
            <a:pPr algn="l">
              <a:spcAft>
                <a:spcPts val="0"/>
              </a:spcAft>
            </a:pPr>
            <a:r>
              <a:rPr sz="1250" b="0" i="0">
                <a:solidFill>
                  <a:srgbClr val="1F2D3D"/>
                </a:solidFill>
                <a:latin typeface="Calibri"/>
              </a:rPr>
              <a:t>ABHA accounts with 104 crore linked records → the record arrives via ABDM</a:t>
            </a:r>
          </a:p>
        </p:txBody>
      </p:sp>
      <p:sp>
        <p:nvSpPr>
          <p:cNvPr id="31" name="TextBox 30"/>
          <p:cNvSpPr txBox="1"/>
          <p:nvPr/>
        </p:nvSpPr>
        <p:spPr>
          <a:xfrm>
            <a:off x="8942832" y="4617720"/>
            <a:ext cx="2606040" cy="548640"/>
          </a:xfrm>
          <a:prstGeom prst="rect">
            <a:avLst/>
          </a:prstGeom>
          <a:noFill/>
        </p:spPr>
        <p:txBody>
          <a:bodyPr wrap="square" lIns="0" rIns="0" tIns="0" bIns="0" anchor="t">
            <a:spAutoFit/>
          </a:bodyPr>
          <a:lstStyle/>
          <a:p>
            <a:pPr algn="l">
              <a:spcAft>
                <a:spcPts val="0"/>
              </a:spcAft>
            </a:pPr>
            <a:r>
              <a:rPr sz="3000" b="1" i="0">
                <a:solidFill>
                  <a:srgbClr val="E07B22"/>
                </a:solidFill>
                <a:latin typeface="Calibri"/>
              </a:rPr>
              <a:t>288</a:t>
            </a:r>
          </a:p>
        </p:txBody>
      </p:sp>
      <p:sp>
        <p:nvSpPr>
          <p:cNvPr id="32" name="TextBox 31"/>
          <p:cNvSpPr txBox="1"/>
          <p:nvPr/>
        </p:nvSpPr>
        <p:spPr>
          <a:xfrm>
            <a:off x="8942832" y="5093970"/>
            <a:ext cx="2606040" cy="731520"/>
          </a:xfrm>
          <a:prstGeom prst="rect">
            <a:avLst/>
          </a:prstGeom>
          <a:noFill/>
        </p:spPr>
        <p:txBody>
          <a:bodyPr wrap="square" lIns="0" rIns="0" tIns="0" bIns="0" anchor="t">
            <a:spAutoFit/>
          </a:bodyPr>
          <a:lstStyle/>
          <a:p>
            <a:pPr algn="l">
              <a:spcAft>
                <a:spcPts val="0"/>
              </a:spcAft>
            </a:pPr>
            <a:r>
              <a:rPr sz="1250" b="0" i="0">
                <a:solidFill>
                  <a:srgbClr val="1F2D3D"/>
                </a:solidFill>
                <a:latin typeface="Calibri"/>
              </a:rPr>
              <a:t>CGM readings a day per patient → the doctor needs triage, not more charts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band"/>
          <p:cNvSpPr/>
          <p:nvPr/>
        </p:nvSpPr>
        <p:spPr>
          <a:xfrm>
            <a:off x="0" y="0"/>
            <a:ext cx="12191695" cy="82296"/>
          </a:xfrm>
          <a:prstGeom prst="rect">
            <a:avLst/>
          </a:prstGeom>
          <a:solidFill>
            <a:srgbClr val="1F3A5F"/>
          </a:solidFill>
          <a:ln>
            <a:noFill/>
          </a:ln>
        </p:spPr>
        <p:txBody>
          <a:bodyPr rtlCol="0" anchor="ctr"/>
          <a:lstStyle/>
          <a:p>
            <a:pPr algn="ctr"/>
          </a:p>
        </p:txBody>
      </p:sp>
      <p:sp>
        <p:nvSpPr>
          <p:cNvPr id="3" name="Top accent"/>
          <p:cNvSpPr/>
          <p:nvPr/>
        </p:nvSpPr>
        <p:spPr>
          <a:xfrm>
            <a:off x="0" y="82296"/>
            <a:ext cx="2011680" cy="45720"/>
          </a:xfrm>
          <a:prstGeom prst="rect">
            <a:avLst/>
          </a:prstGeom>
          <a:solidFill>
            <a:srgbClr val="E07B22"/>
          </a:solidFill>
          <a:ln>
            <a:noFill/>
          </a:ln>
        </p:spPr>
        <p:txBody>
          <a:bodyPr rtlCol="0" anchor="ctr"/>
          <a:lstStyle/>
          <a:p>
            <a:pPr algn="ctr"/>
          </a:p>
        </p:txBody>
      </p:sp>
      <p:sp>
        <p:nvSpPr>
          <p:cNvPr id="4" name="Kicker"/>
          <p:cNvSpPr txBox="1"/>
          <p:nvPr/>
        </p:nvSpPr>
        <p:spPr>
          <a:xfrm>
            <a:off x="548640" y="329184"/>
            <a:ext cx="11091672" cy="237744"/>
          </a:xfrm>
          <a:prstGeom prst="rect">
            <a:avLst/>
          </a:prstGeom>
          <a:noFill/>
        </p:spPr>
        <p:txBody>
          <a:bodyPr wrap="square" lIns="0" rIns="0" tIns="0" bIns="0" anchor="t">
            <a:spAutoFit/>
          </a:bodyPr>
          <a:lstStyle/>
          <a:p>
            <a:pPr algn="l">
              <a:spcAft>
                <a:spcPts val="0"/>
              </a:spcAft>
            </a:pPr>
            <a:r>
              <a:rPr sz="1200" b="1" i="0">
                <a:solidFill>
                  <a:srgbClr val="E07B22"/>
                </a:solidFill>
                <a:latin typeface="Calibri"/>
              </a:rPr>
              <a:t>9 · USER JOURNEY MAP</a:t>
            </a:r>
          </a:p>
        </p:txBody>
      </p:sp>
      <p:sp>
        <p:nvSpPr>
          <p:cNvPr id="5" name="Title"/>
          <p:cNvSpPr txBox="1"/>
          <p:nvPr/>
        </p:nvSpPr>
        <p:spPr>
          <a:xfrm>
            <a:off x="548640" y="566928"/>
            <a:ext cx="11091672" cy="566928"/>
          </a:xfrm>
          <a:prstGeom prst="rect">
            <a:avLst/>
          </a:prstGeom>
          <a:noFill/>
        </p:spPr>
        <p:txBody>
          <a:bodyPr wrap="square" lIns="0" rIns="0" tIns="0" bIns="0" anchor="t">
            <a:spAutoFit/>
          </a:bodyPr>
          <a:lstStyle/>
          <a:p>
            <a:pPr algn="l">
              <a:spcAft>
                <a:spcPts val="0"/>
              </a:spcAft>
            </a:pPr>
            <a:r>
              <a:rPr sz="3000" b="1" i="0">
                <a:solidFill>
                  <a:srgbClr val="1F3A5F"/>
                </a:solidFill>
                <a:latin typeface="Calibri"/>
              </a:rPr>
              <a:t>The doctor's quarter: before and after</a:t>
            </a:r>
          </a:p>
        </p:txBody>
      </p:sp>
      <p:cxnSp>
        <p:nvCxnSpPr>
          <p:cNvPr id="6" name="Footer rule"/>
          <p:cNvCxnSpPr/>
          <p:nvPr/>
        </p:nvCxnSpPr>
        <p:spPr>
          <a:xfrm>
            <a:off x="548640" y="6382512"/>
            <a:ext cx="11091672" cy="0"/>
          </a:xfrm>
          <a:prstGeom prst="line">
            <a:avLst/>
          </a:prstGeom>
          <a:ln w="9525">
            <a:solidFill>
              <a:srgbClr val="C9D1DC"/>
            </a:solidFill>
          </a:ln>
        </p:spPr>
        <p:style>
          <a:lnRef idx="2">
            <a:schemeClr val="accent1"/>
          </a:lnRef>
          <a:fillRef idx="0">
            <a:schemeClr val="accent1"/>
          </a:fillRef>
          <a:effectRef idx="1">
            <a:schemeClr val="accent1"/>
          </a:effectRef>
          <a:fontRef idx="minor">
            <a:schemeClr val="tx1"/>
          </a:fontRef>
        </p:style>
      </p:cxnSp>
      <p:sp>
        <p:nvSpPr>
          <p:cNvPr id="7" name="Sources"/>
          <p:cNvSpPr txBox="1"/>
          <p:nvPr/>
        </p:nvSpPr>
        <p:spPr>
          <a:xfrm>
            <a:off x="548640" y="6428232"/>
            <a:ext cx="10634472" cy="365760"/>
          </a:xfrm>
          <a:prstGeom prst="rect">
            <a:avLst/>
          </a:prstGeom>
          <a:noFill/>
        </p:spPr>
        <p:txBody>
          <a:bodyPr wrap="square" lIns="0" rIns="0" tIns="0" bIns="0" anchor="t">
            <a:spAutoFit/>
          </a:bodyPr>
          <a:lstStyle/>
          <a:p>
            <a:pPr algn="l">
              <a:spcAft>
                <a:spcPts val="0"/>
              </a:spcAft>
            </a:pPr>
            <a:r>
              <a:rPr sz="900" b="0" i="0">
                <a:solidFill>
                  <a:srgbClr val="5B6675"/>
                </a:solidFill>
                <a:latin typeface="Calibri"/>
              </a:rPr>
              <a:t>'Before' is an illustrative clinic workflow. 'After' lists features running in the prototype today. Time saved per review will be measured in the pilot, not claimed here.</a:t>
            </a:r>
          </a:p>
        </p:txBody>
      </p:sp>
      <p:sp>
        <p:nvSpPr>
          <p:cNvPr id="8" name="Page number"/>
          <p:cNvSpPr txBox="1"/>
          <p:nvPr/>
        </p:nvSpPr>
        <p:spPr>
          <a:xfrm>
            <a:off x="11274552" y="6446520"/>
            <a:ext cx="365760" cy="228600"/>
          </a:xfrm>
          <a:prstGeom prst="rect">
            <a:avLst/>
          </a:prstGeom>
          <a:noFill/>
        </p:spPr>
        <p:txBody>
          <a:bodyPr wrap="square" lIns="0" rIns="0" tIns="0" bIns="0" anchor="t">
            <a:spAutoFit/>
          </a:bodyPr>
          <a:lstStyle/>
          <a:p>
            <a:pPr algn="r">
              <a:spcAft>
                <a:spcPts val="0"/>
              </a:spcAft>
            </a:pPr>
            <a:r>
              <a:rPr sz="1100" b="1" i="0">
                <a:solidFill>
                  <a:srgbClr val="1F3A5F"/>
                </a:solidFill>
                <a:latin typeface="Calibri"/>
              </a:rPr>
              <a:t>9</a:t>
            </a:r>
          </a:p>
        </p:txBody>
      </p:sp>
      <p:sp>
        <p:nvSpPr>
          <p:cNvPr id="9" name="TextBox 8"/>
          <p:cNvSpPr txBox="1"/>
          <p:nvPr/>
        </p:nvSpPr>
        <p:spPr>
          <a:xfrm>
            <a:off x="548640" y="1417320"/>
            <a:ext cx="1325880" cy="548640"/>
          </a:xfrm>
          <a:prstGeom prst="rect">
            <a:avLst/>
          </a:prstGeom>
          <a:noFill/>
        </p:spPr>
        <p:txBody>
          <a:bodyPr wrap="square" lIns="0" rIns="0" tIns="0" bIns="0" anchor="t">
            <a:spAutoFit/>
          </a:bodyPr>
          <a:lstStyle/>
          <a:p>
            <a:pPr algn="ctr">
              <a:spcAft>
                <a:spcPts val="0"/>
              </a:spcAft>
            </a:pPr>
            <a:r>
              <a:rPr sz="1300" b="1" i="0">
                <a:solidFill>
                  <a:srgbClr val="1F3A5F"/>
                </a:solidFill>
                <a:latin typeface="Calibri"/>
              </a:rPr>
              <a:t>Doctor's</a:t>
            </a:r>
          </a:p>
          <a:p>
            <a:pPr algn="ctr">
              <a:spcAft>
                <a:spcPts val="0"/>
              </a:spcAft>
            </a:pPr>
            <a:r>
              <a:rPr sz="1300" b="1" i="0">
                <a:solidFill>
                  <a:srgbClr val="1F3A5F"/>
                </a:solidFill>
                <a:latin typeface="Calibri"/>
              </a:rPr>
              <a:t>quarter</a:t>
            </a:r>
          </a:p>
        </p:txBody>
      </p:sp>
      <p:sp>
        <p:nvSpPr>
          <p:cNvPr id="10" name="Rounded Rectangle 9"/>
          <p:cNvSpPr/>
          <p:nvPr/>
        </p:nvSpPr>
        <p:spPr>
          <a:xfrm>
            <a:off x="1965960" y="1325880"/>
            <a:ext cx="1536192" cy="658368"/>
          </a:xfrm>
          <a:prstGeom prst="roundRect">
            <a:avLst>
              <a:gd name="adj" fmla="val 8333"/>
            </a:avLst>
          </a:prstGeom>
          <a:solidFill>
            <a:srgbClr val="1F3A5F"/>
          </a:solidFill>
          <a:ln>
            <a:noFill/>
          </a:ln>
        </p:spPr>
        <p:txBody>
          <a:bodyPr rtlCol="0" anchor="ctr" wrap="square" lIns="73152" rIns="73152" tIns="36576" bIns="36576"/>
          <a:lstStyle/>
          <a:p>
            <a:pPr algn="ctr">
              <a:spcAft>
                <a:spcPts val="0"/>
              </a:spcAft>
            </a:pPr>
            <a:r>
              <a:rPr sz="1300" b="1" i="0">
                <a:solidFill>
                  <a:srgbClr val="FFFFFF"/>
                </a:solidFill>
                <a:latin typeface="Calibri"/>
              </a:rPr>
              <a:t>Data arrives</a:t>
            </a:r>
          </a:p>
        </p:txBody>
      </p:sp>
      <p:sp>
        <p:nvSpPr>
          <p:cNvPr id="11" name="Rounded Rectangle 10"/>
          <p:cNvSpPr/>
          <p:nvPr/>
        </p:nvSpPr>
        <p:spPr>
          <a:xfrm>
            <a:off x="3575304" y="1325880"/>
            <a:ext cx="1536192" cy="658368"/>
          </a:xfrm>
          <a:prstGeom prst="roundRect">
            <a:avLst>
              <a:gd name="adj" fmla="val 8333"/>
            </a:avLst>
          </a:prstGeom>
          <a:solidFill>
            <a:srgbClr val="1F3A5F"/>
          </a:solidFill>
          <a:ln>
            <a:noFill/>
          </a:ln>
        </p:spPr>
        <p:txBody>
          <a:bodyPr rtlCol="0" anchor="ctr" wrap="square" lIns="73152" rIns="73152" tIns="36576" bIns="36576"/>
          <a:lstStyle/>
          <a:p>
            <a:pPr algn="ctr">
              <a:spcAft>
                <a:spcPts val="0"/>
              </a:spcAft>
            </a:pPr>
            <a:r>
              <a:rPr sz="1300" b="1" i="0">
                <a:solidFill>
                  <a:srgbClr val="FFFFFF"/>
                </a:solidFill>
                <a:latin typeface="Calibri"/>
              </a:rPr>
              <a:t>Prepare review</a:t>
            </a:r>
          </a:p>
        </p:txBody>
      </p:sp>
      <p:sp>
        <p:nvSpPr>
          <p:cNvPr id="12" name="Rounded Rectangle 11"/>
          <p:cNvSpPr/>
          <p:nvPr/>
        </p:nvSpPr>
        <p:spPr>
          <a:xfrm>
            <a:off x="5184648" y="1325880"/>
            <a:ext cx="1536192" cy="658368"/>
          </a:xfrm>
          <a:prstGeom prst="roundRect">
            <a:avLst>
              <a:gd name="adj" fmla="val 8333"/>
            </a:avLst>
          </a:prstGeom>
          <a:solidFill>
            <a:srgbClr val="1F3A5F"/>
          </a:solidFill>
          <a:ln>
            <a:noFill/>
          </a:ln>
        </p:spPr>
        <p:txBody>
          <a:bodyPr rtlCol="0" anchor="ctr" wrap="square" lIns="73152" rIns="73152" tIns="36576" bIns="36576"/>
          <a:lstStyle/>
          <a:p>
            <a:pPr algn="ctr">
              <a:spcAft>
                <a:spcPts val="0"/>
              </a:spcAft>
            </a:pPr>
            <a:r>
              <a:rPr sz="1300" b="1" i="0">
                <a:solidFill>
                  <a:srgbClr val="FFFFFF"/>
                </a:solidFill>
                <a:latin typeface="Calibri"/>
              </a:rPr>
              <a:t>Spot risk</a:t>
            </a:r>
          </a:p>
        </p:txBody>
      </p:sp>
      <p:sp>
        <p:nvSpPr>
          <p:cNvPr id="13" name="Rounded Rectangle 12"/>
          <p:cNvSpPr/>
          <p:nvPr/>
        </p:nvSpPr>
        <p:spPr>
          <a:xfrm>
            <a:off x="6793992" y="1325880"/>
            <a:ext cx="1536192" cy="658368"/>
          </a:xfrm>
          <a:prstGeom prst="roundRect">
            <a:avLst>
              <a:gd name="adj" fmla="val 8333"/>
            </a:avLst>
          </a:prstGeom>
          <a:solidFill>
            <a:srgbClr val="1F3A5F"/>
          </a:solidFill>
          <a:ln>
            <a:noFill/>
          </a:ln>
        </p:spPr>
        <p:txBody>
          <a:bodyPr rtlCol="0" anchor="ctr" wrap="square" lIns="73152" rIns="73152" tIns="36576" bIns="36576"/>
          <a:lstStyle/>
          <a:p>
            <a:pPr algn="ctr">
              <a:spcAft>
                <a:spcPts val="0"/>
              </a:spcAft>
            </a:pPr>
            <a:r>
              <a:rPr sz="1300" b="1" i="0">
                <a:solidFill>
                  <a:srgbClr val="FFFFFF"/>
                </a:solidFill>
                <a:latin typeface="Calibri"/>
              </a:rPr>
              <a:t>Choose a plan</a:t>
            </a:r>
          </a:p>
        </p:txBody>
      </p:sp>
      <p:sp>
        <p:nvSpPr>
          <p:cNvPr id="14" name="Rounded Rectangle 13"/>
          <p:cNvSpPr/>
          <p:nvPr/>
        </p:nvSpPr>
        <p:spPr>
          <a:xfrm>
            <a:off x="8403336" y="1325880"/>
            <a:ext cx="1536192" cy="658368"/>
          </a:xfrm>
          <a:prstGeom prst="roundRect">
            <a:avLst>
              <a:gd name="adj" fmla="val 8333"/>
            </a:avLst>
          </a:prstGeom>
          <a:solidFill>
            <a:srgbClr val="1F3A5F"/>
          </a:solidFill>
          <a:ln>
            <a:noFill/>
          </a:ln>
        </p:spPr>
        <p:txBody>
          <a:bodyPr rtlCol="0" anchor="ctr" wrap="square" lIns="73152" rIns="73152" tIns="36576" bIns="36576"/>
          <a:lstStyle/>
          <a:p>
            <a:pPr algn="ctr">
              <a:spcAft>
                <a:spcPts val="0"/>
              </a:spcAft>
            </a:pPr>
            <a:r>
              <a:rPr sz="1300" b="1" i="0">
                <a:solidFill>
                  <a:srgbClr val="FFFFFF"/>
                </a:solidFill>
                <a:latin typeface="Calibri"/>
              </a:rPr>
              <a:t>Between visits</a:t>
            </a:r>
          </a:p>
        </p:txBody>
      </p:sp>
      <p:sp>
        <p:nvSpPr>
          <p:cNvPr id="15" name="Rounded Rectangle 14"/>
          <p:cNvSpPr/>
          <p:nvPr/>
        </p:nvSpPr>
        <p:spPr>
          <a:xfrm>
            <a:off x="10012680" y="1325880"/>
            <a:ext cx="1536192" cy="658368"/>
          </a:xfrm>
          <a:prstGeom prst="roundRect">
            <a:avLst>
              <a:gd name="adj" fmla="val 8333"/>
            </a:avLst>
          </a:prstGeom>
          <a:solidFill>
            <a:srgbClr val="1F3A5F"/>
          </a:solidFill>
          <a:ln>
            <a:noFill/>
          </a:ln>
        </p:spPr>
        <p:txBody>
          <a:bodyPr rtlCol="0" anchor="ctr" wrap="square" lIns="73152" rIns="73152" tIns="36576" bIns="36576"/>
          <a:lstStyle/>
          <a:p>
            <a:pPr algn="ctr">
              <a:spcAft>
                <a:spcPts val="0"/>
              </a:spcAft>
            </a:pPr>
            <a:r>
              <a:rPr sz="1300" b="1" i="0">
                <a:solidFill>
                  <a:srgbClr val="FFFFFF"/>
                </a:solidFill>
                <a:latin typeface="Calibri"/>
              </a:rPr>
              <a:t>Next visit</a:t>
            </a:r>
          </a:p>
        </p:txBody>
      </p:sp>
      <p:sp>
        <p:nvSpPr>
          <p:cNvPr id="16" name="Rounded Rectangle 15"/>
          <p:cNvSpPr/>
          <p:nvPr/>
        </p:nvSpPr>
        <p:spPr>
          <a:xfrm>
            <a:off x="548640" y="2148840"/>
            <a:ext cx="1325880" cy="1554480"/>
          </a:xfrm>
          <a:prstGeom prst="roundRect">
            <a:avLst>
              <a:gd name="adj" fmla="val 4137"/>
            </a:avLst>
          </a:prstGeom>
          <a:solidFill>
            <a:srgbClr val="C0392B"/>
          </a:solidFill>
          <a:ln>
            <a:noFill/>
          </a:ln>
        </p:spPr>
        <p:txBody>
          <a:bodyPr rtlCol="0" anchor="ctr" wrap="square" lIns="73152" rIns="73152" tIns="36576" bIns="36576"/>
          <a:lstStyle/>
          <a:p>
            <a:pPr algn="ctr">
              <a:spcAft>
                <a:spcPts val="0"/>
              </a:spcAft>
            </a:pPr>
            <a:r>
              <a:rPr sz="1300" b="1" i="0">
                <a:solidFill>
                  <a:srgbClr val="FFFFFF"/>
                </a:solidFill>
                <a:latin typeface="Calibri"/>
              </a:rPr>
              <a:t>BEFORE</a:t>
            </a:r>
          </a:p>
          <a:p>
            <a:pPr algn="ctr">
              <a:spcAft>
                <a:spcPts val="0"/>
              </a:spcAft>
            </a:pPr>
            <a:r>
              <a:rPr sz="1300" b="1" i="0">
                <a:solidFill>
                  <a:srgbClr val="FFFFFF"/>
                </a:solidFill>
                <a:latin typeface="Calibri"/>
              </a:rPr>
              <a:t>(today)</a:t>
            </a:r>
          </a:p>
        </p:txBody>
      </p:sp>
      <p:sp>
        <p:nvSpPr>
          <p:cNvPr id="17" name="Rounded Rectangle 16"/>
          <p:cNvSpPr/>
          <p:nvPr/>
        </p:nvSpPr>
        <p:spPr>
          <a:xfrm>
            <a:off x="1965960" y="2148840"/>
            <a:ext cx="1536192" cy="1554480"/>
          </a:xfrm>
          <a:prstGeom prst="roundRect">
            <a:avLst>
              <a:gd name="adj" fmla="val 3571"/>
            </a:avLst>
          </a:prstGeom>
          <a:solidFill>
            <a:srgbClr val="FBE9E7"/>
          </a:solidFill>
          <a:ln w="12700">
            <a:solidFill>
              <a:srgbClr val="E2A39B"/>
            </a:solidFill>
          </a:ln>
        </p:spPr>
        <p:txBody>
          <a:bodyPr rtlCol="0" anchor="ctr" wrap="square" lIns="73152" rIns="73152" tIns="36576" bIns="36576"/>
          <a:lstStyle/>
          <a:p>
            <a:pPr algn="ctr">
              <a:spcAft>
                <a:spcPts val="0"/>
              </a:spcAft>
            </a:pPr>
            <a:r>
              <a:rPr sz="1250" b="0" i="0">
                <a:solidFill>
                  <a:srgbClr val="1F2D3D"/>
                </a:solidFill>
                <a:latin typeface="Calibri"/>
              </a:rPr>
              <a:t>14-day CGM PDF and a separate lab report</a:t>
            </a:r>
          </a:p>
        </p:txBody>
      </p:sp>
      <p:sp>
        <p:nvSpPr>
          <p:cNvPr id="18" name="Rounded Rectangle 17"/>
          <p:cNvSpPr/>
          <p:nvPr/>
        </p:nvSpPr>
        <p:spPr>
          <a:xfrm>
            <a:off x="3575304" y="2148840"/>
            <a:ext cx="1536192" cy="1554480"/>
          </a:xfrm>
          <a:prstGeom prst="roundRect">
            <a:avLst>
              <a:gd name="adj" fmla="val 3571"/>
            </a:avLst>
          </a:prstGeom>
          <a:solidFill>
            <a:srgbClr val="FBE9E7"/>
          </a:solidFill>
          <a:ln w="12700">
            <a:solidFill>
              <a:srgbClr val="E2A39B"/>
            </a:solidFill>
          </a:ln>
        </p:spPr>
        <p:txBody>
          <a:bodyPr rtlCol="0" anchor="ctr" wrap="square" lIns="73152" rIns="73152" tIns="36576" bIns="36576"/>
          <a:lstStyle/>
          <a:p>
            <a:pPr algn="ctr">
              <a:spcAft>
                <a:spcPts val="0"/>
              </a:spcAft>
            </a:pPr>
            <a:r>
              <a:rPr sz="1250" b="0" i="0">
                <a:solidFill>
                  <a:srgbClr val="1F2D3D"/>
                </a:solidFill>
                <a:latin typeface="Calibri"/>
              </a:rPr>
              <a:t>Reads charts by hand; no link to the record</a:t>
            </a:r>
          </a:p>
        </p:txBody>
      </p:sp>
      <p:sp>
        <p:nvSpPr>
          <p:cNvPr id="19" name="Rounded Rectangle 18"/>
          <p:cNvSpPr/>
          <p:nvPr/>
        </p:nvSpPr>
        <p:spPr>
          <a:xfrm>
            <a:off x="5184648" y="2148840"/>
            <a:ext cx="1536192" cy="1554480"/>
          </a:xfrm>
          <a:prstGeom prst="roundRect">
            <a:avLst>
              <a:gd name="adj" fmla="val 3571"/>
            </a:avLst>
          </a:prstGeom>
          <a:solidFill>
            <a:srgbClr val="FBE9E7"/>
          </a:solidFill>
          <a:ln w="12700">
            <a:solidFill>
              <a:srgbClr val="E2A39B"/>
            </a:solidFill>
          </a:ln>
        </p:spPr>
        <p:txBody>
          <a:bodyPr rtlCol="0" anchor="ctr" wrap="square" lIns="73152" rIns="73152" tIns="36576" bIns="36576"/>
          <a:lstStyle/>
          <a:p>
            <a:pPr algn="ctr">
              <a:spcAft>
                <a:spcPts val="0"/>
              </a:spcAft>
            </a:pPr>
            <a:r>
              <a:rPr sz="1250" b="0" i="0">
                <a:solidFill>
                  <a:srgbClr val="1F2D3D"/>
                </a:solidFill>
                <a:latin typeface="Calibri"/>
              </a:rPr>
              <a:t>Spikes seen days after they happened</a:t>
            </a:r>
          </a:p>
        </p:txBody>
      </p:sp>
      <p:sp>
        <p:nvSpPr>
          <p:cNvPr id="20" name="Rounded Rectangle 19"/>
          <p:cNvSpPr/>
          <p:nvPr/>
        </p:nvSpPr>
        <p:spPr>
          <a:xfrm>
            <a:off x="6793992" y="2148840"/>
            <a:ext cx="1536192" cy="1554480"/>
          </a:xfrm>
          <a:prstGeom prst="roundRect">
            <a:avLst>
              <a:gd name="adj" fmla="val 3571"/>
            </a:avLst>
          </a:prstGeom>
          <a:solidFill>
            <a:srgbClr val="FBE9E7"/>
          </a:solidFill>
          <a:ln w="12700">
            <a:solidFill>
              <a:srgbClr val="E2A39B"/>
            </a:solidFill>
          </a:ln>
        </p:spPr>
        <p:txBody>
          <a:bodyPr rtlCol="0" anchor="ctr" wrap="square" lIns="73152" rIns="73152" tIns="36576" bIns="36576"/>
          <a:lstStyle/>
          <a:p>
            <a:pPr algn="ctr">
              <a:spcAft>
                <a:spcPts val="0"/>
              </a:spcAft>
            </a:pPr>
            <a:r>
              <a:rPr sz="1250" b="0" i="0">
                <a:solidFill>
                  <a:srgbClr val="1F2D3D"/>
                </a:solidFill>
                <a:latin typeface="Calibri"/>
              </a:rPr>
              <a:t>Generic advice: cut rice, walk more</a:t>
            </a:r>
          </a:p>
        </p:txBody>
      </p:sp>
      <p:sp>
        <p:nvSpPr>
          <p:cNvPr id="21" name="Rounded Rectangle 20"/>
          <p:cNvSpPr/>
          <p:nvPr/>
        </p:nvSpPr>
        <p:spPr>
          <a:xfrm>
            <a:off x="8403336" y="2148840"/>
            <a:ext cx="1536192" cy="1554480"/>
          </a:xfrm>
          <a:prstGeom prst="roundRect">
            <a:avLst>
              <a:gd name="adj" fmla="val 3571"/>
            </a:avLst>
          </a:prstGeom>
          <a:solidFill>
            <a:srgbClr val="FBE9E7"/>
          </a:solidFill>
          <a:ln w="12700">
            <a:solidFill>
              <a:srgbClr val="E2A39B"/>
            </a:solidFill>
          </a:ln>
        </p:spPr>
        <p:txBody>
          <a:bodyPr rtlCol="0" anchor="ctr" wrap="square" lIns="73152" rIns="73152" tIns="36576" bIns="36576"/>
          <a:lstStyle/>
          <a:p>
            <a:pPr algn="ctr">
              <a:spcAft>
                <a:spcPts val="0"/>
              </a:spcAft>
            </a:pPr>
            <a:r>
              <a:rPr sz="1250" b="0" i="0">
                <a:solidFill>
                  <a:srgbClr val="1F2D3D"/>
                </a:solidFill>
                <a:latin typeface="Calibri"/>
              </a:rPr>
              <a:t>No signal until the next visit</a:t>
            </a:r>
          </a:p>
        </p:txBody>
      </p:sp>
      <p:sp>
        <p:nvSpPr>
          <p:cNvPr id="22" name="Rounded Rectangle 21"/>
          <p:cNvSpPr/>
          <p:nvPr/>
        </p:nvSpPr>
        <p:spPr>
          <a:xfrm>
            <a:off x="10012680" y="2148840"/>
            <a:ext cx="1536192" cy="1554480"/>
          </a:xfrm>
          <a:prstGeom prst="roundRect">
            <a:avLst>
              <a:gd name="adj" fmla="val 3571"/>
            </a:avLst>
          </a:prstGeom>
          <a:solidFill>
            <a:srgbClr val="FBE9E7"/>
          </a:solidFill>
          <a:ln w="12700">
            <a:solidFill>
              <a:srgbClr val="E2A39B"/>
            </a:solidFill>
          </a:ln>
        </p:spPr>
        <p:txBody>
          <a:bodyPr rtlCol="0" anchor="ctr" wrap="square" lIns="73152" rIns="73152" tIns="36576" bIns="36576"/>
          <a:lstStyle/>
          <a:p>
            <a:pPr algn="ctr">
              <a:spcAft>
                <a:spcPts val="0"/>
              </a:spcAft>
            </a:pPr>
            <a:r>
              <a:rPr sz="1250" b="0" i="0">
                <a:solidFill>
                  <a:srgbClr val="1F2D3D"/>
                </a:solidFill>
                <a:latin typeface="Calibri"/>
              </a:rPr>
              <a:t>HbA1c moved or not; cause unknown</a:t>
            </a:r>
          </a:p>
        </p:txBody>
      </p:sp>
      <p:sp>
        <p:nvSpPr>
          <p:cNvPr id="23" name="Rounded Rectangle 22"/>
          <p:cNvSpPr/>
          <p:nvPr/>
        </p:nvSpPr>
        <p:spPr>
          <a:xfrm>
            <a:off x="548640" y="3840480"/>
            <a:ext cx="1325880" cy="1554480"/>
          </a:xfrm>
          <a:prstGeom prst="roundRect">
            <a:avLst>
              <a:gd name="adj" fmla="val 4137"/>
            </a:avLst>
          </a:prstGeom>
          <a:solidFill>
            <a:srgbClr val="1A8F7A"/>
          </a:solidFill>
          <a:ln>
            <a:noFill/>
          </a:ln>
        </p:spPr>
        <p:txBody>
          <a:bodyPr rtlCol="0" anchor="ctr" wrap="square" lIns="73152" rIns="73152" tIns="36576" bIns="36576"/>
          <a:lstStyle/>
          <a:p>
            <a:pPr algn="ctr">
              <a:spcAft>
                <a:spcPts val="0"/>
              </a:spcAft>
            </a:pPr>
            <a:r>
              <a:rPr sz="1300" b="1" i="0">
                <a:solidFill>
                  <a:srgbClr val="FFFFFF"/>
                </a:solidFill>
                <a:latin typeface="Calibri"/>
              </a:rPr>
              <a:t>WITH</a:t>
            </a:r>
          </a:p>
          <a:p>
            <a:pPr algn="ctr">
              <a:spcAft>
                <a:spcPts val="0"/>
              </a:spcAft>
            </a:pPr>
            <a:r>
              <a:rPr sz="1300" b="1" i="0">
                <a:solidFill>
                  <a:srgbClr val="FFFFFF"/>
                </a:solidFill>
                <a:latin typeface="Calibri"/>
              </a:rPr>
              <a:t>GLUCOTWIN</a:t>
            </a:r>
          </a:p>
        </p:txBody>
      </p:sp>
      <p:sp>
        <p:nvSpPr>
          <p:cNvPr id="24" name="Rounded Rectangle 23"/>
          <p:cNvSpPr/>
          <p:nvPr/>
        </p:nvSpPr>
        <p:spPr>
          <a:xfrm>
            <a:off x="1965960" y="3840480"/>
            <a:ext cx="1536192" cy="1554480"/>
          </a:xfrm>
          <a:prstGeom prst="roundRect">
            <a:avLst>
              <a:gd name="adj" fmla="val 3571"/>
            </a:avLst>
          </a:prstGeom>
          <a:solidFill>
            <a:srgbClr val="E6F4F1"/>
          </a:solidFill>
          <a:ln w="12700">
            <a:solidFill>
              <a:srgbClr val="8CCBBE"/>
            </a:solidFill>
          </a:ln>
        </p:spPr>
        <p:txBody>
          <a:bodyPr rtlCol="0" anchor="ctr" wrap="square" lIns="73152" rIns="73152" tIns="36576" bIns="36576"/>
          <a:lstStyle/>
          <a:p>
            <a:pPr algn="ctr">
              <a:spcAft>
                <a:spcPts val="0"/>
              </a:spcAft>
            </a:pPr>
            <a:r>
              <a:rPr sz="1250" b="0" i="0">
                <a:solidFill>
                  <a:srgbClr val="1F2D3D"/>
                </a:solidFill>
                <a:latin typeface="Calibri"/>
              </a:rPr>
              <a:t>Record + CGM fused into one twin from day 0</a:t>
            </a:r>
          </a:p>
        </p:txBody>
      </p:sp>
      <p:sp>
        <p:nvSpPr>
          <p:cNvPr id="25" name="Rounded Rectangle 24"/>
          <p:cNvSpPr/>
          <p:nvPr/>
        </p:nvSpPr>
        <p:spPr>
          <a:xfrm>
            <a:off x="3575304" y="3840480"/>
            <a:ext cx="1536192" cy="1554480"/>
          </a:xfrm>
          <a:prstGeom prst="roundRect">
            <a:avLst>
              <a:gd name="adj" fmla="val 3571"/>
            </a:avLst>
          </a:prstGeom>
          <a:solidFill>
            <a:srgbClr val="E6F4F1"/>
          </a:solidFill>
          <a:ln w="12700">
            <a:solidFill>
              <a:srgbClr val="8CCBBE"/>
            </a:solidFill>
          </a:ln>
        </p:spPr>
        <p:txBody>
          <a:bodyPr rtlCol="0" anchor="ctr" wrap="square" lIns="73152" rIns="73152" tIns="36576" bIns="36576"/>
          <a:lstStyle/>
          <a:p>
            <a:pPr algn="ctr">
              <a:spcAft>
                <a:spcPts val="0"/>
              </a:spcAft>
            </a:pPr>
            <a:r>
              <a:rPr sz="1250" b="0" i="0">
                <a:solidFill>
                  <a:srgbClr val="1F2D3D"/>
                </a:solidFill>
                <a:latin typeface="Calibri"/>
              </a:rPr>
              <a:t>Cohort ranked by urgency on one screen</a:t>
            </a:r>
          </a:p>
        </p:txBody>
      </p:sp>
      <p:sp>
        <p:nvSpPr>
          <p:cNvPr id="26" name="Rounded Rectangle 25"/>
          <p:cNvSpPr/>
          <p:nvPr/>
        </p:nvSpPr>
        <p:spPr>
          <a:xfrm>
            <a:off x="5184648" y="3840480"/>
            <a:ext cx="1536192" cy="1554480"/>
          </a:xfrm>
          <a:prstGeom prst="roundRect">
            <a:avLst>
              <a:gd name="adj" fmla="val 3571"/>
            </a:avLst>
          </a:prstGeom>
          <a:solidFill>
            <a:srgbClr val="E6F4F1"/>
          </a:solidFill>
          <a:ln w="12700">
            <a:solidFill>
              <a:srgbClr val="8CCBBE"/>
            </a:solidFill>
          </a:ln>
        </p:spPr>
        <p:txBody>
          <a:bodyPr rtlCol="0" anchor="ctr" wrap="square" lIns="73152" rIns="73152" tIns="36576" bIns="36576"/>
          <a:lstStyle/>
          <a:p>
            <a:pPr algn="ctr">
              <a:spcAft>
                <a:spcPts val="0"/>
              </a:spcAft>
            </a:pPr>
            <a:r>
              <a:rPr sz="1250" b="0" i="0">
                <a:solidFill>
                  <a:srgbClr val="1F2D3D"/>
                </a:solidFill>
                <a:latin typeface="Calibri"/>
              </a:rPr>
              <a:t>Alert a median 105 min before a spike, with reasons</a:t>
            </a:r>
          </a:p>
        </p:txBody>
      </p:sp>
      <p:sp>
        <p:nvSpPr>
          <p:cNvPr id="27" name="Rounded Rectangle 26"/>
          <p:cNvSpPr/>
          <p:nvPr/>
        </p:nvSpPr>
        <p:spPr>
          <a:xfrm>
            <a:off x="6793992" y="3840480"/>
            <a:ext cx="1536192" cy="1554480"/>
          </a:xfrm>
          <a:prstGeom prst="roundRect">
            <a:avLst>
              <a:gd name="adj" fmla="val 3571"/>
            </a:avLst>
          </a:prstGeom>
          <a:solidFill>
            <a:srgbClr val="E6F4F1"/>
          </a:solidFill>
          <a:ln w="12700">
            <a:solidFill>
              <a:srgbClr val="8CCBBE"/>
            </a:solidFill>
          </a:ln>
        </p:spPr>
        <p:txBody>
          <a:bodyPr rtlCol="0" anchor="ctr" wrap="square" lIns="73152" rIns="73152" tIns="36576" bIns="36576"/>
          <a:lstStyle/>
          <a:p>
            <a:pPr algn="ctr">
              <a:spcAft>
                <a:spcPts val="0"/>
              </a:spcAft>
            </a:pPr>
            <a:r>
              <a:rPr sz="1250" b="0" i="0">
                <a:solidFill>
                  <a:srgbClr val="1F2D3D"/>
                </a:solidFill>
                <a:latin typeface="Calibri"/>
              </a:rPr>
              <a:t>Seven plans compared on her own twin</a:t>
            </a:r>
          </a:p>
        </p:txBody>
      </p:sp>
      <p:sp>
        <p:nvSpPr>
          <p:cNvPr id="28" name="Rounded Rectangle 27"/>
          <p:cNvSpPr/>
          <p:nvPr/>
        </p:nvSpPr>
        <p:spPr>
          <a:xfrm>
            <a:off x="8403336" y="3840480"/>
            <a:ext cx="1536192" cy="1554480"/>
          </a:xfrm>
          <a:prstGeom prst="roundRect">
            <a:avLst>
              <a:gd name="adj" fmla="val 3571"/>
            </a:avLst>
          </a:prstGeom>
          <a:solidFill>
            <a:srgbClr val="E6F4F1"/>
          </a:solidFill>
          <a:ln w="12700">
            <a:solidFill>
              <a:srgbClr val="8CCBBE"/>
            </a:solidFill>
          </a:ln>
        </p:spPr>
        <p:txBody>
          <a:bodyPr rtlCol="0" anchor="ctr" wrap="square" lIns="73152" rIns="73152" tIns="36576" bIns="36576"/>
          <a:lstStyle/>
          <a:p>
            <a:pPr algn="ctr">
              <a:spcAft>
                <a:spcPts val="0"/>
              </a:spcAft>
            </a:pPr>
            <a:r>
              <a:rPr sz="1250" b="0" i="0">
                <a:solidFill>
                  <a:srgbClr val="1F2D3D"/>
                </a:solidFill>
                <a:latin typeface="Calibri"/>
              </a:rPr>
              <a:t>Drift check flags when the twin stops fitting</a:t>
            </a:r>
          </a:p>
        </p:txBody>
      </p:sp>
      <p:sp>
        <p:nvSpPr>
          <p:cNvPr id="29" name="Rounded Rectangle 28"/>
          <p:cNvSpPr/>
          <p:nvPr/>
        </p:nvSpPr>
        <p:spPr>
          <a:xfrm>
            <a:off x="10012680" y="3840480"/>
            <a:ext cx="1536192" cy="1554480"/>
          </a:xfrm>
          <a:prstGeom prst="roundRect">
            <a:avLst>
              <a:gd name="adj" fmla="val 3571"/>
            </a:avLst>
          </a:prstGeom>
          <a:solidFill>
            <a:srgbClr val="E6F4F1"/>
          </a:solidFill>
          <a:ln w="12700">
            <a:solidFill>
              <a:srgbClr val="8CCBBE"/>
            </a:solidFill>
          </a:ln>
        </p:spPr>
        <p:txBody>
          <a:bodyPr rtlCol="0" anchor="ctr" wrap="square" lIns="73152" rIns="73152" tIns="36576" bIns="36576"/>
          <a:lstStyle/>
          <a:p>
            <a:pPr algn="ctr">
              <a:spcAft>
                <a:spcPts val="0"/>
              </a:spcAft>
            </a:pPr>
            <a:r>
              <a:rPr sz="1250" b="0" i="0">
                <a:solidFill>
                  <a:srgbClr val="1F2D3D"/>
                </a:solidFill>
                <a:latin typeface="Calibri"/>
              </a:rPr>
              <a:t>One-click pre-visit summary for her chart</a:t>
            </a:r>
          </a:p>
        </p:txBody>
      </p:sp>
      <p:sp>
        <p:nvSpPr>
          <p:cNvPr id="30" name="Rectangle 29"/>
          <p:cNvSpPr/>
          <p:nvPr/>
        </p:nvSpPr>
        <p:spPr>
          <a:xfrm>
            <a:off x="548640" y="5577840"/>
            <a:ext cx="11091672" cy="640080"/>
          </a:xfrm>
          <a:prstGeom prst="rect">
            <a:avLst/>
          </a:prstGeom>
          <a:solidFill>
            <a:srgbClr val="E6F4F1"/>
          </a:solidFill>
          <a:ln>
            <a:noFill/>
          </a:ln>
        </p:spPr>
        <p:txBody>
          <a:bodyPr rtlCol="0" anchor="ctr"/>
          <a:lstStyle/>
          <a:p>
            <a:pPr algn="ctr"/>
          </a:p>
        </p:txBody>
      </p:sp>
      <p:sp>
        <p:nvSpPr>
          <p:cNvPr id="31" name="TextBox 30"/>
          <p:cNvSpPr txBox="1"/>
          <p:nvPr/>
        </p:nvSpPr>
        <p:spPr>
          <a:xfrm>
            <a:off x="731520" y="5577840"/>
            <a:ext cx="10725912" cy="640080"/>
          </a:xfrm>
          <a:prstGeom prst="rect">
            <a:avLst/>
          </a:prstGeom>
          <a:noFill/>
        </p:spPr>
        <p:txBody>
          <a:bodyPr wrap="square" lIns="0" rIns="0" tIns="0" bIns="0" anchor="ctr">
            <a:spAutoFit/>
          </a:bodyPr>
          <a:lstStyle/>
          <a:p>
            <a:pPr algn="l">
              <a:spcAft>
                <a:spcPts val="0"/>
              </a:spcAft>
            </a:pPr>
            <a:r>
              <a:rPr sz="1500" b="1" i="0">
                <a:solidFill>
                  <a:srgbClr val="1A8F7A"/>
                </a:solidFill>
                <a:latin typeface="Calibri"/>
              </a:rPr>
              <a:t>Biggest shift: </a:t>
            </a:r>
            <a:r>
              <a:rPr sz="1500" b="0" i="0">
                <a:solidFill>
                  <a:srgbClr val="1F2D3D"/>
                </a:solidFill>
                <a:latin typeface="Calibri"/>
              </a:rPr>
              <a:t>from reading the past to testing the next two hours, on this patient, before advising her.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band"/>
          <p:cNvSpPr/>
          <p:nvPr/>
        </p:nvSpPr>
        <p:spPr>
          <a:xfrm>
            <a:off x="0" y="0"/>
            <a:ext cx="12191695" cy="82296"/>
          </a:xfrm>
          <a:prstGeom prst="rect">
            <a:avLst/>
          </a:prstGeom>
          <a:solidFill>
            <a:srgbClr val="1F3A5F"/>
          </a:solidFill>
          <a:ln>
            <a:noFill/>
          </a:ln>
        </p:spPr>
        <p:txBody>
          <a:bodyPr rtlCol="0" anchor="ctr"/>
          <a:lstStyle/>
          <a:p>
            <a:pPr algn="ctr"/>
          </a:p>
        </p:txBody>
      </p:sp>
      <p:sp>
        <p:nvSpPr>
          <p:cNvPr id="3" name="Top accent"/>
          <p:cNvSpPr/>
          <p:nvPr/>
        </p:nvSpPr>
        <p:spPr>
          <a:xfrm>
            <a:off x="0" y="82296"/>
            <a:ext cx="2011680" cy="45720"/>
          </a:xfrm>
          <a:prstGeom prst="rect">
            <a:avLst/>
          </a:prstGeom>
          <a:solidFill>
            <a:srgbClr val="E07B22"/>
          </a:solidFill>
          <a:ln>
            <a:noFill/>
          </a:ln>
        </p:spPr>
        <p:txBody>
          <a:bodyPr rtlCol="0" anchor="ctr"/>
          <a:lstStyle/>
          <a:p>
            <a:pPr algn="ctr"/>
          </a:p>
        </p:txBody>
      </p:sp>
      <p:sp>
        <p:nvSpPr>
          <p:cNvPr id="4" name="Kicker"/>
          <p:cNvSpPr txBox="1"/>
          <p:nvPr/>
        </p:nvSpPr>
        <p:spPr>
          <a:xfrm>
            <a:off x="548640" y="329184"/>
            <a:ext cx="11091672" cy="237744"/>
          </a:xfrm>
          <a:prstGeom prst="rect">
            <a:avLst/>
          </a:prstGeom>
          <a:noFill/>
        </p:spPr>
        <p:txBody>
          <a:bodyPr wrap="square" lIns="0" rIns="0" tIns="0" bIns="0" anchor="t">
            <a:spAutoFit/>
          </a:bodyPr>
          <a:lstStyle/>
          <a:p>
            <a:pPr algn="l">
              <a:spcAft>
                <a:spcPts val="0"/>
              </a:spcAft>
            </a:pPr>
            <a:r>
              <a:rPr sz="1200" b="1" i="0">
                <a:solidFill>
                  <a:srgbClr val="E07B22"/>
                </a:solidFill>
                <a:latin typeface="Calibri"/>
              </a:rPr>
              <a:t>10 · THE DOCTOR DASHBOARD, LIVE</a:t>
            </a:r>
          </a:p>
        </p:txBody>
      </p:sp>
      <p:sp>
        <p:nvSpPr>
          <p:cNvPr id="5" name="Title"/>
          <p:cNvSpPr txBox="1"/>
          <p:nvPr/>
        </p:nvSpPr>
        <p:spPr>
          <a:xfrm>
            <a:off x="548640" y="566928"/>
            <a:ext cx="11091672" cy="566928"/>
          </a:xfrm>
          <a:prstGeom prst="rect">
            <a:avLst/>
          </a:prstGeom>
          <a:noFill/>
        </p:spPr>
        <p:txBody>
          <a:bodyPr wrap="square" lIns="0" rIns="0" tIns="0" bIns="0" anchor="t">
            <a:spAutoFit/>
          </a:bodyPr>
          <a:lstStyle/>
          <a:p>
            <a:pPr algn="l">
              <a:spcAft>
                <a:spcPts val="0"/>
              </a:spcAft>
            </a:pPr>
            <a:r>
              <a:rPr sz="3000" b="1" i="0">
                <a:solidFill>
                  <a:srgbClr val="1F3A5F"/>
                </a:solidFill>
                <a:latin typeface="Calibri"/>
              </a:rPr>
              <a:t>Three screens a doctor uses between visits</a:t>
            </a:r>
          </a:p>
        </p:txBody>
      </p:sp>
      <p:cxnSp>
        <p:nvCxnSpPr>
          <p:cNvPr id="6" name="Footer rule"/>
          <p:cNvCxnSpPr/>
          <p:nvPr/>
        </p:nvCxnSpPr>
        <p:spPr>
          <a:xfrm>
            <a:off x="548640" y="6382512"/>
            <a:ext cx="11091672" cy="0"/>
          </a:xfrm>
          <a:prstGeom prst="line">
            <a:avLst/>
          </a:prstGeom>
          <a:ln w="9525">
            <a:solidFill>
              <a:srgbClr val="C9D1DC"/>
            </a:solidFill>
          </a:ln>
        </p:spPr>
        <p:style>
          <a:lnRef idx="2">
            <a:schemeClr val="accent1"/>
          </a:lnRef>
          <a:fillRef idx="0">
            <a:schemeClr val="accent1"/>
          </a:fillRef>
          <a:effectRef idx="1">
            <a:schemeClr val="accent1"/>
          </a:effectRef>
          <a:fontRef idx="minor">
            <a:schemeClr val="tx1"/>
          </a:fontRef>
        </p:style>
      </p:cxnSp>
      <p:sp>
        <p:nvSpPr>
          <p:cNvPr id="7" name="Sources"/>
          <p:cNvSpPr txBox="1"/>
          <p:nvPr/>
        </p:nvSpPr>
        <p:spPr>
          <a:xfrm>
            <a:off x="548640" y="6428232"/>
            <a:ext cx="10634472" cy="365760"/>
          </a:xfrm>
          <a:prstGeom prst="rect">
            <a:avLst/>
          </a:prstGeom>
          <a:noFill/>
        </p:spPr>
        <p:txBody>
          <a:bodyPr wrap="square" lIns="0" rIns="0" tIns="0" bIns="0" anchor="t">
            <a:spAutoFit/>
          </a:bodyPr>
          <a:lstStyle/>
          <a:p>
            <a:pPr algn="l">
              <a:spcAft>
                <a:spcPts val="0"/>
              </a:spcAft>
            </a:pPr>
            <a:r>
              <a:rPr sz="900" b="0" i="0">
                <a:solidFill>
                  <a:srgbClr val="5B6675"/>
                </a:solidFill>
                <a:latin typeface="Calibri"/>
              </a:rPr>
              <a:t>Screenshots of the running prototype (simulated ward, seed 42), 16 Oct 2026 (docs/presentation/screens). The pre-visit summary prints from the Clinical summary button on any patient screen.</a:t>
            </a:r>
          </a:p>
        </p:txBody>
      </p:sp>
      <p:sp>
        <p:nvSpPr>
          <p:cNvPr id="8" name="Page number"/>
          <p:cNvSpPr txBox="1"/>
          <p:nvPr/>
        </p:nvSpPr>
        <p:spPr>
          <a:xfrm>
            <a:off x="11274552" y="6446520"/>
            <a:ext cx="365760" cy="228600"/>
          </a:xfrm>
          <a:prstGeom prst="rect">
            <a:avLst/>
          </a:prstGeom>
          <a:noFill/>
        </p:spPr>
        <p:txBody>
          <a:bodyPr wrap="square" lIns="0" rIns="0" tIns="0" bIns="0" anchor="t">
            <a:spAutoFit/>
          </a:bodyPr>
          <a:lstStyle/>
          <a:p>
            <a:pPr algn="r">
              <a:spcAft>
                <a:spcPts val="0"/>
              </a:spcAft>
            </a:pPr>
            <a:r>
              <a:rPr sz="1100" b="1" i="0">
                <a:solidFill>
                  <a:srgbClr val="1F3A5F"/>
                </a:solidFill>
                <a:latin typeface="Calibri"/>
              </a:rPr>
              <a:t>10</a:t>
            </a:r>
          </a:p>
        </p:txBody>
      </p:sp>
      <p:pic>
        <p:nvPicPr>
          <p:cNvPr id="9" name="Picture 8" descr="cohort.png"/>
          <p:cNvPicPr>
            <a:picLocks noChangeAspect="1"/>
          </p:cNvPicPr>
          <p:nvPr/>
        </p:nvPicPr>
        <p:blipFill>
          <a:blip r:embed="rId2"/>
          <a:stretch>
            <a:fillRect/>
          </a:stretch>
        </p:blipFill>
        <p:spPr>
          <a:xfrm>
            <a:off x="548640" y="1325880"/>
            <a:ext cx="3544824" cy="2215515"/>
          </a:xfrm>
          <a:prstGeom prst="rect">
            <a:avLst/>
          </a:prstGeom>
          <a:ln w="9525">
            <a:solidFill>
              <a:srgbClr val="C9D1DC"/>
            </a:solidFill>
          </a:ln>
        </p:spPr>
      </p:pic>
      <p:sp>
        <p:nvSpPr>
          <p:cNvPr id="10" name="Rectangle 9"/>
          <p:cNvSpPr/>
          <p:nvPr/>
        </p:nvSpPr>
        <p:spPr>
          <a:xfrm>
            <a:off x="548640" y="3632835"/>
            <a:ext cx="64008" cy="868680"/>
          </a:xfrm>
          <a:prstGeom prst="rect">
            <a:avLst/>
          </a:prstGeom>
          <a:solidFill>
            <a:srgbClr val="2F6DB5"/>
          </a:solidFill>
          <a:ln>
            <a:noFill/>
          </a:ln>
        </p:spPr>
        <p:txBody>
          <a:bodyPr rtlCol="0" anchor="ctr"/>
          <a:lstStyle/>
          <a:p>
            <a:pPr algn="ctr"/>
          </a:p>
        </p:txBody>
      </p:sp>
      <p:sp>
        <p:nvSpPr>
          <p:cNvPr id="11" name="TextBox 10"/>
          <p:cNvSpPr txBox="1"/>
          <p:nvPr/>
        </p:nvSpPr>
        <p:spPr>
          <a:xfrm>
            <a:off x="731520" y="3632835"/>
            <a:ext cx="3361944" cy="274320"/>
          </a:xfrm>
          <a:prstGeom prst="rect">
            <a:avLst/>
          </a:prstGeom>
          <a:noFill/>
        </p:spPr>
        <p:txBody>
          <a:bodyPr wrap="square" lIns="0" rIns="0" tIns="0" bIns="0" anchor="t">
            <a:spAutoFit/>
          </a:bodyPr>
          <a:lstStyle/>
          <a:p>
            <a:pPr algn="l">
              <a:spcAft>
                <a:spcPts val="0"/>
              </a:spcAft>
            </a:pPr>
            <a:r>
              <a:rPr sz="1400" b="1" i="0">
                <a:solidFill>
                  <a:srgbClr val="2F6DB5"/>
                </a:solidFill>
                <a:latin typeface="Calibri"/>
              </a:rPr>
              <a:t>COHORT TRIAGE</a:t>
            </a:r>
          </a:p>
        </p:txBody>
      </p:sp>
      <p:sp>
        <p:nvSpPr>
          <p:cNvPr id="12" name="TextBox 11"/>
          <p:cNvSpPr txBox="1"/>
          <p:nvPr/>
        </p:nvSpPr>
        <p:spPr>
          <a:xfrm>
            <a:off x="731520" y="3925443"/>
            <a:ext cx="3361944" cy="640080"/>
          </a:xfrm>
          <a:prstGeom prst="rect">
            <a:avLst/>
          </a:prstGeom>
          <a:noFill/>
        </p:spPr>
        <p:txBody>
          <a:bodyPr wrap="square" lIns="0" rIns="0" tIns="0" bIns="0" anchor="t">
            <a:spAutoFit/>
          </a:bodyPr>
          <a:lstStyle/>
          <a:p>
            <a:pPr algn="l">
              <a:spcAft>
                <a:spcPts val="0"/>
              </a:spcAft>
            </a:pPr>
            <a:r>
              <a:rPr sz="1250" b="0" i="0">
                <a:solidFill>
                  <a:srgbClr val="1F2D3D"/>
                </a:solidFill>
                <a:latin typeface="Calibri"/>
              </a:rPr>
              <a:t>Patients ranked by urgency. Only Urgent interrupts; Watch stays on the list.</a:t>
            </a:r>
          </a:p>
        </p:txBody>
      </p:sp>
      <p:pic>
        <p:nvPicPr>
          <p:cNvPr id="13" name="Picture 12" descr="twin.png"/>
          <p:cNvPicPr>
            <a:picLocks noChangeAspect="1"/>
          </p:cNvPicPr>
          <p:nvPr/>
        </p:nvPicPr>
        <p:blipFill>
          <a:blip r:embed="rId3"/>
          <a:stretch>
            <a:fillRect/>
          </a:stretch>
        </p:blipFill>
        <p:spPr>
          <a:xfrm>
            <a:off x="4322064" y="1325880"/>
            <a:ext cx="3544824" cy="2215515"/>
          </a:xfrm>
          <a:prstGeom prst="rect">
            <a:avLst/>
          </a:prstGeom>
          <a:ln w="9525">
            <a:solidFill>
              <a:srgbClr val="C9D1DC"/>
            </a:solidFill>
          </a:ln>
        </p:spPr>
      </p:pic>
      <p:sp>
        <p:nvSpPr>
          <p:cNvPr id="14" name="Rectangle 13"/>
          <p:cNvSpPr/>
          <p:nvPr/>
        </p:nvSpPr>
        <p:spPr>
          <a:xfrm>
            <a:off x="4322064" y="3632835"/>
            <a:ext cx="64008" cy="868680"/>
          </a:xfrm>
          <a:prstGeom prst="rect">
            <a:avLst/>
          </a:prstGeom>
          <a:solidFill>
            <a:srgbClr val="E07B22"/>
          </a:solidFill>
          <a:ln>
            <a:noFill/>
          </a:ln>
        </p:spPr>
        <p:txBody>
          <a:bodyPr rtlCol="0" anchor="ctr"/>
          <a:lstStyle/>
          <a:p>
            <a:pPr algn="ctr"/>
          </a:p>
        </p:txBody>
      </p:sp>
      <p:sp>
        <p:nvSpPr>
          <p:cNvPr id="15" name="TextBox 14"/>
          <p:cNvSpPr txBox="1"/>
          <p:nvPr/>
        </p:nvSpPr>
        <p:spPr>
          <a:xfrm>
            <a:off x="4504944" y="3632835"/>
            <a:ext cx="3361944" cy="274320"/>
          </a:xfrm>
          <a:prstGeom prst="rect">
            <a:avLst/>
          </a:prstGeom>
          <a:noFill/>
        </p:spPr>
        <p:txBody>
          <a:bodyPr wrap="square" lIns="0" rIns="0" tIns="0" bIns="0" anchor="t">
            <a:spAutoFit/>
          </a:bodyPr>
          <a:lstStyle/>
          <a:p>
            <a:pPr algn="l">
              <a:spcAft>
                <a:spcPts val="0"/>
              </a:spcAft>
            </a:pPr>
            <a:r>
              <a:rPr sz="1400" b="1" i="0">
                <a:solidFill>
                  <a:srgbClr val="E07B22"/>
                </a:solidFill>
                <a:latin typeface="Calibri"/>
              </a:rPr>
              <a:t>TWIN FORECAST</a:t>
            </a:r>
          </a:p>
        </p:txBody>
      </p:sp>
      <p:sp>
        <p:nvSpPr>
          <p:cNvPr id="16" name="TextBox 15"/>
          <p:cNvSpPr txBox="1"/>
          <p:nvPr/>
        </p:nvSpPr>
        <p:spPr>
          <a:xfrm>
            <a:off x="4504944" y="3925443"/>
            <a:ext cx="3361944" cy="640080"/>
          </a:xfrm>
          <a:prstGeom prst="rect">
            <a:avLst/>
          </a:prstGeom>
          <a:noFill/>
        </p:spPr>
        <p:txBody>
          <a:bodyPr wrap="square" lIns="0" rIns="0" tIns="0" bIns="0" anchor="t">
            <a:spAutoFit/>
          </a:bodyPr>
          <a:lstStyle/>
          <a:p>
            <a:pPr algn="l">
              <a:spcAft>
                <a:spcPts val="0"/>
              </a:spcAft>
            </a:pPr>
            <a:r>
              <a:rPr sz="1250" b="0" i="0">
                <a:solidFill>
                  <a:srgbClr val="1F2D3D"/>
                </a:solidFill>
                <a:latin typeface="Calibri"/>
              </a:rPr>
              <a:t>2-hour forecast with a 10–90% conformal band and per-stream consent toggles.</a:t>
            </a:r>
          </a:p>
        </p:txBody>
      </p:sp>
      <p:pic>
        <p:nvPicPr>
          <p:cNvPr id="17" name="Picture 16" descr="whatif.png"/>
          <p:cNvPicPr>
            <a:picLocks noChangeAspect="1"/>
          </p:cNvPicPr>
          <p:nvPr/>
        </p:nvPicPr>
        <p:blipFill>
          <a:blip r:embed="rId4"/>
          <a:stretch>
            <a:fillRect/>
          </a:stretch>
        </p:blipFill>
        <p:spPr>
          <a:xfrm>
            <a:off x="8095488" y="1325880"/>
            <a:ext cx="3544824" cy="2215515"/>
          </a:xfrm>
          <a:prstGeom prst="rect">
            <a:avLst/>
          </a:prstGeom>
          <a:ln w="9525">
            <a:solidFill>
              <a:srgbClr val="C9D1DC"/>
            </a:solidFill>
          </a:ln>
        </p:spPr>
      </p:pic>
      <p:sp>
        <p:nvSpPr>
          <p:cNvPr id="18" name="Rectangle 17"/>
          <p:cNvSpPr/>
          <p:nvPr/>
        </p:nvSpPr>
        <p:spPr>
          <a:xfrm>
            <a:off x="8095488" y="3632835"/>
            <a:ext cx="64008" cy="868680"/>
          </a:xfrm>
          <a:prstGeom prst="rect">
            <a:avLst/>
          </a:prstGeom>
          <a:solidFill>
            <a:srgbClr val="1A8F7A"/>
          </a:solidFill>
          <a:ln>
            <a:noFill/>
          </a:ln>
        </p:spPr>
        <p:txBody>
          <a:bodyPr rtlCol="0" anchor="ctr"/>
          <a:lstStyle/>
          <a:p>
            <a:pPr algn="ctr"/>
          </a:p>
        </p:txBody>
      </p:sp>
      <p:sp>
        <p:nvSpPr>
          <p:cNvPr id="19" name="TextBox 18"/>
          <p:cNvSpPr txBox="1"/>
          <p:nvPr/>
        </p:nvSpPr>
        <p:spPr>
          <a:xfrm>
            <a:off x="8278367" y="3632835"/>
            <a:ext cx="3361944" cy="274320"/>
          </a:xfrm>
          <a:prstGeom prst="rect">
            <a:avLst/>
          </a:prstGeom>
          <a:noFill/>
        </p:spPr>
        <p:txBody>
          <a:bodyPr wrap="square" lIns="0" rIns="0" tIns="0" bIns="0" anchor="t">
            <a:spAutoFit/>
          </a:bodyPr>
          <a:lstStyle/>
          <a:p>
            <a:pPr algn="l">
              <a:spcAft>
                <a:spcPts val="0"/>
              </a:spcAft>
            </a:pPr>
            <a:r>
              <a:rPr sz="1400" b="1" i="0">
                <a:solidFill>
                  <a:srgbClr val="1A8F7A"/>
                </a:solidFill>
                <a:latin typeface="Calibri"/>
              </a:rPr>
              <a:t>7-PLAN WHAT-IF</a:t>
            </a:r>
          </a:p>
        </p:txBody>
      </p:sp>
      <p:sp>
        <p:nvSpPr>
          <p:cNvPr id="20" name="TextBox 19"/>
          <p:cNvSpPr txBox="1"/>
          <p:nvPr/>
        </p:nvSpPr>
        <p:spPr>
          <a:xfrm>
            <a:off x="8278367" y="3925443"/>
            <a:ext cx="3361944" cy="640080"/>
          </a:xfrm>
          <a:prstGeom prst="rect">
            <a:avLst/>
          </a:prstGeom>
          <a:noFill/>
        </p:spPr>
        <p:txBody>
          <a:bodyPr wrap="square" lIns="0" rIns="0" tIns="0" bIns="0" anchor="t">
            <a:spAutoFit/>
          </a:bodyPr>
          <a:lstStyle/>
          <a:p>
            <a:pPr algn="l">
              <a:spcAft>
                <a:spcPts val="0"/>
              </a:spcAft>
            </a:pPr>
            <a:r>
              <a:rPr sz="1250" b="0" i="0">
                <a:solidFill>
                  <a:srgbClr val="1F2D3D"/>
                </a:solidFill>
                <a:latin typeface="Calibri"/>
              </a:rPr>
              <a:t>Seven lifestyle plans on her own twin, with deltas. Never a dose.</a:t>
            </a:r>
          </a:p>
        </p:txBody>
      </p:sp>
      <p:sp>
        <p:nvSpPr>
          <p:cNvPr id="21" name="Rectangle 20"/>
          <p:cNvSpPr/>
          <p:nvPr/>
        </p:nvSpPr>
        <p:spPr>
          <a:xfrm>
            <a:off x="548640" y="4892040"/>
            <a:ext cx="11091672" cy="1325880"/>
          </a:xfrm>
          <a:prstGeom prst="rect">
            <a:avLst/>
          </a:prstGeom>
          <a:solidFill>
            <a:srgbClr val="1F3A5F"/>
          </a:solidFill>
          <a:ln>
            <a:noFill/>
          </a:ln>
        </p:spPr>
        <p:txBody>
          <a:bodyPr rtlCol="0" anchor="ctr"/>
          <a:lstStyle/>
          <a:p>
            <a:pPr algn="ctr"/>
          </a:p>
        </p:txBody>
      </p:sp>
      <p:sp>
        <p:nvSpPr>
          <p:cNvPr id="22" name="TextBox 21"/>
          <p:cNvSpPr txBox="1"/>
          <p:nvPr/>
        </p:nvSpPr>
        <p:spPr>
          <a:xfrm>
            <a:off x="777240" y="5001768"/>
            <a:ext cx="10634472" cy="1143000"/>
          </a:xfrm>
          <a:prstGeom prst="rect">
            <a:avLst/>
          </a:prstGeom>
          <a:noFill/>
        </p:spPr>
        <p:txBody>
          <a:bodyPr wrap="square" lIns="0" rIns="0" tIns="0" bIns="0" anchor="t">
            <a:spAutoFit/>
          </a:bodyPr>
          <a:lstStyle/>
          <a:p>
            <a:pPr algn="l">
              <a:spcAft>
                <a:spcPts val="400"/>
              </a:spcAft>
            </a:pPr>
            <a:r>
              <a:rPr sz="1200" b="1" i="0">
                <a:solidFill>
                  <a:srgbClr val="F2B266"/>
                </a:solidFill>
                <a:latin typeface="Calibri"/>
              </a:rPr>
              <a:t>ONE CLICK: PRE-VISIT CLINICAL SUMMARY</a:t>
            </a:r>
          </a:p>
          <a:p>
            <a:pPr algn="l">
              <a:spcAft>
                <a:spcPts val="400"/>
              </a:spcAft>
            </a:pPr>
            <a:r>
              <a:rPr sz="1500" b="1" i="0">
                <a:solidFill>
                  <a:srgbClr val="FFFFFF"/>
                </a:solidFill>
                <a:latin typeface="Calibri"/>
              </a:rPr>
              <a:t>A printable sheet for the patient's chart: twin parameters, 7-day time in range, the chosen lifestyle plan and recent Urgent alerts.</a:t>
            </a:r>
          </a:p>
          <a:p>
            <a:pPr algn="l">
              <a:spcAft>
                <a:spcPts val="0"/>
              </a:spcAft>
            </a:pPr>
            <a:r>
              <a:rPr sz="1300" b="0" i="0">
                <a:solidFill>
                  <a:srgbClr val="D6DEE8"/>
                </a:solidFill>
                <a:latin typeface="Calibri"/>
              </a:rPr>
              <a:t>Withdraw the record and the twin drops its prior and medicines but keeps its CGM fit; withdraw wearables and sleep and walks drop out. The band widens on screen.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band"/>
          <p:cNvSpPr/>
          <p:nvPr/>
        </p:nvSpPr>
        <p:spPr>
          <a:xfrm>
            <a:off x="0" y="0"/>
            <a:ext cx="12191695" cy="82296"/>
          </a:xfrm>
          <a:prstGeom prst="rect">
            <a:avLst/>
          </a:prstGeom>
          <a:solidFill>
            <a:srgbClr val="1F3A5F"/>
          </a:solidFill>
          <a:ln>
            <a:noFill/>
          </a:ln>
        </p:spPr>
        <p:txBody>
          <a:bodyPr rtlCol="0" anchor="ctr"/>
          <a:lstStyle/>
          <a:p>
            <a:pPr algn="ctr"/>
          </a:p>
        </p:txBody>
      </p:sp>
      <p:sp>
        <p:nvSpPr>
          <p:cNvPr id="3" name="Top accent"/>
          <p:cNvSpPr/>
          <p:nvPr/>
        </p:nvSpPr>
        <p:spPr>
          <a:xfrm>
            <a:off x="0" y="82296"/>
            <a:ext cx="2011680" cy="45720"/>
          </a:xfrm>
          <a:prstGeom prst="rect">
            <a:avLst/>
          </a:prstGeom>
          <a:solidFill>
            <a:srgbClr val="E07B22"/>
          </a:solidFill>
          <a:ln>
            <a:noFill/>
          </a:ln>
        </p:spPr>
        <p:txBody>
          <a:bodyPr rtlCol="0" anchor="ctr"/>
          <a:lstStyle/>
          <a:p>
            <a:pPr algn="ctr"/>
          </a:p>
        </p:txBody>
      </p:sp>
      <p:sp>
        <p:nvSpPr>
          <p:cNvPr id="4" name="Kicker"/>
          <p:cNvSpPr txBox="1"/>
          <p:nvPr/>
        </p:nvSpPr>
        <p:spPr>
          <a:xfrm>
            <a:off x="548640" y="329184"/>
            <a:ext cx="11091672" cy="237744"/>
          </a:xfrm>
          <a:prstGeom prst="rect">
            <a:avLst/>
          </a:prstGeom>
          <a:noFill/>
        </p:spPr>
        <p:txBody>
          <a:bodyPr wrap="square" lIns="0" rIns="0" tIns="0" bIns="0" anchor="t">
            <a:spAutoFit/>
          </a:bodyPr>
          <a:lstStyle/>
          <a:p>
            <a:pPr algn="l">
              <a:spcAft>
                <a:spcPts val="0"/>
              </a:spcAft>
            </a:pPr>
            <a:r>
              <a:rPr sz="1200" b="1" i="0">
                <a:solidFill>
                  <a:srgbClr val="E07B22"/>
                </a:solidFill>
                <a:latin typeface="Calibri"/>
              </a:rPr>
              <a:t>11 · INNOVATION VS EXISTING TOOLS</a:t>
            </a:r>
          </a:p>
        </p:txBody>
      </p:sp>
      <p:sp>
        <p:nvSpPr>
          <p:cNvPr id="5" name="Title"/>
          <p:cNvSpPr txBox="1"/>
          <p:nvPr/>
        </p:nvSpPr>
        <p:spPr>
          <a:xfrm>
            <a:off x="548640" y="566928"/>
            <a:ext cx="11091672" cy="566928"/>
          </a:xfrm>
          <a:prstGeom prst="rect">
            <a:avLst/>
          </a:prstGeom>
          <a:noFill/>
        </p:spPr>
        <p:txBody>
          <a:bodyPr wrap="square" lIns="0" rIns="0" tIns="0" bIns="0" anchor="t">
            <a:spAutoFit/>
          </a:bodyPr>
          <a:lstStyle/>
          <a:p>
            <a:pPr algn="l">
              <a:spcAft>
                <a:spcPts val="0"/>
              </a:spcAft>
            </a:pPr>
            <a:r>
              <a:rPr sz="3000" b="1" i="0">
                <a:solidFill>
                  <a:srgbClr val="1F3A5F"/>
                </a:solidFill>
                <a:latin typeface="Calibri"/>
              </a:rPr>
              <a:t>Others report the past. GlucoTwin tests the next two hours.</a:t>
            </a:r>
          </a:p>
        </p:txBody>
      </p:sp>
      <p:cxnSp>
        <p:nvCxnSpPr>
          <p:cNvPr id="6" name="Footer rule"/>
          <p:cNvCxnSpPr/>
          <p:nvPr/>
        </p:nvCxnSpPr>
        <p:spPr>
          <a:xfrm>
            <a:off x="548640" y="6382512"/>
            <a:ext cx="11091672" cy="0"/>
          </a:xfrm>
          <a:prstGeom prst="line">
            <a:avLst/>
          </a:prstGeom>
          <a:ln w="9525">
            <a:solidFill>
              <a:srgbClr val="C9D1DC"/>
            </a:solidFill>
          </a:ln>
        </p:spPr>
        <p:style>
          <a:lnRef idx="2">
            <a:schemeClr val="accent1"/>
          </a:lnRef>
          <a:fillRef idx="0">
            <a:schemeClr val="accent1"/>
          </a:fillRef>
          <a:effectRef idx="1">
            <a:schemeClr val="accent1"/>
          </a:effectRef>
          <a:fontRef idx="minor">
            <a:schemeClr val="tx1"/>
          </a:fontRef>
        </p:style>
      </p:cxnSp>
      <p:sp>
        <p:nvSpPr>
          <p:cNvPr id="7" name="Sources"/>
          <p:cNvSpPr txBox="1"/>
          <p:nvPr/>
        </p:nvSpPr>
        <p:spPr>
          <a:xfrm>
            <a:off x="548640" y="6428232"/>
            <a:ext cx="10634472" cy="365760"/>
          </a:xfrm>
          <a:prstGeom prst="rect">
            <a:avLst/>
          </a:prstGeom>
          <a:noFill/>
        </p:spPr>
        <p:txBody>
          <a:bodyPr wrap="square" lIns="0" rIns="0" tIns="0" bIns="0" anchor="t">
            <a:spAutoFit/>
          </a:bodyPr>
          <a:lstStyle/>
          <a:p>
            <a:pPr algn="l">
              <a:spcAft>
                <a:spcPts val="0"/>
              </a:spcAft>
            </a:pPr>
            <a:r>
              <a:rPr sz="900" b="0" i="0">
                <a:solidFill>
                  <a:srgbClr val="5B6675"/>
                </a:solidFill>
                <a:latin typeface="Calibri"/>
              </a:rPr>
              <a:t>Category-level summary from public product descriptions as of Oct 2026; individual products vary. “Not described” ≠ absent. Band coverage from real_eval.json (60-min, CGMacros).</a:t>
            </a:r>
          </a:p>
        </p:txBody>
      </p:sp>
      <p:sp>
        <p:nvSpPr>
          <p:cNvPr id="8" name="Page number"/>
          <p:cNvSpPr txBox="1"/>
          <p:nvPr/>
        </p:nvSpPr>
        <p:spPr>
          <a:xfrm>
            <a:off x="11274552" y="6446520"/>
            <a:ext cx="365760" cy="228600"/>
          </a:xfrm>
          <a:prstGeom prst="rect">
            <a:avLst/>
          </a:prstGeom>
          <a:noFill/>
        </p:spPr>
        <p:txBody>
          <a:bodyPr wrap="square" lIns="0" rIns="0" tIns="0" bIns="0" anchor="t">
            <a:spAutoFit/>
          </a:bodyPr>
          <a:lstStyle/>
          <a:p>
            <a:pPr algn="r">
              <a:spcAft>
                <a:spcPts val="0"/>
              </a:spcAft>
            </a:pPr>
            <a:r>
              <a:rPr sz="1100" b="1" i="0">
                <a:solidFill>
                  <a:srgbClr val="1F3A5F"/>
                </a:solidFill>
                <a:latin typeface="Calibri"/>
              </a:rPr>
              <a:t>11</a:t>
            </a:r>
          </a:p>
        </p:txBody>
      </p:sp>
      <p:graphicFrame>
        <p:nvGraphicFramePr>
          <p:cNvPr id="9" name="Table 8"/>
          <p:cNvGraphicFramePr>
            <a:graphicFrameLocks noGrp="1"/>
          </p:cNvGraphicFramePr>
          <p:nvPr/>
        </p:nvGraphicFramePr>
        <p:xfrm>
          <a:off x="548640" y="1325880"/>
          <a:ext cx="11091672" cy="2770632"/>
        </p:xfrm>
        <a:graphic>
          <a:graphicData uri="http://schemas.openxmlformats.org/drawingml/2006/table">
            <a:tbl>
              <a:tblPr firstRow="1">
                <a:tableStyleId>{5C22544A-7EE6-4342-B048-85BDC9FD1C3A}</a:tableStyleId>
              </a:tblPr>
              <a:tblGrid>
                <a:gridCol w="2331720"/>
                <a:gridCol w="1517904"/>
                <a:gridCol w="1627632"/>
                <a:gridCol w="1426464"/>
                <a:gridCol w="1426464"/>
                <a:gridCol w="1426464"/>
                <a:gridCol w="1335024"/>
              </a:tblGrid>
              <a:tr h="502920">
                <a:tc>
                  <a:txBody>
                    <a:bodyPr wrap="square"/>
                    <a:lstStyle/>
                    <a:p>
                      <a:r>
                        <a:rPr sz="1200" b="1">
                          <a:solidFill>
                            <a:srgbClr val="FFFFFF"/>
                          </a:solidFill>
                          <a:latin typeface="Calibri"/>
                        </a:rPr>
                        <a:t/>
                      </a:r>
                    </a:p>
                  </a:txBody>
                  <a:tcPr marL="91440" marR="91440" marT="36576" marB="36576" anchor="ctr">
                    <a:lnL w="9525">
                      <a:noFill/>
                    </a:lnL>
                    <a:lnR w="9525">
                      <a:noFill/>
                    </a:lnR>
                    <a:lnT w="9525">
                      <a:noFill/>
                    </a:lnT>
                    <a:lnB w="9525">
                      <a:solidFill>
                        <a:srgbClr val="3A5578"/>
                      </a:solidFill>
                    </a:lnB>
                    <a:solidFill>
                      <a:srgbClr val="1F3A5F"/>
                    </a:solidFill>
                  </a:tcPr>
                </a:tc>
                <a:tc>
                  <a:txBody>
                    <a:bodyPr wrap="square"/>
                    <a:lstStyle/>
                    <a:p>
                      <a:pPr algn="ctr"/>
                      <a:r>
                        <a:rPr sz="1200" b="1">
                          <a:solidFill>
                            <a:srgbClr val="FFFFFF"/>
                          </a:solidFill>
                          <a:latin typeface="Calibri"/>
                        </a:rPr>
                        <a:t>Fuses record + CGM</a:t>
                      </a:r>
                    </a:p>
                  </a:txBody>
                  <a:tcPr marL="91440" marR="91440" marT="36576" marB="36576" anchor="ctr">
                    <a:lnL w="9525">
                      <a:noFill/>
                    </a:lnL>
                    <a:lnR w="9525">
                      <a:noFill/>
                    </a:lnR>
                    <a:lnT w="9525">
                      <a:noFill/>
                    </a:lnT>
                    <a:lnB w="9525">
                      <a:solidFill>
                        <a:srgbClr val="3A5578"/>
                      </a:solidFill>
                    </a:lnB>
                    <a:solidFill>
                      <a:srgbClr val="1F3A5F"/>
                    </a:solidFill>
                  </a:tcPr>
                </a:tc>
                <a:tc>
                  <a:txBody>
                    <a:bodyPr wrap="square"/>
                    <a:lstStyle/>
                    <a:p>
                      <a:pPr algn="ctr"/>
                      <a:r>
                        <a:rPr sz="1200" b="1">
                          <a:solidFill>
                            <a:srgbClr val="FFFFFF"/>
                          </a:solidFill>
                          <a:latin typeface="Calibri"/>
                        </a:rPr>
                        <a:t>Looks ahead</a:t>
                      </a:r>
                    </a:p>
                  </a:txBody>
                  <a:tcPr marL="91440" marR="91440" marT="36576" marB="36576" anchor="ctr">
                    <a:lnL w="9525">
                      <a:noFill/>
                    </a:lnL>
                    <a:lnR w="9525">
                      <a:noFill/>
                    </a:lnR>
                    <a:lnT w="9525">
                      <a:noFill/>
                    </a:lnT>
                    <a:lnB w="9525">
                      <a:solidFill>
                        <a:srgbClr val="3A5578"/>
                      </a:solidFill>
                    </a:lnB>
                    <a:solidFill>
                      <a:srgbClr val="1F3A5F"/>
                    </a:solidFill>
                  </a:tcPr>
                </a:tc>
                <a:tc>
                  <a:txBody>
                    <a:bodyPr wrap="square"/>
                    <a:lstStyle/>
                    <a:p>
                      <a:pPr algn="ctr"/>
                      <a:r>
                        <a:rPr sz="1200" b="1">
                          <a:solidFill>
                            <a:srgbClr val="FFFFFF"/>
                          </a:solidFill>
                          <a:latin typeface="Calibri"/>
                        </a:rPr>
                        <a:t>Personal fitted model</a:t>
                      </a:r>
                    </a:p>
                  </a:txBody>
                  <a:tcPr marL="91440" marR="91440" marT="36576" marB="36576" anchor="ctr">
                    <a:lnL w="9525">
                      <a:noFill/>
                    </a:lnL>
                    <a:lnR w="9525">
                      <a:noFill/>
                    </a:lnR>
                    <a:lnT w="9525">
                      <a:noFill/>
                    </a:lnT>
                    <a:lnB w="9525">
                      <a:solidFill>
                        <a:srgbClr val="3A5578"/>
                      </a:solidFill>
                    </a:lnB>
                    <a:solidFill>
                      <a:srgbClr val="1F3A5F"/>
                    </a:solidFill>
                  </a:tcPr>
                </a:tc>
                <a:tc>
                  <a:txBody>
                    <a:bodyPr wrap="square"/>
                    <a:lstStyle/>
                    <a:p>
                      <a:pPr algn="ctr"/>
                      <a:r>
                        <a:rPr sz="1200" b="1">
                          <a:solidFill>
                            <a:srgbClr val="FFFFFF"/>
                          </a:solidFill>
                          <a:latin typeface="Calibri"/>
                        </a:rPr>
                        <a:t>What-if plans</a:t>
                      </a:r>
                    </a:p>
                  </a:txBody>
                  <a:tcPr marL="91440" marR="91440" marT="36576" marB="36576" anchor="ctr">
                    <a:lnL w="9525">
                      <a:noFill/>
                    </a:lnL>
                    <a:lnR w="9525">
                      <a:noFill/>
                    </a:lnR>
                    <a:lnT w="9525">
                      <a:noFill/>
                    </a:lnT>
                    <a:lnB w="9525">
                      <a:solidFill>
                        <a:srgbClr val="3A5578"/>
                      </a:solidFill>
                    </a:lnB>
                    <a:solidFill>
                      <a:srgbClr val="1F3A5F"/>
                    </a:solidFill>
                  </a:tcPr>
                </a:tc>
                <a:tc>
                  <a:txBody>
                    <a:bodyPr wrap="square"/>
                    <a:lstStyle/>
                    <a:p>
                      <a:pPr algn="ctr"/>
                      <a:r>
                        <a:rPr sz="1200" b="1">
                          <a:solidFill>
                            <a:srgbClr val="FFFFFF"/>
                          </a:solidFill>
                          <a:latin typeface="Calibri"/>
                        </a:rPr>
                        <a:t>Indian foods &amp; subgroups</a:t>
                      </a:r>
                    </a:p>
                  </a:txBody>
                  <a:tcPr marL="91440" marR="91440" marT="36576" marB="36576" anchor="ctr">
                    <a:lnL w="9525">
                      <a:noFill/>
                    </a:lnL>
                    <a:lnR w="9525">
                      <a:noFill/>
                    </a:lnR>
                    <a:lnT w="9525">
                      <a:noFill/>
                    </a:lnT>
                    <a:lnB w="9525">
                      <a:solidFill>
                        <a:srgbClr val="3A5578"/>
                      </a:solidFill>
                    </a:lnB>
                    <a:solidFill>
                      <a:srgbClr val="1F3A5F"/>
                    </a:solidFill>
                  </a:tcPr>
                </a:tc>
                <a:tc>
                  <a:txBody>
                    <a:bodyPr wrap="square"/>
                    <a:lstStyle/>
                    <a:p>
                      <a:pPr algn="ctr"/>
                      <a:r>
                        <a:rPr sz="1200" b="1">
                          <a:solidFill>
                            <a:srgbClr val="FFFFFF"/>
                          </a:solidFill>
                          <a:latin typeface="Calibri"/>
                        </a:rPr>
                        <a:t>Shows uncertainty</a:t>
                      </a:r>
                    </a:p>
                  </a:txBody>
                  <a:tcPr marL="91440" marR="91440" marT="36576" marB="36576" anchor="ctr">
                    <a:lnL w="9525">
                      <a:noFill/>
                    </a:lnL>
                    <a:lnR w="9525">
                      <a:noFill/>
                    </a:lnR>
                    <a:lnT w="9525">
                      <a:noFill/>
                    </a:lnT>
                    <a:lnB w="9525">
                      <a:solidFill>
                        <a:srgbClr val="3A5578"/>
                      </a:solidFill>
                    </a:lnB>
                    <a:solidFill>
                      <a:srgbClr val="1F3A5F"/>
                    </a:solidFill>
                  </a:tcPr>
                </a:tc>
              </a:tr>
              <a:tr h="566928">
                <a:tc>
                  <a:txBody>
                    <a:bodyPr wrap="square"/>
                    <a:lstStyle/>
                    <a:p>
                      <a:r>
                        <a:rPr sz="1200" b="1">
                          <a:solidFill>
                            <a:srgbClr val="1F2D3D"/>
                          </a:solidFill>
                          <a:latin typeface="Calibri"/>
                        </a:rPr>
                        <a:t>CGM vendor reports (AGP)</a:t>
                      </a:r>
                    </a:p>
                  </a:txBody>
                  <a:tcPr marL="91440" marR="91440" marT="36576" marB="36576" anchor="ctr">
                    <a:lnL w="9525">
                      <a:noFill/>
                    </a:lnL>
                    <a:lnR w="9525">
                      <a:noFill/>
                    </a:lnR>
                    <a:lnT w="9525">
                      <a:noFill/>
                    </a:lnT>
                    <a:lnB w="9525">
                      <a:solidFill>
                        <a:srgbClr val="DDE3EA"/>
                      </a:solidFill>
                    </a:lnB>
                    <a:solidFill>
                      <a:srgbClr val="FFFFFF"/>
                    </a:solidFill>
                  </a:tcPr>
                </a:tc>
                <a:tc>
                  <a:txBody>
                    <a:bodyPr wrap="square"/>
                    <a:lstStyle/>
                    <a:p>
                      <a:pPr algn="ctr"/>
                      <a:r>
                        <a:rPr sz="1200" b="0">
                          <a:solidFill>
                            <a:srgbClr val="1F2D3D"/>
                          </a:solidFill>
                          <a:latin typeface="Calibri"/>
                        </a:rPr>
                        <a:t>○ sensor only</a:t>
                      </a:r>
                    </a:p>
                  </a:txBody>
                  <a:tcPr marL="91440" marR="91440" marT="36576" marB="36576" anchor="ctr">
                    <a:lnL w="9525">
                      <a:noFill/>
                    </a:lnL>
                    <a:lnR w="9525">
                      <a:noFill/>
                    </a:lnR>
                    <a:lnT w="9525">
                      <a:noFill/>
                    </a:lnT>
                    <a:lnB w="9525">
                      <a:solidFill>
                        <a:srgbClr val="DDE3EA"/>
                      </a:solidFill>
                    </a:lnB>
                    <a:solidFill>
                      <a:srgbClr val="FFFFFF"/>
                    </a:solidFill>
                  </a:tcPr>
                </a:tc>
                <a:tc>
                  <a:txBody>
                    <a:bodyPr wrap="square"/>
                    <a:lstStyle/>
                    <a:p>
                      <a:pPr algn="ctr"/>
                      <a:r>
                        <a:rPr sz="1200" b="0">
                          <a:solidFill>
                            <a:srgbClr val="1F2D3D"/>
                          </a:solidFill>
                          <a:latin typeface="Calibri"/>
                        </a:rPr>
                        <a:t>◐ short low alarms, some devices</a:t>
                      </a:r>
                    </a:p>
                  </a:txBody>
                  <a:tcPr marL="91440" marR="91440" marT="36576" marB="36576" anchor="ctr">
                    <a:lnL w="9525">
                      <a:noFill/>
                    </a:lnL>
                    <a:lnR w="9525">
                      <a:noFill/>
                    </a:lnR>
                    <a:lnT w="9525">
                      <a:noFill/>
                    </a:lnT>
                    <a:lnB w="9525">
                      <a:solidFill>
                        <a:srgbClr val="DDE3EA"/>
                      </a:solidFill>
                    </a:lnB>
                    <a:solidFill>
                      <a:srgbClr val="FFFFFF"/>
                    </a:solidFill>
                  </a:tcPr>
                </a:tc>
                <a:tc>
                  <a:txBody>
                    <a:bodyPr wrap="square"/>
                    <a:lstStyle/>
                    <a:p>
                      <a:pPr algn="ctr"/>
                      <a:r>
                        <a:rPr sz="1200" b="0">
                          <a:solidFill>
                            <a:srgbClr val="1F2D3D"/>
                          </a:solidFill>
                          <a:latin typeface="Calibri"/>
                        </a:rPr>
                        <a:t>○</a:t>
                      </a:r>
                    </a:p>
                  </a:txBody>
                  <a:tcPr marL="91440" marR="91440" marT="36576" marB="36576" anchor="ctr">
                    <a:lnL w="9525">
                      <a:noFill/>
                    </a:lnL>
                    <a:lnR w="9525">
                      <a:noFill/>
                    </a:lnR>
                    <a:lnT w="9525">
                      <a:noFill/>
                    </a:lnT>
                    <a:lnB w="9525">
                      <a:solidFill>
                        <a:srgbClr val="DDE3EA"/>
                      </a:solidFill>
                    </a:lnB>
                    <a:solidFill>
                      <a:srgbClr val="FFFFFF"/>
                    </a:solidFill>
                  </a:tcPr>
                </a:tc>
                <a:tc>
                  <a:txBody>
                    <a:bodyPr wrap="square"/>
                    <a:lstStyle/>
                    <a:p>
                      <a:pPr algn="ctr"/>
                      <a:r>
                        <a:rPr sz="1200" b="0">
                          <a:solidFill>
                            <a:srgbClr val="1F2D3D"/>
                          </a:solidFill>
                          <a:latin typeface="Calibri"/>
                        </a:rPr>
                        <a:t>○</a:t>
                      </a:r>
                    </a:p>
                  </a:txBody>
                  <a:tcPr marL="91440" marR="91440" marT="36576" marB="36576" anchor="ctr">
                    <a:lnL w="9525">
                      <a:noFill/>
                    </a:lnL>
                    <a:lnR w="9525">
                      <a:noFill/>
                    </a:lnR>
                    <a:lnT w="9525">
                      <a:noFill/>
                    </a:lnT>
                    <a:lnB w="9525">
                      <a:solidFill>
                        <a:srgbClr val="DDE3EA"/>
                      </a:solidFill>
                    </a:lnB>
                    <a:solidFill>
                      <a:srgbClr val="FFFFFF"/>
                    </a:solidFill>
                  </a:tcPr>
                </a:tc>
                <a:tc>
                  <a:txBody>
                    <a:bodyPr wrap="square"/>
                    <a:lstStyle/>
                    <a:p>
                      <a:pPr algn="ctr"/>
                      <a:r>
                        <a:rPr sz="1200" b="0">
                          <a:solidFill>
                            <a:srgbClr val="1F2D3D"/>
                          </a:solidFill>
                          <a:latin typeface="Calibri"/>
                        </a:rPr>
                        <a:t>○ not described</a:t>
                      </a:r>
                    </a:p>
                  </a:txBody>
                  <a:tcPr marL="91440" marR="91440" marT="36576" marB="36576" anchor="ctr">
                    <a:lnL w="9525">
                      <a:noFill/>
                    </a:lnL>
                    <a:lnR w="9525">
                      <a:noFill/>
                    </a:lnR>
                    <a:lnT w="9525">
                      <a:noFill/>
                    </a:lnT>
                    <a:lnB w="9525">
                      <a:solidFill>
                        <a:srgbClr val="DDE3EA"/>
                      </a:solidFill>
                    </a:lnB>
                    <a:solidFill>
                      <a:srgbClr val="FFFFFF"/>
                    </a:solidFill>
                  </a:tcPr>
                </a:tc>
                <a:tc>
                  <a:txBody>
                    <a:bodyPr wrap="square"/>
                    <a:lstStyle/>
                    <a:p>
                      <a:pPr algn="ctr"/>
                      <a:r>
                        <a:rPr sz="1200" b="0">
                          <a:solidFill>
                            <a:srgbClr val="1F2D3D"/>
                          </a:solidFill>
                          <a:latin typeface="Calibri"/>
                        </a:rPr>
                        <a:t>○</a:t>
                      </a:r>
                    </a:p>
                  </a:txBody>
                  <a:tcPr marL="91440" marR="91440" marT="36576" marB="36576" anchor="ctr">
                    <a:lnL w="9525">
                      <a:noFill/>
                    </a:lnL>
                    <a:lnR w="9525">
                      <a:noFill/>
                    </a:lnR>
                    <a:lnT w="9525">
                      <a:noFill/>
                    </a:lnT>
                    <a:lnB w="9525">
                      <a:solidFill>
                        <a:srgbClr val="DDE3EA"/>
                      </a:solidFill>
                    </a:lnB>
                    <a:solidFill>
                      <a:srgbClr val="FFFFFF"/>
                    </a:solidFill>
                  </a:tcPr>
                </a:tc>
              </a:tr>
              <a:tr h="566928">
                <a:tc>
                  <a:txBody>
                    <a:bodyPr wrap="square"/>
                    <a:lstStyle/>
                    <a:p>
                      <a:r>
                        <a:rPr sz="1200" b="1">
                          <a:solidFill>
                            <a:srgbClr val="1F2D3D"/>
                          </a:solidFill>
                          <a:latin typeface="Calibri"/>
                        </a:rPr>
                        <a:t>Diabetes logging &amp; coaching apps</a:t>
                      </a:r>
                    </a:p>
                  </a:txBody>
                  <a:tcPr marL="91440" marR="91440" marT="36576" marB="36576" anchor="ctr">
                    <a:lnL w="9525">
                      <a:noFill/>
                    </a:lnL>
                    <a:lnR w="9525">
                      <a:noFill/>
                    </a:lnR>
                    <a:lnT w="9525">
                      <a:noFill/>
                    </a:lnT>
                    <a:lnB w="9525">
                      <a:solidFill>
                        <a:srgbClr val="DDE3EA"/>
                      </a:solidFill>
                    </a:lnB>
                    <a:solidFill>
                      <a:srgbClr val="F3F5F9"/>
                    </a:solidFill>
                  </a:tcPr>
                </a:tc>
                <a:tc>
                  <a:txBody>
                    <a:bodyPr wrap="square"/>
                    <a:lstStyle/>
                    <a:p>
                      <a:pPr algn="ctr"/>
                      <a:r>
                        <a:rPr sz="1200" b="0">
                          <a:solidFill>
                            <a:srgbClr val="1F2D3D"/>
                          </a:solidFill>
                          <a:latin typeface="Calibri"/>
                        </a:rPr>
                        <a:t>◐ manual entry</a:t>
                      </a:r>
                    </a:p>
                  </a:txBody>
                  <a:tcPr marL="91440" marR="91440" marT="36576" marB="36576" anchor="ctr">
                    <a:lnL w="9525">
                      <a:noFill/>
                    </a:lnL>
                    <a:lnR w="9525">
                      <a:noFill/>
                    </a:lnR>
                    <a:lnT w="9525">
                      <a:noFill/>
                    </a:lnT>
                    <a:lnB w="9525">
                      <a:solidFill>
                        <a:srgbClr val="DDE3EA"/>
                      </a:solidFill>
                    </a:lnB>
                    <a:solidFill>
                      <a:srgbClr val="F3F5F9"/>
                    </a:solidFill>
                  </a:tcPr>
                </a:tc>
                <a:tc>
                  <a:txBody>
                    <a:bodyPr wrap="square"/>
                    <a:lstStyle/>
                    <a:p>
                      <a:pPr algn="ctr"/>
                      <a:r>
                        <a:rPr sz="1200" b="0">
                          <a:solidFill>
                            <a:srgbClr val="1F2D3D"/>
                          </a:solidFill>
                          <a:latin typeface="Calibri"/>
                        </a:rPr>
                        <a:t>○ not described</a:t>
                      </a:r>
                    </a:p>
                  </a:txBody>
                  <a:tcPr marL="91440" marR="91440" marT="36576" marB="36576" anchor="ctr">
                    <a:lnL w="9525">
                      <a:noFill/>
                    </a:lnL>
                    <a:lnR w="9525">
                      <a:noFill/>
                    </a:lnR>
                    <a:lnT w="9525">
                      <a:noFill/>
                    </a:lnT>
                    <a:lnB w="9525">
                      <a:solidFill>
                        <a:srgbClr val="DDE3EA"/>
                      </a:solidFill>
                    </a:lnB>
                    <a:solidFill>
                      <a:srgbClr val="F3F5F9"/>
                    </a:solidFill>
                  </a:tcPr>
                </a:tc>
                <a:tc>
                  <a:txBody>
                    <a:bodyPr wrap="square"/>
                    <a:lstStyle/>
                    <a:p>
                      <a:pPr algn="ctr"/>
                      <a:r>
                        <a:rPr sz="1200" b="0">
                          <a:solidFill>
                            <a:srgbClr val="1F2D3D"/>
                          </a:solidFill>
                          <a:latin typeface="Calibri"/>
                        </a:rPr>
                        <a:t>◐ varies</a:t>
                      </a:r>
                    </a:p>
                  </a:txBody>
                  <a:tcPr marL="91440" marR="91440" marT="36576" marB="36576" anchor="ctr">
                    <a:lnL w="9525">
                      <a:noFill/>
                    </a:lnL>
                    <a:lnR w="9525">
                      <a:noFill/>
                    </a:lnR>
                    <a:lnT w="9525">
                      <a:noFill/>
                    </a:lnT>
                    <a:lnB w="9525">
                      <a:solidFill>
                        <a:srgbClr val="DDE3EA"/>
                      </a:solidFill>
                    </a:lnB>
                    <a:solidFill>
                      <a:srgbClr val="F3F5F9"/>
                    </a:solidFill>
                  </a:tcPr>
                </a:tc>
                <a:tc>
                  <a:txBody>
                    <a:bodyPr wrap="square"/>
                    <a:lstStyle/>
                    <a:p>
                      <a:pPr algn="ctr"/>
                      <a:r>
                        <a:rPr sz="1200" b="0">
                          <a:solidFill>
                            <a:srgbClr val="1F2D3D"/>
                          </a:solidFill>
                          <a:latin typeface="Calibri"/>
                        </a:rPr>
                        <a:t>◐ tips, not simulated</a:t>
                      </a:r>
                    </a:p>
                  </a:txBody>
                  <a:tcPr marL="91440" marR="91440" marT="36576" marB="36576" anchor="ctr">
                    <a:lnL w="9525">
                      <a:noFill/>
                    </a:lnL>
                    <a:lnR w="9525">
                      <a:noFill/>
                    </a:lnR>
                    <a:lnT w="9525">
                      <a:noFill/>
                    </a:lnT>
                    <a:lnB w="9525">
                      <a:solidFill>
                        <a:srgbClr val="DDE3EA"/>
                      </a:solidFill>
                    </a:lnB>
                    <a:solidFill>
                      <a:srgbClr val="F3F5F9"/>
                    </a:solidFill>
                  </a:tcPr>
                </a:tc>
                <a:tc>
                  <a:txBody>
                    <a:bodyPr wrap="square"/>
                    <a:lstStyle/>
                    <a:p>
                      <a:pPr algn="ctr"/>
                      <a:r>
                        <a:rPr sz="1200" b="0">
                          <a:solidFill>
                            <a:srgbClr val="1F2D3D"/>
                          </a:solidFill>
                          <a:latin typeface="Calibri"/>
                        </a:rPr>
                        <a:t>◐ some</a:t>
                      </a:r>
                    </a:p>
                  </a:txBody>
                  <a:tcPr marL="91440" marR="91440" marT="36576" marB="36576" anchor="ctr">
                    <a:lnL w="9525">
                      <a:noFill/>
                    </a:lnL>
                    <a:lnR w="9525">
                      <a:noFill/>
                    </a:lnR>
                    <a:lnT w="9525">
                      <a:noFill/>
                    </a:lnT>
                    <a:lnB w="9525">
                      <a:solidFill>
                        <a:srgbClr val="DDE3EA"/>
                      </a:solidFill>
                    </a:lnB>
                    <a:solidFill>
                      <a:srgbClr val="F3F5F9"/>
                    </a:solidFill>
                  </a:tcPr>
                </a:tc>
                <a:tc>
                  <a:txBody>
                    <a:bodyPr wrap="square"/>
                    <a:lstStyle/>
                    <a:p>
                      <a:pPr algn="ctr"/>
                      <a:r>
                        <a:rPr sz="1200" b="0">
                          <a:solidFill>
                            <a:srgbClr val="1F2D3D"/>
                          </a:solidFill>
                          <a:latin typeface="Calibri"/>
                        </a:rPr>
                        <a:t>○</a:t>
                      </a:r>
                    </a:p>
                  </a:txBody>
                  <a:tcPr marL="91440" marR="91440" marT="36576" marB="36576" anchor="ctr">
                    <a:lnL w="9525">
                      <a:noFill/>
                    </a:lnL>
                    <a:lnR w="9525">
                      <a:noFill/>
                    </a:lnR>
                    <a:lnT w="9525">
                      <a:noFill/>
                    </a:lnT>
                    <a:lnB w="9525">
                      <a:solidFill>
                        <a:srgbClr val="DDE3EA"/>
                      </a:solidFill>
                    </a:lnB>
                    <a:solidFill>
                      <a:srgbClr val="F3F5F9"/>
                    </a:solidFill>
                  </a:tcPr>
                </a:tc>
              </a:tr>
              <a:tr h="566928">
                <a:tc>
                  <a:txBody>
                    <a:bodyPr wrap="square"/>
                    <a:lstStyle/>
                    <a:p>
                      <a:r>
                        <a:rPr sz="1200" b="1">
                          <a:solidFill>
                            <a:srgbClr val="1F2D3D"/>
                          </a:solidFill>
                          <a:latin typeface="Calibri"/>
                        </a:rPr>
                        <a:t>Hospital EHR / HMIS</a:t>
                      </a:r>
                    </a:p>
                  </a:txBody>
                  <a:tcPr marL="91440" marR="91440" marT="36576" marB="36576" anchor="ctr">
                    <a:lnL w="9525">
                      <a:noFill/>
                    </a:lnL>
                    <a:lnR w="9525">
                      <a:noFill/>
                    </a:lnR>
                    <a:lnT w="9525">
                      <a:noFill/>
                    </a:lnT>
                    <a:lnB w="9525">
                      <a:solidFill>
                        <a:srgbClr val="DDE3EA"/>
                      </a:solidFill>
                    </a:lnB>
                    <a:solidFill>
                      <a:srgbClr val="FFFFFF"/>
                    </a:solidFill>
                  </a:tcPr>
                </a:tc>
                <a:tc>
                  <a:txBody>
                    <a:bodyPr wrap="square"/>
                    <a:lstStyle/>
                    <a:p>
                      <a:pPr algn="ctr"/>
                      <a:r>
                        <a:rPr sz="1200" b="0">
                          <a:solidFill>
                            <a:srgbClr val="1F2D3D"/>
                          </a:solidFill>
                          <a:latin typeface="Calibri"/>
                        </a:rPr>
                        <a:t>◐ record, rarely CGM</a:t>
                      </a:r>
                    </a:p>
                  </a:txBody>
                  <a:tcPr marL="91440" marR="91440" marT="36576" marB="36576" anchor="ctr">
                    <a:lnL w="9525">
                      <a:noFill/>
                    </a:lnL>
                    <a:lnR w="9525">
                      <a:noFill/>
                    </a:lnR>
                    <a:lnT w="9525">
                      <a:noFill/>
                    </a:lnT>
                    <a:lnB w="9525">
                      <a:solidFill>
                        <a:srgbClr val="DDE3EA"/>
                      </a:solidFill>
                    </a:lnB>
                    <a:solidFill>
                      <a:srgbClr val="FFFFFF"/>
                    </a:solidFill>
                  </a:tcPr>
                </a:tc>
                <a:tc>
                  <a:txBody>
                    <a:bodyPr wrap="square"/>
                    <a:lstStyle/>
                    <a:p>
                      <a:pPr algn="ctr"/>
                      <a:r>
                        <a:rPr sz="1200" b="0">
                          <a:solidFill>
                            <a:srgbClr val="1F2D3D"/>
                          </a:solidFill>
                          <a:latin typeface="Calibri"/>
                        </a:rPr>
                        <a:t>○</a:t>
                      </a:r>
                    </a:p>
                  </a:txBody>
                  <a:tcPr marL="91440" marR="91440" marT="36576" marB="36576" anchor="ctr">
                    <a:lnL w="9525">
                      <a:noFill/>
                    </a:lnL>
                    <a:lnR w="9525">
                      <a:noFill/>
                    </a:lnR>
                    <a:lnT w="9525">
                      <a:noFill/>
                    </a:lnT>
                    <a:lnB w="9525">
                      <a:solidFill>
                        <a:srgbClr val="DDE3EA"/>
                      </a:solidFill>
                    </a:lnB>
                    <a:solidFill>
                      <a:srgbClr val="FFFFFF"/>
                    </a:solidFill>
                  </a:tcPr>
                </a:tc>
                <a:tc>
                  <a:txBody>
                    <a:bodyPr wrap="square"/>
                    <a:lstStyle/>
                    <a:p>
                      <a:pPr algn="ctr"/>
                      <a:r>
                        <a:rPr sz="1200" b="0">
                          <a:solidFill>
                            <a:srgbClr val="1F2D3D"/>
                          </a:solidFill>
                          <a:latin typeface="Calibri"/>
                        </a:rPr>
                        <a:t>○</a:t>
                      </a:r>
                    </a:p>
                  </a:txBody>
                  <a:tcPr marL="91440" marR="91440" marT="36576" marB="36576" anchor="ctr">
                    <a:lnL w="9525">
                      <a:noFill/>
                    </a:lnL>
                    <a:lnR w="9525">
                      <a:noFill/>
                    </a:lnR>
                    <a:lnT w="9525">
                      <a:noFill/>
                    </a:lnT>
                    <a:lnB w="9525">
                      <a:solidFill>
                        <a:srgbClr val="DDE3EA"/>
                      </a:solidFill>
                    </a:lnB>
                    <a:solidFill>
                      <a:srgbClr val="FFFFFF"/>
                    </a:solidFill>
                  </a:tcPr>
                </a:tc>
                <a:tc>
                  <a:txBody>
                    <a:bodyPr wrap="square"/>
                    <a:lstStyle/>
                    <a:p>
                      <a:pPr algn="ctr"/>
                      <a:r>
                        <a:rPr sz="1200" b="0">
                          <a:solidFill>
                            <a:srgbClr val="1F2D3D"/>
                          </a:solidFill>
                          <a:latin typeface="Calibri"/>
                        </a:rPr>
                        <a:t>○</a:t>
                      </a:r>
                    </a:p>
                  </a:txBody>
                  <a:tcPr marL="91440" marR="91440" marT="36576" marB="36576" anchor="ctr">
                    <a:lnL w="9525">
                      <a:noFill/>
                    </a:lnL>
                    <a:lnR w="9525">
                      <a:noFill/>
                    </a:lnR>
                    <a:lnT w="9525">
                      <a:noFill/>
                    </a:lnT>
                    <a:lnB w="9525">
                      <a:solidFill>
                        <a:srgbClr val="DDE3EA"/>
                      </a:solidFill>
                    </a:lnB>
                    <a:solidFill>
                      <a:srgbClr val="FFFFFF"/>
                    </a:solidFill>
                  </a:tcPr>
                </a:tc>
                <a:tc>
                  <a:txBody>
                    <a:bodyPr wrap="square"/>
                    <a:lstStyle/>
                    <a:p>
                      <a:pPr algn="ctr"/>
                      <a:r>
                        <a:rPr sz="1200" b="0">
                          <a:solidFill>
                            <a:srgbClr val="1F2D3D"/>
                          </a:solidFill>
                          <a:latin typeface="Calibri"/>
                        </a:rPr>
                        <a:t>○</a:t>
                      </a:r>
                    </a:p>
                  </a:txBody>
                  <a:tcPr marL="91440" marR="91440" marT="36576" marB="36576" anchor="ctr">
                    <a:lnL w="9525">
                      <a:noFill/>
                    </a:lnL>
                    <a:lnR w="9525">
                      <a:noFill/>
                    </a:lnR>
                    <a:lnT w="9525">
                      <a:noFill/>
                    </a:lnT>
                    <a:lnB w="9525">
                      <a:solidFill>
                        <a:srgbClr val="DDE3EA"/>
                      </a:solidFill>
                    </a:lnB>
                    <a:solidFill>
                      <a:srgbClr val="FFFFFF"/>
                    </a:solidFill>
                  </a:tcPr>
                </a:tc>
                <a:tc>
                  <a:txBody>
                    <a:bodyPr wrap="square"/>
                    <a:lstStyle/>
                    <a:p>
                      <a:pPr algn="ctr"/>
                      <a:r>
                        <a:rPr sz="1200" b="0">
                          <a:solidFill>
                            <a:srgbClr val="1F2D3D"/>
                          </a:solidFill>
                          <a:latin typeface="Calibri"/>
                        </a:rPr>
                        <a:t>○</a:t>
                      </a:r>
                    </a:p>
                  </a:txBody>
                  <a:tcPr marL="91440" marR="91440" marT="36576" marB="36576" anchor="ctr">
                    <a:lnL w="9525">
                      <a:noFill/>
                    </a:lnL>
                    <a:lnR w="9525">
                      <a:noFill/>
                    </a:lnR>
                    <a:lnT w="9525">
                      <a:noFill/>
                    </a:lnT>
                    <a:lnB w="9525">
                      <a:solidFill>
                        <a:srgbClr val="DDE3EA"/>
                      </a:solidFill>
                    </a:lnB>
                    <a:solidFill>
                      <a:srgbClr val="FFFFFF"/>
                    </a:solidFill>
                  </a:tcPr>
                </a:tc>
              </a:tr>
              <a:tr h="566928">
                <a:tc>
                  <a:txBody>
                    <a:bodyPr wrap="square"/>
                    <a:lstStyle/>
                    <a:p>
                      <a:r>
                        <a:rPr sz="1200" b="1">
                          <a:solidFill>
                            <a:srgbClr val="1F2D3D"/>
                          </a:solidFill>
                          <a:latin typeface="Calibri"/>
                        </a:rPr>
                        <a:t>GlucoTwin</a:t>
                      </a:r>
                    </a:p>
                  </a:txBody>
                  <a:tcPr marL="91440" marR="91440" marT="36576" marB="36576" anchor="ctr">
                    <a:lnL w="9525">
                      <a:noFill/>
                    </a:lnL>
                    <a:lnR w="9525">
                      <a:noFill/>
                    </a:lnR>
                    <a:lnT w="9525">
                      <a:noFill/>
                    </a:lnT>
                    <a:lnB w="9525">
                      <a:solidFill>
                        <a:srgbClr val="DDE3EA"/>
                      </a:solidFill>
                    </a:lnB>
                    <a:solidFill>
                      <a:srgbClr val="FFF4E6"/>
                    </a:solidFill>
                  </a:tcPr>
                </a:tc>
                <a:tc>
                  <a:txBody>
                    <a:bodyPr wrap="square"/>
                    <a:lstStyle/>
                    <a:p>
                      <a:pPr algn="ctr"/>
                      <a:r>
                        <a:rPr sz="1200" b="1">
                          <a:solidFill>
                            <a:srgbClr val="1A8F7A"/>
                          </a:solidFill>
                          <a:latin typeface="Calibri"/>
                        </a:rPr>
                        <a:t>● FHIR R4 + CGM</a:t>
                      </a:r>
                    </a:p>
                  </a:txBody>
                  <a:tcPr marL="91440" marR="91440" marT="36576" marB="36576" anchor="ctr">
                    <a:lnL w="9525">
                      <a:noFill/>
                    </a:lnL>
                    <a:lnR w="9525">
                      <a:noFill/>
                    </a:lnR>
                    <a:lnT w="9525">
                      <a:noFill/>
                    </a:lnT>
                    <a:lnB w="9525">
                      <a:solidFill>
                        <a:srgbClr val="DDE3EA"/>
                      </a:solidFill>
                    </a:lnB>
                    <a:solidFill>
                      <a:srgbClr val="FFF4E6"/>
                    </a:solidFill>
                  </a:tcPr>
                </a:tc>
                <a:tc>
                  <a:txBody>
                    <a:bodyPr wrap="square"/>
                    <a:lstStyle/>
                    <a:p>
                      <a:pPr algn="ctr"/>
                      <a:r>
                        <a:rPr sz="1200" b="1">
                          <a:solidFill>
                            <a:srgbClr val="1A8F7A"/>
                          </a:solidFill>
                          <a:latin typeface="Calibri"/>
                        </a:rPr>
                        <a:t>● 30 / 60 / 120 min</a:t>
                      </a:r>
                    </a:p>
                  </a:txBody>
                  <a:tcPr marL="91440" marR="91440" marT="36576" marB="36576" anchor="ctr">
                    <a:lnL w="9525">
                      <a:noFill/>
                    </a:lnL>
                    <a:lnR w="9525">
                      <a:noFill/>
                    </a:lnR>
                    <a:lnT w="9525">
                      <a:noFill/>
                    </a:lnT>
                    <a:lnB w="9525">
                      <a:solidFill>
                        <a:srgbClr val="DDE3EA"/>
                      </a:solidFill>
                    </a:lnB>
                    <a:solidFill>
                      <a:srgbClr val="FFF4E6"/>
                    </a:solidFill>
                  </a:tcPr>
                </a:tc>
                <a:tc>
                  <a:txBody>
                    <a:bodyPr wrap="square"/>
                    <a:lstStyle/>
                    <a:p>
                      <a:pPr algn="ctr"/>
                      <a:r>
                        <a:rPr sz="1200" b="1">
                          <a:solidFill>
                            <a:srgbClr val="1A8F7A"/>
                          </a:solidFill>
                          <a:latin typeface="Calibri"/>
                        </a:rPr>
                        <a:t>● 5-day fit</a:t>
                      </a:r>
                    </a:p>
                  </a:txBody>
                  <a:tcPr marL="91440" marR="91440" marT="36576" marB="36576" anchor="ctr">
                    <a:lnL w="9525">
                      <a:noFill/>
                    </a:lnL>
                    <a:lnR w="9525">
                      <a:noFill/>
                    </a:lnR>
                    <a:lnT w="9525">
                      <a:noFill/>
                    </a:lnT>
                    <a:lnB w="9525">
                      <a:solidFill>
                        <a:srgbClr val="DDE3EA"/>
                      </a:solidFill>
                    </a:lnB>
                    <a:solidFill>
                      <a:srgbClr val="FFF4E6"/>
                    </a:solidFill>
                  </a:tcPr>
                </a:tc>
                <a:tc>
                  <a:txBody>
                    <a:bodyPr wrap="square"/>
                    <a:lstStyle/>
                    <a:p>
                      <a:pPr algn="ctr"/>
                      <a:r>
                        <a:rPr sz="1200" b="1">
                          <a:solidFill>
                            <a:srgbClr val="1A8F7A"/>
                          </a:solidFill>
                          <a:latin typeface="Calibri"/>
                        </a:rPr>
                        <a:t>● 7 plans</a:t>
                      </a:r>
                    </a:p>
                  </a:txBody>
                  <a:tcPr marL="91440" marR="91440" marT="36576" marB="36576" anchor="ctr">
                    <a:lnL w="9525">
                      <a:noFill/>
                    </a:lnL>
                    <a:lnR w="9525">
                      <a:noFill/>
                    </a:lnR>
                    <a:lnT w="9525">
                      <a:noFill/>
                    </a:lnT>
                    <a:lnB w="9525">
                      <a:solidFill>
                        <a:srgbClr val="DDE3EA"/>
                      </a:solidFill>
                    </a:lnB>
                    <a:solidFill>
                      <a:srgbClr val="FFF4E6"/>
                    </a:solidFill>
                  </a:tcPr>
                </a:tc>
                <a:tc>
                  <a:txBody>
                    <a:bodyPr wrap="square"/>
                    <a:lstStyle/>
                    <a:p>
                      <a:pPr algn="ctr"/>
                      <a:r>
                        <a:rPr sz="1200" b="1">
                          <a:solidFill>
                            <a:srgbClr val="1A8F7A"/>
                          </a:solidFill>
                          <a:latin typeface="Calibri"/>
                        </a:rPr>
                        <a:t>● IFCT + 4 subgroups</a:t>
                      </a:r>
                    </a:p>
                  </a:txBody>
                  <a:tcPr marL="91440" marR="91440" marT="36576" marB="36576" anchor="ctr">
                    <a:lnL w="9525">
                      <a:noFill/>
                    </a:lnL>
                    <a:lnR w="9525">
                      <a:noFill/>
                    </a:lnR>
                    <a:lnT w="9525">
                      <a:noFill/>
                    </a:lnT>
                    <a:lnB w="9525">
                      <a:solidFill>
                        <a:srgbClr val="DDE3EA"/>
                      </a:solidFill>
                    </a:lnB>
                    <a:solidFill>
                      <a:srgbClr val="FFF4E6"/>
                    </a:solidFill>
                  </a:tcPr>
                </a:tc>
                <a:tc>
                  <a:txBody>
                    <a:bodyPr wrap="square"/>
                    <a:lstStyle/>
                    <a:p>
                      <a:pPr algn="ctr"/>
                      <a:r>
                        <a:rPr sz="1200" b="1">
                          <a:solidFill>
                            <a:srgbClr val="1A8F7A"/>
                          </a:solidFill>
                          <a:latin typeface="Calibri"/>
                        </a:rPr>
                        <a:t>● 10–90% band</a:t>
                      </a:r>
                    </a:p>
                  </a:txBody>
                  <a:tcPr marL="91440" marR="91440" marT="36576" marB="36576" anchor="ctr">
                    <a:lnL w="9525">
                      <a:noFill/>
                    </a:lnL>
                    <a:lnR w="9525">
                      <a:noFill/>
                    </a:lnR>
                    <a:lnT w="9525">
                      <a:noFill/>
                    </a:lnT>
                    <a:lnB w="9525">
                      <a:solidFill>
                        <a:srgbClr val="DDE3EA"/>
                      </a:solidFill>
                    </a:lnB>
                    <a:solidFill>
                      <a:srgbClr val="FFF4E6"/>
                    </a:solidFill>
                  </a:tcPr>
                </a:tc>
              </a:tr>
            </a:tbl>
          </a:graphicData>
        </a:graphic>
      </p:graphicFrame>
      <p:sp>
        <p:nvSpPr>
          <p:cNvPr id="10" name="TextBox 9"/>
          <p:cNvSpPr txBox="1"/>
          <p:nvPr/>
        </p:nvSpPr>
        <p:spPr>
          <a:xfrm>
            <a:off x="548640" y="4206240"/>
            <a:ext cx="7315200" cy="228600"/>
          </a:xfrm>
          <a:prstGeom prst="rect">
            <a:avLst/>
          </a:prstGeom>
          <a:noFill/>
        </p:spPr>
        <p:txBody>
          <a:bodyPr wrap="square" lIns="0" rIns="0" tIns="0" bIns="0" anchor="t">
            <a:spAutoFit/>
          </a:bodyPr>
          <a:lstStyle/>
          <a:p>
            <a:pPr algn="l">
              <a:spcAft>
                <a:spcPts val="0"/>
              </a:spcAft>
            </a:pPr>
            <a:r>
              <a:rPr sz="1100" b="0" i="0">
                <a:solidFill>
                  <a:srgbClr val="5B6675"/>
                </a:solidFill>
                <a:latin typeface="Calibri"/>
              </a:rPr>
              <a:t>● does it    ◐ partly / manual    ○ not described publicly</a:t>
            </a:r>
          </a:p>
        </p:txBody>
      </p:sp>
      <p:sp>
        <p:nvSpPr>
          <p:cNvPr id="11" name="Rectangle 10"/>
          <p:cNvSpPr/>
          <p:nvPr/>
        </p:nvSpPr>
        <p:spPr>
          <a:xfrm>
            <a:off x="548640" y="4572000"/>
            <a:ext cx="6720840" cy="1645920"/>
          </a:xfrm>
          <a:prstGeom prst="rect">
            <a:avLst/>
          </a:prstGeom>
          <a:solidFill>
            <a:srgbClr val="1F3A5F"/>
          </a:solidFill>
          <a:ln>
            <a:noFill/>
          </a:ln>
        </p:spPr>
        <p:txBody>
          <a:bodyPr rtlCol="0" anchor="ctr"/>
          <a:lstStyle/>
          <a:p>
            <a:pPr algn="ctr"/>
          </a:p>
        </p:txBody>
      </p:sp>
      <p:sp>
        <p:nvSpPr>
          <p:cNvPr id="12" name="TextBox 11"/>
          <p:cNvSpPr txBox="1"/>
          <p:nvPr/>
        </p:nvSpPr>
        <p:spPr>
          <a:xfrm>
            <a:off x="777240" y="4681728"/>
            <a:ext cx="6309360" cy="1463040"/>
          </a:xfrm>
          <a:prstGeom prst="rect">
            <a:avLst/>
          </a:prstGeom>
          <a:noFill/>
        </p:spPr>
        <p:txBody>
          <a:bodyPr wrap="square" lIns="0" rIns="0" tIns="0" bIns="0" anchor="t">
            <a:spAutoFit/>
          </a:bodyPr>
          <a:lstStyle/>
          <a:p>
            <a:pPr algn="l">
              <a:spcAft>
                <a:spcPts val="400"/>
              </a:spcAft>
            </a:pPr>
            <a:r>
              <a:rPr sz="1200" b="1" i="0">
                <a:solidFill>
                  <a:srgbClr val="F2B266"/>
                </a:solidFill>
                <a:latin typeface="Calibri"/>
              </a:rPr>
              <a:t>NEW: PLAN-ON-TWIN</a:t>
            </a:r>
          </a:p>
          <a:p>
            <a:pPr algn="l">
              <a:spcAft>
                <a:spcPts val="400"/>
              </a:spcAft>
            </a:pPr>
            <a:r>
              <a:rPr sz="1600" b="1" i="0">
                <a:solidFill>
                  <a:srgbClr val="FFFFFF"/>
                </a:solidFill>
                <a:latin typeface="Calibri"/>
              </a:rPr>
              <a:t>Every lifestyle plan is tested on this patient's fitted twin before it is advised.</a:t>
            </a:r>
          </a:p>
          <a:p>
            <a:pPr algn="l">
              <a:spcAft>
                <a:spcPts val="0"/>
              </a:spcAft>
            </a:pPr>
            <a:r>
              <a:rPr sz="1300" b="0" i="0">
                <a:solidFill>
                  <a:srgbClr val="D6DEE8"/>
                </a:solidFill>
                <a:latin typeface="Calibri"/>
              </a:rPr>
              <a:t>Split lunch helped 4 Type 2 patients and hurt 4. A report of the past cannot show that.</a:t>
            </a:r>
          </a:p>
        </p:txBody>
      </p:sp>
      <p:sp>
        <p:nvSpPr>
          <p:cNvPr id="13" name="TextBox 12"/>
          <p:cNvSpPr txBox="1"/>
          <p:nvPr/>
        </p:nvSpPr>
        <p:spPr>
          <a:xfrm>
            <a:off x="7498079" y="4617720"/>
            <a:ext cx="4142232" cy="1600200"/>
          </a:xfrm>
          <a:prstGeom prst="rect">
            <a:avLst/>
          </a:prstGeom>
          <a:noFill/>
        </p:spPr>
        <p:txBody>
          <a:bodyPr wrap="square" lIns="0" rIns="0" tIns="0" bIns="0" anchor="t">
            <a:spAutoFit/>
          </a:bodyPr>
          <a:lstStyle/>
          <a:p>
            <a:pPr algn="l">
              <a:spcAft>
                <a:spcPts val="600"/>
              </a:spcAft>
            </a:pPr>
            <a:r>
              <a:rPr sz="1300" b="1" i="0">
                <a:solidFill>
                  <a:srgbClr val="E07B22"/>
                </a:solidFill>
                <a:latin typeface="Calibri"/>
              </a:rPr>
              <a:t>Explainable: </a:t>
            </a:r>
            <a:r>
              <a:rPr sz="1300" b="0" i="0">
                <a:solidFill>
                  <a:srgbClr val="1F2D3D"/>
                </a:solidFill>
                <a:latin typeface="Calibri"/>
              </a:rPr>
              <a:t>every forecast splits into meal, walk, dawn rise and residual.</a:t>
            </a:r>
          </a:p>
          <a:p>
            <a:pPr algn="l">
              <a:spcAft>
                <a:spcPts val="600"/>
              </a:spcAft>
            </a:pPr>
            <a:r>
              <a:rPr sz="1300" b="1" i="0">
                <a:solidFill>
                  <a:srgbClr val="E07B22"/>
                </a:solidFill>
                <a:latin typeface="Calibri"/>
              </a:rPr>
              <a:t>Honest: </a:t>
            </a:r>
            <a:r>
              <a:rPr sz="1300" b="0" i="0">
                <a:solidFill>
                  <a:srgbClr val="1F2D3D"/>
                </a:solidFill>
                <a:latin typeface="Calibri"/>
              </a:rPr>
              <a:t>shows a 10–90% band and its real coverage (0.79 at one hour against a 0.80 target).</a:t>
            </a:r>
          </a:p>
          <a:p>
            <a:pPr algn="l">
              <a:spcAft>
                <a:spcPts val="0"/>
              </a:spcAft>
            </a:pPr>
            <a:r>
              <a:rPr sz="1300" b="1" i="0">
                <a:solidFill>
                  <a:srgbClr val="E07B22"/>
                </a:solidFill>
                <a:latin typeface="Calibri"/>
              </a:rPr>
              <a:t>Indian by design: </a:t>
            </a:r>
            <a:r>
              <a:rPr sz="1300" b="0" i="0">
                <a:solidFill>
                  <a:srgbClr val="1F2D3D"/>
                </a:solidFill>
                <a:latin typeface="Calibri"/>
              </a:rPr>
              <a:t>IFCT foods and subgroup priors, not Western food tables.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band"/>
          <p:cNvSpPr/>
          <p:nvPr/>
        </p:nvSpPr>
        <p:spPr>
          <a:xfrm>
            <a:off x="0" y="0"/>
            <a:ext cx="12191695" cy="82296"/>
          </a:xfrm>
          <a:prstGeom prst="rect">
            <a:avLst/>
          </a:prstGeom>
          <a:solidFill>
            <a:srgbClr val="1F3A5F"/>
          </a:solidFill>
          <a:ln>
            <a:noFill/>
          </a:ln>
        </p:spPr>
        <p:txBody>
          <a:bodyPr rtlCol="0" anchor="ctr"/>
          <a:lstStyle/>
          <a:p>
            <a:pPr algn="ctr"/>
          </a:p>
        </p:txBody>
      </p:sp>
      <p:sp>
        <p:nvSpPr>
          <p:cNvPr id="3" name="Top accent"/>
          <p:cNvSpPr/>
          <p:nvPr/>
        </p:nvSpPr>
        <p:spPr>
          <a:xfrm>
            <a:off x="0" y="82296"/>
            <a:ext cx="2011680" cy="45720"/>
          </a:xfrm>
          <a:prstGeom prst="rect">
            <a:avLst/>
          </a:prstGeom>
          <a:solidFill>
            <a:srgbClr val="E07B22"/>
          </a:solidFill>
          <a:ln>
            <a:noFill/>
          </a:ln>
        </p:spPr>
        <p:txBody>
          <a:bodyPr rtlCol="0" anchor="ctr"/>
          <a:lstStyle/>
          <a:p>
            <a:pPr algn="ctr"/>
          </a:p>
        </p:txBody>
      </p:sp>
      <p:sp>
        <p:nvSpPr>
          <p:cNvPr id="4" name="Kicker"/>
          <p:cNvSpPr txBox="1"/>
          <p:nvPr/>
        </p:nvSpPr>
        <p:spPr>
          <a:xfrm>
            <a:off x="548640" y="329184"/>
            <a:ext cx="11091672" cy="237744"/>
          </a:xfrm>
          <a:prstGeom prst="rect">
            <a:avLst/>
          </a:prstGeom>
          <a:noFill/>
        </p:spPr>
        <p:txBody>
          <a:bodyPr wrap="square" lIns="0" rIns="0" tIns="0" bIns="0" anchor="t">
            <a:spAutoFit/>
          </a:bodyPr>
          <a:lstStyle/>
          <a:p>
            <a:pPr algn="l">
              <a:spcAft>
                <a:spcPts val="0"/>
              </a:spcAft>
            </a:pPr>
            <a:r>
              <a:rPr sz="1200" b="1" i="0">
                <a:solidFill>
                  <a:srgbClr val="E07B22"/>
                </a:solidFill>
                <a:latin typeface="Calibri"/>
              </a:rPr>
              <a:t>12 · WHERE THE MODEL IS CENTRAL</a:t>
            </a:r>
          </a:p>
        </p:txBody>
      </p:sp>
      <p:sp>
        <p:nvSpPr>
          <p:cNvPr id="5" name="Title"/>
          <p:cNvSpPr txBox="1"/>
          <p:nvPr/>
        </p:nvSpPr>
        <p:spPr>
          <a:xfrm>
            <a:off x="548640" y="566928"/>
            <a:ext cx="11091672" cy="566928"/>
          </a:xfrm>
          <a:prstGeom prst="rect">
            <a:avLst/>
          </a:prstGeom>
          <a:noFill/>
        </p:spPr>
        <p:txBody>
          <a:bodyPr wrap="square" lIns="0" rIns="0" tIns="0" bIns="0" anchor="t">
            <a:spAutoFit/>
          </a:bodyPr>
          <a:lstStyle/>
          <a:p>
            <a:pPr algn="l">
              <a:spcAft>
                <a:spcPts val="0"/>
              </a:spcAft>
            </a:pPr>
            <a:r>
              <a:rPr sz="3000" b="1" i="0">
                <a:solidFill>
                  <a:srgbClr val="1F3A5F"/>
                </a:solidFill>
                <a:latin typeface="Calibri"/>
              </a:rPr>
              <a:t>Physiology explains the curve; ML learns what it misses</a:t>
            </a:r>
          </a:p>
        </p:txBody>
      </p:sp>
      <p:cxnSp>
        <p:nvCxnSpPr>
          <p:cNvPr id="6" name="Footer rule"/>
          <p:cNvCxnSpPr/>
          <p:nvPr/>
        </p:nvCxnSpPr>
        <p:spPr>
          <a:xfrm>
            <a:off x="548640" y="6382512"/>
            <a:ext cx="11091672" cy="0"/>
          </a:xfrm>
          <a:prstGeom prst="line">
            <a:avLst/>
          </a:prstGeom>
          <a:ln w="9525">
            <a:solidFill>
              <a:srgbClr val="C9D1DC"/>
            </a:solidFill>
          </a:ln>
        </p:spPr>
        <p:style>
          <a:lnRef idx="2">
            <a:schemeClr val="accent1"/>
          </a:lnRef>
          <a:fillRef idx="0">
            <a:schemeClr val="accent1"/>
          </a:fillRef>
          <a:effectRef idx="1">
            <a:schemeClr val="accent1"/>
          </a:effectRef>
          <a:fontRef idx="minor">
            <a:schemeClr val="tx1"/>
          </a:fontRef>
        </p:style>
      </p:cxnSp>
      <p:sp>
        <p:nvSpPr>
          <p:cNvPr id="7" name="Sources"/>
          <p:cNvSpPr txBox="1"/>
          <p:nvPr/>
        </p:nvSpPr>
        <p:spPr>
          <a:xfrm>
            <a:off x="548640" y="6428232"/>
            <a:ext cx="10634472" cy="365760"/>
          </a:xfrm>
          <a:prstGeom prst="rect">
            <a:avLst/>
          </a:prstGeom>
          <a:noFill/>
        </p:spPr>
        <p:txBody>
          <a:bodyPr wrap="square" lIns="0" rIns="0" tIns="0" bIns="0" anchor="t">
            <a:spAutoFit/>
          </a:bodyPr>
          <a:lstStyle/>
          <a:p>
            <a:pPr algn="l">
              <a:spcAft>
                <a:spcPts val="0"/>
              </a:spcAft>
            </a:pPr>
            <a:r>
              <a:rPr sz="900" b="0" i="0">
                <a:solidFill>
                  <a:srgbClr val="5B6675"/>
                </a:solidFill>
                <a:latin typeface="Calibri"/>
              </a:rPr>
              <a:t>Sources: GlucoTwin design (src/lib/glucotwin/physics.ts, engine.ts; ml/evaluate_cgmacros.py). LightGBM held-out figures from real_eval.json (3 participants held out). Parity checked by ml/parity_test.py.</a:t>
            </a:r>
          </a:p>
        </p:txBody>
      </p:sp>
      <p:sp>
        <p:nvSpPr>
          <p:cNvPr id="8" name="Page number"/>
          <p:cNvSpPr txBox="1"/>
          <p:nvPr/>
        </p:nvSpPr>
        <p:spPr>
          <a:xfrm>
            <a:off x="11274552" y="6446520"/>
            <a:ext cx="365760" cy="228600"/>
          </a:xfrm>
          <a:prstGeom prst="rect">
            <a:avLst/>
          </a:prstGeom>
          <a:noFill/>
        </p:spPr>
        <p:txBody>
          <a:bodyPr wrap="square" lIns="0" rIns="0" tIns="0" bIns="0" anchor="t">
            <a:spAutoFit/>
          </a:bodyPr>
          <a:lstStyle/>
          <a:p>
            <a:pPr algn="r">
              <a:spcAft>
                <a:spcPts val="0"/>
              </a:spcAft>
            </a:pPr>
            <a:r>
              <a:rPr sz="1100" b="1" i="0">
                <a:solidFill>
                  <a:srgbClr val="1F3A5F"/>
                </a:solidFill>
                <a:latin typeface="Calibri"/>
              </a:rPr>
              <a:t>12</a:t>
            </a:r>
          </a:p>
        </p:txBody>
      </p:sp>
      <p:sp>
        <p:nvSpPr>
          <p:cNvPr id="9" name="Rectangle 8"/>
          <p:cNvSpPr/>
          <p:nvPr/>
        </p:nvSpPr>
        <p:spPr>
          <a:xfrm>
            <a:off x="548640" y="1325880"/>
            <a:ext cx="3538728" cy="777240"/>
          </a:xfrm>
          <a:prstGeom prst="rect">
            <a:avLst/>
          </a:prstGeom>
          <a:solidFill>
            <a:srgbClr val="2F6DB5"/>
          </a:solidFill>
          <a:ln>
            <a:noFill/>
          </a:ln>
        </p:spPr>
        <p:txBody>
          <a:bodyPr rtlCol="0" anchor="ctr"/>
          <a:lstStyle/>
          <a:p>
            <a:pPr algn="ctr"/>
          </a:p>
        </p:txBody>
      </p:sp>
      <p:sp>
        <p:nvSpPr>
          <p:cNvPr id="10" name="TextBox 9"/>
          <p:cNvSpPr txBox="1"/>
          <p:nvPr/>
        </p:nvSpPr>
        <p:spPr>
          <a:xfrm>
            <a:off x="731520" y="1389888"/>
            <a:ext cx="3200400" cy="365760"/>
          </a:xfrm>
          <a:prstGeom prst="rect">
            <a:avLst/>
          </a:prstGeom>
          <a:noFill/>
        </p:spPr>
        <p:txBody>
          <a:bodyPr wrap="square" lIns="0" rIns="0" tIns="0" bIns="0" anchor="t">
            <a:spAutoFit/>
          </a:bodyPr>
          <a:lstStyle/>
          <a:p>
            <a:pPr algn="l">
              <a:spcAft>
                <a:spcPts val="0"/>
              </a:spcAft>
            </a:pPr>
            <a:r>
              <a:rPr sz="1900" b="1" i="0">
                <a:solidFill>
                  <a:srgbClr val="FFFFFF"/>
                </a:solidFill>
                <a:latin typeface="Calibri"/>
              </a:rPr>
              <a:t>PHYSIOLOGY</a:t>
            </a:r>
          </a:p>
        </p:txBody>
      </p:sp>
      <p:sp>
        <p:nvSpPr>
          <p:cNvPr id="11" name="TextBox 10"/>
          <p:cNvSpPr txBox="1"/>
          <p:nvPr/>
        </p:nvSpPr>
        <p:spPr>
          <a:xfrm>
            <a:off x="731520" y="1764792"/>
            <a:ext cx="3200400" cy="274320"/>
          </a:xfrm>
          <a:prstGeom prst="rect">
            <a:avLst/>
          </a:prstGeom>
          <a:noFill/>
        </p:spPr>
        <p:txBody>
          <a:bodyPr wrap="square" lIns="0" rIns="0" tIns="0" bIns="0" anchor="t">
            <a:spAutoFit/>
          </a:bodyPr>
          <a:lstStyle/>
          <a:p>
            <a:pPr algn="l">
              <a:spcAft>
                <a:spcPts val="0"/>
              </a:spcAft>
            </a:pPr>
            <a:r>
              <a:rPr sz="1200" b="0" i="0">
                <a:solidFill>
                  <a:srgbClr val="FFFFFF"/>
                </a:solidFill>
                <a:latin typeface="Calibri"/>
              </a:rPr>
              <a:t>TypeScript twin core, live</a:t>
            </a:r>
          </a:p>
        </p:txBody>
      </p:sp>
      <p:sp>
        <p:nvSpPr>
          <p:cNvPr id="12" name="Rectangle 11"/>
          <p:cNvSpPr/>
          <p:nvPr/>
        </p:nvSpPr>
        <p:spPr>
          <a:xfrm>
            <a:off x="548640" y="2103120"/>
            <a:ext cx="3538728" cy="2514600"/>
          </a:xfrm>
          <a:prstGeom prst="rect">
            <a:avLst/>
          </a:prstGeom>
          <a:solidFill>
            <a:srgbClr val="F3F5F9"/>
          </a:solidFill>
          <a:ln>
            <a:noFill/>
          </a:ln>
        </p:spPr>
        <p:txBody>
          <a:bodyPr rtlCol="0" anchor="ctr"/>
          <a:lstStyle/>
          <a:p>
            <a:pPr algn="ctr"/>
          </a:p>
        </p:txBody>
      </p:sp>
      <p:sp>
        <p:nvSpPr>
          <p:cNvPr id="13" name="TextBox 12"/>
          <p:cNvSpPr txBox="1"/>
          <p:nvPr/>
        </p:nvSpPr>
        <p:spPr>
          <a:xfrm>
            <a:off x="749808" y="2240280"/>
            <a:ext cx="3154680" cy="2331720"/>
          </a:xfrm>
          <a:prstGeom prst="rect">
            <a:avLst/>
          </a:prstGeom>
          <a:noFill/>
        </p:spPr>
        <p:txBody>
          <a:bodyPr wrap="square" lIns="0" rIns="0" tIns="0" bIns="0" anchor="t">
            <a:spAutoFit/>
          </a:bodyPr>
          <a:lstStyle/>
          <a:p>
            <a:pPr algn="l" marL="182880" indent="-182880">
              <a:spcAft>
                <a:spcPts val="500"/>
              </a:spcAft>
              <a:buClr>
                <a:srgbClr val="2F6DB5"/>
              </a:buClr>
              <a:buFont typeface="Arial"/>
              <a:buChar char="•"/>
            </a:pPr>
            <a:r>
              <a:rPr sz="1350" b="0" i="0">
                <a:solidFill>
                  <a:srgbClr val="1F2D3D"/>
                </a:solidFill>
                <a:latin typeface="Calibri"/>
              </a:rPr>
              <a:t>Meal response from carbs, fiber and fat</a:t>
            </a:r>
          </a:p>
          <a:p>
            <a:pPr algn="l" marL="182880" indent="-182880">
              <a:spcAft>
                <a:spcPts val="500"/>
              </a:spcAft>
              <a:buClr>
                <a:srgbClr val="2F6DB5"/>
              </a:buClr>
              <a:buFont typeface="Arial"/>
              <a:buChar char="•"/>
            </a:pPr>
            <a:r>
              <a:rPr sz="1350" b="0" i="0">
                <a:solidFill>
                  <a:srgbClr val="1F2D3D"/>
                </a:solidFill>
                <a:latin typeface="Calibri"/>
              </a:rPr>
              <a:t>Walks, dawn rise, sleep + HRV, fading residual</a:t>
            </a:r>
          </a:p>
          <a:p>
            <a:pPr algn="l" marL="182880" indent="-182880">
              <a:spcAft>
                <a:spcPts val="500"/>
              </a:spcAft>
              <a:buClr>
                <a:srgbClr val="2F6DB5"/>
              </a:buClr>
              <a:buFont typeface="Arial"/>
              <a:buChar char="•"/>
            </a:pPr>
            <a:r>
              <a:rPr sz="1350" b="0" i="0">
                <a:solidFill>
                  <a:srgbClr val="1F2D3D"/>
                </a:solidFill>
                <a:latin typeface="Calibri"/>
              </a:rPr>
              <a:t>5 personal knobs, kept only if they beat the prior</a:t>
            </a:r>
          </a:p>
          <a:p>
            <a:pPr algn="l" marL="182880" indent="-182880">
              <a:spcAft>
                <a:spcPts val="500"/>
              </a:spcAft>
              <a:buClr>
                <a:srgbClr val="2F6DB5"/>
              </a:buClr>
              <a:buFont typeface="Arial"/>
              <a:buChar char="•"/>
            </a:pPr>
            <a:r>
              <a:rPr sz="1350" b="0" i="0">
                <a:solidFill>
                  <a:srgbClr val="1F2D3D"/>
                </a:solidFill>
                <a:latin typeface="Calibri"/>
              </a:rPr>
              <a:t>Conformal 10–90% band from its own errors</a:t>
            </a:r>
          </a:p>
          <a:p>
            <a:pPr algn="l" marL="182880" indent="-182880">
              <a:spcAft>
                <a:spcPts val="500"/>
              </a:spcAft>
              <a:buClr>
                <a:srgbClr val="2F6DB5"/>
              </a:buClr>
              <a:buFont typeface="Arial"/>
              <a:buChar char="•"/>
            </a:pPr>
            <a:r>
              <a:rPr sz="1350" b="0" i="0">
                <a:solidFill>
                  <a:srgbClr val="1F2D3D"/>
                </a:solidFill>
                <a:latin typeface="Calibri"/>
              </a:rPr>
              <a:t>Spike and low probability → alerts</a:t>
            </a:r>
          </a:p>
        </p:txBody>
      </p:sp>
      <p:sp>
        <p:nvSpPr>
          <p:cNvPr id="14" name="Rectangle 13"/>
          <p:cNvSpPr/>
          <p:nvPr/>
        </p:nvSpPr>
        <p:spPr>
          <a:xfrm>
            <a:off x="548640" y="4736592"/>
            <a:ext cx="3538728" cy="457200"/>
          </a:xfrm>
          <a:prstGeom prst="rect">
            <a:avLst/>
          </a:prstGeom>
          <a:solidFill>
            <a:srgbClr val="FFFFFF"/>
          </a:solidFill>
          <a:ln w="19050">
            <a:solidFill>
              <a:srgbClr val="2F6DB5"/>
            </a:solidFill>
          </a:ln>
        </p:spPr>
        <p:txBody>
          <a:bodyPr rtlCol="0" anchor="ctr" wrap="square" lIns="73152" rIns="73152" tIns="36576" bIns="36576"/>
          <a:lstStyle/>
          <a:p>
            <a:pPr algn="ctr">
              <a:spcAft>
                <a:spcPts val="0"/>
              </a:spcAft>
            </a:pPr>
            <a:r>
              <a:rPr sz="1350" b="1" i="0">
                <a:solidFill>
                  <a:srgbClr val="2F6DB5"/>
                </a:solidFill>
                <a:latin typeface="Calibri"/>
              </a:rPr>
              <a:t>Every curve is explainable</a:t>
            </a:r>
          </a:p>
        </p:txBody>
      </p:sp>
      <p:sp>
        <p:nvSpPr>
          <p:cNvPr id="15" name="Rectangle 14"/>
          <p:cNvSpPr/>
          <p:nvPr/>
        </p:nvSpPr>
        <p:spPr>
          <a:xfrm>
            <a:off x="4325112" y="1325880"/>
            <a:ext cx="3538728" cy="777240"/>
          </a:xfrm>
          <a:prstGeom prst="rect">
            <a:avLst/>
          </a:prstGeom>
          <a:solidFill>
            <a:srgbClr val="E07B22"/>
          </a:solidFill>
          <a:ln>
            <a:noFill/>
          </a:ln>
        </p:spPr>
        <p:txBody>
          <a:bodyPr rtlCol="0" anchor="ctr"/>
          <a:lstStyle/>
          <a:p>
            <a:pPr algn="ctr"/>
          </a:p>
        </p:txBody>
      </p:sp>
      <p:sp>
        <p:nvSpPr>
          <p:cNvPr id="16" name="TextBox 15"/>
          <p:cNvSpPr txBox="1"/>
          <p:nvPr/>
        </p:nvSpPr>
        <p:spPr>
          <a:xfrm>
            <a:off x="4507992" y="1389888"/>
            <a:ext cx="3200400" cy="365760"/>
          </a:xfrm>
          <a:prstGeom prst="rect">
            <a:avLst/>
          </a:prstGeom>
          <a:noFill/>
        </p:spPr>
        <p:txBody>
          <a:bodyPr wrap="square" lIns="0" rIns="0" tIns="0" bIns="0" anchor="t">
            <a:spAutoFit/>
          </a:bodyPr>
          <a:lstStyle/>
          <a:p>
            <a:pPr algn="l">
              <a:spcAft>
                <a:spcPts val="0"/>
              </a:spcAft>
            </a:pPr>
            <a:r>
              <a:rPr sz="1900" b="1" i="0">
                <a:solidFill>
                  <a:srgbClr val="FFFFFF"/>
                </a:solidFill>
                <a:latin typeface="Calibri"/>
              </a:rPr>
              <a:t>MACHINE LEARNING</a:t>
            </a:r>
          </a:p>
        </p:txBody>
      </p:sp>
      <p:sp>
        <p:nvSpPr>
          <p:cNvPr id="17" name="TextBox 16"/>
          <p:cNvSpPr txBox="1"/>
          <p:nvPr/>
        </p:nvSpPr>
        <p:spPr>
          <a:xfrm>
            <a:off x="4507992" y="1764792"/>
            <a:ext cx="3200400" cy="274320"/>
          </a:xfrm>
          <a:prstGeom prst="rect">
            <a:avLst/>
          </a:prstGeom>
          <a:noFill/>
        </p:spPr>
        <p:txBody>
          <a:bodyPr wrap="square" lIns="0" rIns="0" tIns="0" bIns="0" anchor="t">
            <a:spAutoFit/>
          </a:bodyPr>
          <a:lstStyle/>
          <a:p>
            <a:pPr algn="l">
              <a:spcAft>
                <a:spcPts val="0"/>
              </a:spcAft>
            </a:pPr>
            <a:r>
              <a:rPr sz="1200" b="0" i="0">
                <a:solidFill>
                  <a:srgbClr val="FFFFFF"/>
                </a:solidFill>
                <a:latin typeface="Calibri"/>
              </a:rPr>
              <a:t>Python, offline</a:t>
            </a:r>
          </a:p>
        </p:txBody>
      </p:sp>
      <p:sp>
        <p:nvSpPr>
          <p:cNvPr id="18" name="Rectangle 17"/>
          <p:cNvSpPr/>
          <p:nvPr/>
        </p:nvSpPr>
        <p:spPr>
          <a:xfrm>
            <a:off x="4325112" y="2103120"/>
            <a:ext cx="3538728" cy="2514600"/>
          </a:xfrm>
          <a:prstGeom prst="rect">
            <a:avLst/>
          </a:prstGeom>
          <a:solidFill>
            <a:srgbClr val="F3F5F9"/>
          </a:solidFill>
          <a:ln>
            <a:noFill/>
          </a:ln>
        </p:spPr>
        <p:txBody>
          <a:bodyPr rtlCol="0" anchor="ctr"/>
          <a:lstStyle/>
          <a:p>
            <a:pPr algn="ctr"/>
          </a:p>
        </p:txBody>
      </p:sp>
      <p:sp>
        <p:nvSpPr>
          <p:cNvPr id="19" name="TextBox 18"/>
          <p:cNvSpPr txBox="1"/>
          <p:nvPr/>
        </p:nvSpPr>
        <p:spPr>
          <a:xfrm>
            <a:off x="4526279" y="2240280"/>
            <a:ext cx="3154680" cy="2331720"/>
          </a:xfrm>
          <a:prstGeom prst="rect">
            <a:avLst/>
          </a:prstGeom>
          <a:noFill/>
        </p:spPr>
        <p:txBody>
          <a:bodyPr wrap="square" lIns="0" rIns="0" tIns="0" bIns="0" anchor="t">
            <a:spAutoFit/>
          </a:bodyPr>
          <a:lstStyle/>
          <a:p>
            <a:pPr algn="l" marL="182880" indent="-182880">
              <a:spcAft>
                <a:spcPts val="500"/>
              </a:spcAft>
              <a:buClr>
                <a:srgbClr val="E07B22"/>
              </a:buClr>
              <a:buFont typeface="Arial"/>
              <a:buChar char="•"/>
            </a:pPr>
            <a:r>
              <a:rPr sz="1350" b="0" i="0">
                <a:solidFill>
                  <a:srgbClr val="1F2D3D"/>
                </a:solidFill>
                <a:latin typeface="Calibri"/>
              </a:rPr>
              <a:t>Ridge prior: labs, BMI, age, sex → day-0 knobs (−12% error)</a:t>
            </a:r>
          </a:p>
          <a:p>
            <a:pPr algn="l" marL="182880" indent="-182880">
              <a:spcAft>
                <a:spcPts val="500"/>
              </a:spcAft>
              <a:buClr>
                <a:srgbClr val="E07B22"/>
              </a:buClr>
              <a:buFont typeface="Arial"/>
              <a:buChar char="•"/>
            </a:pPr>
            <a:r>
              <a:rPr sz="1350" b="0" i="0">
                <a:solidFill>
                  <a:srgbClr val="1F2D3D"/>
                </a:solidFill>
                <a:latin typeface="Calibri"/>
              </a:rPr>
              <a:t>LightGBM learns the physiology residual</a:t>
            </a:r>
          </a:p>
          <a:p>
            <a:pPr algn="l" marL="182880" indent="-182880">
              <a:spcAft>
                <a:spcPts val="500"/>
              </a:spcAft>
              <a:buClr>
                <a:srgbClr val="E07B22"/>
              </a:buClr>
              <a:buFont typeface="Arial"/>
              <a:buChar char="•"/>
            </a:pPr>
            <a:r>
              <a:rPr sz="1350" b="0" i="0">
                <a:solidFill>
                  <a:srgbClr val="1F2D3D"/>
                </a:solidFill>
                <a:latin typeface="Calibri"/>
              </a:rPr>
              <a:t>Subgroup rule sets a cold-start prior</a:t>
            </a:r>
          </a:p>
          <a:p>
            <a:pPr algn="l" marL="182880" indent="-182880">
              <a:spcAft>
                <a:spcPts val="500"/>
              </a:spcAft>
              <a:buClr>
                <a:srgbClr val="E07B22"/>
              </a:buClr>
              <a:buFont typeface="Arial"/>
              <a:buChar char="•"/>
            </a:pPr>
            <a:r>
              <a:rPr sz="1350" b="0" i="0">
                <a:solidFill>
                  <a:srgbClr val="1F2D3D"/>
                </a:solidFill>
                <a:latin typeface="Calibri"/>
              </a:rPr>
              <a:t>Drift monitor flags when the band stops fitting</a:t>
            </a:r>
          </a:p>
          <a:p>
            <a:pPr algn="l" marL="182880" indent="-182880">
              <a:spcAft>
                <a:spcPts val="500"/>
              </a:spcAft>
              <a:buClr>
                <a:srgbClr val="E07B22"/>
              </a:buClr>
              <a:buFont typeface="Arial"/>
              <a:buChar char="•"/>
            </a:pPr>
            <a:r>
              <a:rPr sz="1350" b="0" i="0">
                <a:solidFill>
                  <a:srgbClr val="1F2D3D"/>
                </a:solidFill>
                <a:latin typeface="Calibri"/>
              </a:rPr>
              <a:t>Python ↔ TypeScript parity on 300 cases</a:t>
            </a:r>
          </a:p>
        </p:txBody>
      </p:sp>
      <p:sp>
        <p:nvSpPr>
          <p:cNvPr id="20" name="Rectangle 19"/>
          <p:cNvSpPr/>
          <p:nvPr/>
        </p:nvSpPr>
        <p:spPr>
          <a:xfrm>
            <a:off x="4325112" y="4736592"/>
            <a:ext cx="3538728" cy="457200"/>
          </a:xfrm>
          <a:prstGeom prst="rect">
            <a:avLst/>
          </a:prstGeom>
          <a:solidFill>
            <a:srgbClr val="FFFFFF"/>
          </a:solidFill>
          <a:ln w="19050">
            <a:solidFill>
              <a:srgbClr val="E07B22"/>
            </a:solidFill>
          </a:ln>
        </p:spPr>
        <p:txBody>
          <a:bodyPr rtlCol="0" anchor="ctr" wrap="square" lIns="73152" rIns="73152" tIns="36576" bIns="36576"/>
          <a:lstStyle/>
          <a:p>
            <a:pPr algn="ctr">
              <a:spcAft>
                <a:spcPts val="0"/>
              </a:spcAft>
            </a:pPr>
            <a:r>
              <a:rPr sz="1350" b="1" i="0">
                <a:solidFill>
                  <a:srgbClr val="E07B22"/>
                </a:solidFill>
                <a:latin typeface="Calibri"/>
              </a:rPr>
              <a:t>Learns only what physiology misses</a:t>
            </a:r>
          </a:p>
        </p:txBody>
      </p:sp>
      <p:sp>
        <p:nvSpPr>
          <p:cNvPr id="21" name="Rectangle 20"/>
          <p:cNvSpPr/>
          <p:nvPr/>
        </p:nvSpPr>
        <p:spPr>
          <a:xfrm>
            <a:off x="8101583" y="1325880"/>
            <a:ext cx="3538728" cy="777240"/>
          </a:xfrm>
          <a:prstGeom prst="rect">
            <a:avLst/>
          </a:prstGeom>
          <a:solidFill>
            <a:srgbClr val="1A8F7A"/>
          </a:solidFill>
          <a:ln>
            <a:noFill/>
          </a:ln>
        </p:spPr>
        <p:txBody>
          <a:bodyPr rtlCol="0" anchor="ctr"/>
          <a:lstStyle/>
          <a:p>
            <a:pPr algn="ctr"/>
          </a:p>
        </p:txBody>
      </p:sp>
      <p:sp>
        <p:nvSpPr>
          <p:cNvPr id="22" name="TextBox 21"/>
          <p:cNvSpPr txBox="1"/>
          <p:nvPr/>
        </p:nvSpPr>
        <p:spPr>
          <a:xfrm>
            <a:off x="8284463" y="1389888"/>
            <a:ext cx="3200400" cy="365760"/>
          </a:xfrm>
          <a:prstGeom prst="rect">
            <a:avLst/>
          </a:prstGeom>
          <a:noFill/>
        </p:spPr>
        <p:txBody>
          <a:bodyPr wrap="square" lIns="0" rIns="0" tIns="0" bIns="0" anchor="t">
            <a:spAutoFit/>
          </a:bodyPr>
          <a:lstStyle/>
          <a:p>
            <a:pPr algn="l">
              <a:spcAft>
                <a:spcPts val="0"/>
              </a:spcAft>
            </a:pPr>
            <a:r>
              <a:rPr sz="1900" b="1" i="0">
                <a:solidFill>
                  <a:srgbClr val="FFFFFF"/>
                </a:solidFill>
                <a:latin typeface="Calibri"/>
              </a:rPr>
              <a:t>DOCTOR</a:t>
            </a:r>
          </a:p>
        </p:txBody>
      </p:sp>
      <p:sp>
        <p:nvSpPr>
          <p:cNvPr id="23" name="TextBox 22"/>
          <p:cNvSpPr txBox="1"/>
          <p:nvPr/>
        </p:nvSpPr>
        <p:spPr>
          <a:xfrm>
            <a:off x="8284463" y="1764792"/>
            <a:ext cx="3200400" cy="274320"/>
          </a:xfrm>
          <a:prstGeom prst="rect">
            <a:avLst/>
          </a:prstGeom>
          <a:noFill/>
        </p:spPr>
        <p:txBody>
          <a:bodyPr wrap="square" lIns="0" rIns="0" tIns="0" bIns="0" anchor="t">
            <a:spAutoFit/>
          </a:bodyPr>
          <a:lstStyle/>
          <a:p>
            <a:pPr algn="l">
              <a:spcAft>
                <a:spcPts val="0"/>
              </a:spcAft>
            </a:pPr>
            <a:r>
              <a:rPr sz="1200" b="0" i="0">
                <a:solidFill>
                  <a:srgbClr val="FFFFFF"/>
                </a:solidFill>
                <a:latin typeface="Calibri"/>
              </a:rPr>
              <a:t>Reviews and decides</a:t>
            </a:r>
          </a:p>
        </p:txBody>
      </p:sp>
      <p:sp>
        <p:nvSpPr>
          <p:cNvPr id="24" name="Rectangle 23"/>
          <p:cNvSpPr/>
          <p:nvPr/>
        </p:nvSpPr>
        <p:spPr>
          <a:xfrm>
            <a:off x="8101583" y="2103120"/>
            <a:ext cx="3538728" cy="2514600"/>
          </a:xfrm>
          <a:prstGeom prst="rect">
            <a:avLst/>
          </a:prstGeom>
          <a:solidFill>
            <a:srgbClr val="F3F5F9"/>
          </a:solidFill>
          <a:ln>
            <a:noFill/>
          </a:ln>
        </p:spPr>
        <p:txBody>
          <a:bodyPr rtlCol="0" anchor="ctr"/>
          <a:lstStyle/>
          <a:p>
            <a:pPr algn="ctr"/>
          </a:p>
        </p:txBody>
      </p:sp>
      <p:sp>
        <p:nvSpPr>
          <p:cNvPr id="25" name="TextBox 24"/>
          <p:cNvSpPr txBox="1"/>
          <p:nvPr/>
        </p:nvSpPr>
        <p:spPr>
          <a:xfrm>
            <a:off x="8302752" y="2240280"/>
            <a:ext cx="3154680" cy="2331720"/>
          </a:xfrm>
          <a:prstGeom prst="rect">
            <a:avLst/>
          </a:prstGeom>
          <a:noFill/>
        </p:spPr>
        <p:txBody>
          <a:bodyPr wrap="square" lIns="0" rIns="0" tIns="0" bIns="0" anchor="t">
            <a:spAutoFit/>
          </a:bodyPr>
          <a:lstStyle/>
          <a:p>
            <a:pPr algn="l" marL="182880" indent="-182880">
              <a:spcAft>
                <a:spcPts val="500"/>
              </a:spcAft>
              <a:buClr>
                <a:srgbClr val="1A8F7A"/>
              </a:buClr>
              <a:buFont typeface="Arial"/>
              <a:buChar char="•"/>
            </a:pPr>
            <a:r>
              <a:rPr sz="1350" b="0" i="0">
                <a:solidFill>
                  <a:srgbClr val="1F2D3D"/>
                </a:solidFill>
                <a:latin typeface="Calibri"/>
              </a:rPr>
              <a:t>Works from a cohort ranked by urgency</a:t>
            </a:r>
          </a:p>
          <a:p>
            <a:pPr algn="l" marL="182880" indent="-182880">
              <a:spcAft>
                <a:spcPts val="500"/>
              </a:spcAft>
              <a:buClr>
                <a:srgbClr val="1A8F7A"/>
              </a:buClr>
              <a:buFont typeface="Arial"/>
              <a:buChar char="•"/>
            </a:pPr>
            <a:r>
              <a:rPr sz="1350" b="0" i="0">
                <a:solidFill>
                  <a:srgbClr val="1F2D3D"/>
                </a:solidFill>
                <a:latin typeface="Calibri"/>
              </a:rPr>
              <a:t>Picks a lifestyle plan, or none</a:t>
            </a:r>
          </a:p>
          <a:p>
            <a:pPr algn="l" marL="182880" indent="-182880">
              <a:spcAft>
                <a:spcPts val="500"/>
              </a:spcAft>
              <a:buClr>
                <a:srgbClr val="1A8F7A"/>
              </a:buClr>
              <a:buFont typeface="Arial"/>
              <a:buChar char="•"/>
            </a:pPr>
            <a:r>
              <a:rPr sz="1350" b="0" i="0">
                <a:solidFill>
                  <a:srgbClr val="1F2D3D"/>
                </a:solidFill>
                <a:latin typeface="Calibri"/>
              </a:rPr>
              <a:t>Acknowledges or marks a false alarm</a:t>
            </a:r>
          </a:p>
          <a:p>
            <a:pPr algn="l" marL="182880" indent="-182880">
              <a:spcAft>
                <a:spcPts val="500"/>
              </a:spcAft>
              <a:buClr>
                <a:srgbClr val="1A8F7A"/>
              </a:buClr>
              <a:buFont typeface="Arial"/>
              <a:buChar char="•"/>
            </a:pPr>
            <a:r>
              <a:rPr sz="1350" b="0" i="0">
                <a:solidFill>
                  <a:srgbClr val="1F2D3D"/>
                </a:solidFill>
                <a:latin typeface="Calibri"/>
              </a:rPr>
              <a:t>Sees the data source on every screen</a:t>
            </a:r>
          </a:p>
          <a:p>
            <a:pPr algn="l" marL="182880" indent="-182880">
              <a:spcAft>
                <a:spcPts val="500"/>
              </a:spcAft>
              <a:buClr>
                <a:srgbClr val="1A8F7A"/>
              </a:buClr>
              <a:buFont typeface="Arial"/>
              <a:buChar char="•"/>
            </a:pPr>
            <a:r>
              <a:rPr sz="1350" b="0" i="0">
                <a:solidFill>
                  <a:srgbClr val="1F2D3D"/>
                </a:solidFill>
                <a:latin typeface="Calibri"/>
              </a:rPr>
              <a:t>Never sees a dose suggestion</a:t>
            </a:r>
          </a:p>
        </p:txBody>
      </p:sp>
      <p:sp>
        <p:nvSpPr>
          <p:cNvPr id="26" name="Rectangle 25"/>
          <p:cNvSpPr/>
          <p:nvPr/>
        </p:nvSpPr>
        <p:spPr>
          <a:xfrm>
            <a:off x="8101583" y="4736592"/>
            <a:ext cx="3538728" cy="457200"/>
          </a:xfrm>
          <a:prstGeom prst="rect">
            <a:avLst/>
          </a:prstGeom>
          <a:solidFill>
            <a:srgbClr val="FFFFFF"/>
          </a:solidFill>
          <a:ln w="19050">
            <a:solidFill>
              <a:srgbClr val="1A8F7A"/>
            </a:solidFill>
          </a:ln>
        </p:spPr>
        <p:txBody>
          <a:bodyPr rtlCol="0" anchor="ctr" wrap="square" lIns="73152" rIns="73152" tIns="36576" bIns="36576"/>
          <a:lstStyle/>
          <a:p>
            <a:pPr algn="ctr">
              <a:spcAft>
                <a:spcPts val="0"/>
              </a:spcAft>
            </a:pPr>
            <a:r>
              <a:rPr sz="1350" b="1" i="0">
                <a:solidFill>
                  <a:srgbClr val="1A8F7A"/>
                </a:solidFill>
                <a:latin typeface="Calibri"/>
              </a:rPr>
              <a:t>Accountability stays with the doctor</a:t>
            </a:r>
          </a:p>
        </p:txBody>
      </p:sp>
      <p:sp>
        <p:nvSpPr>
          <p:cNvPr id="27" name="TextBox 26"/>
          <p:cNvSpPr txBox="1"/>
          <p:nvPr/>
        </p:nvSpPr>
        <p:spPr>
          <a:xfrm>
            <a:off x="548640" y="5394960"/>
            <a:ext cx="11091672" cy="822960"/>
          </a:xfrm>
          <a:prstGeom prst="rect">
            <a:avLst/>
          </a:prstGeom>
          <a:noFill/>
        </p:spPr>
        <p:txBody>
          <a:bodyPr wrap="square" lIns="0" rIns="0" tIns="0" bIns="0" anchor="t">
            <a:spAutoFit/>
          </a:bodyPr>
          <a:lstStyle/>
          <a:p>
            <a:pPr algn="l">
              <a:spcAft>
                <a:spcPts val="0"/>
              </a:spcAft>
            </a:pPr>
            <a:r>
              <a:rPr sz="1400" b="1" i="0">
                <a:solidFill>
                  <a:srgbClr val="E07B22"/>
                </a:solidFill>
                <a:latin typeface="Calibri"/>
              </a:rPr>
              <a:t>Why not a pure black box: </a:t>
            </a:r>
            <a:r>
              <a:rPr sz="1400" b="0" i="0">
                <a:solidFill>
                  <a:srgbClr val="1F2D3D"/>
                </a:solidFill>
                <a:latin typeface="Calibri"/>
              </a:rPr>
              <a:t>open data has only 45 real people with CGM and logged meals. A physiology core fitted to each person in five days generalises, explains itself, and leaves ML to correct what it misses: LightGBM cut held-out 2-hour error from 47.7 to 43.2 mg/dL.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band"/>
          <p:cNvSpPr/>
          <p:nvPr/>
        </p:nvSpPr>
        <p:spPr>
          <a:xfrm>
            <a:off x="0" y="0"/>
            <a:ext cx="12191695" cy="82296"/>
          </a:xfrm>
          <a:prstGeom prst="rect">
            <a:avLst/>
          </a:prstGeom>
          <a:solidFill>
            <a:srgbClr val="1F3A5F"/>
          </a:solidFill>
          <a:ln>
            <a:noFill/>
          </a:ln>
        </p:spPr>
        <p:txBody>
          <a:bodyPr rtlCol="0" anchor="ctr"/>
          <a:lstStyle/>
          <a:p>
            <a:pPr algn="ctr"/>
          </a:p>
        </p:txBody>
      </p:sp>
      <p:sp>
        <p:nvSpPr>
          <p:cNvPr id="3" name="Top accent"/>
          <p:cNvSpPr/>
          <p:nvPr/>
        </p:nvSpPr>
        <p:spPr>
          <a:xfrm>
            <a:off x="0" y="82296"/>
            <a:ext cx="2011680" cy="45720"/>
          </a:xfrm>
          <a:prstGeom prst="rect">
            <a:avLst/>
          </a:prstGeom>
          <a:solidFill>
            <a:srgbClr val="E07B22"/>
          </a:solidFill>
          <a:ln>
            <a:noFill/>
          </a:ln>
        </p:spPr>
        <p:txBody>
          <a:bodyPr rtlCol="0" anchor="ctr"/>
          <a:lstStyle/>
          <a:p>
            <a:pPr algn="ctr"/>
          </a:p>
        </p:txBody>
      </p:sp>
      <p:sp>
        <p:nvSpPr>
          <p:cNvPr id="4" name="Kicker"/>
          <p:cNvSpPr txBox="1"/>
          <p:nvPr/>
        </p:nvSpPr>
        <p:spPr>
          <a:xfrm>
            <a:off x="548640" y="329184"/>
            <a:ext cx="11091672" cy="237744"/>
          </a:xfrm>
          <a:prstGeom prst="rect">
            <a:avLst/>
          </a:prstGeom>
          <a:noFill/>
        </p:spPr>
        <p:txBody>
          <a:bodyPr wrap="square" lIns="0" rIns="0" tIns="0" bIns="0" anchor="t">
            <a:spAutoFit/>
          </a:bodyPr>
          <a:lstStyle/>
          <a:p>
            <a:pPr algn="l">
              <a:spcAft>
                <a:spcPts val="0"/>
              </a:spcAft>
            </a:pPr>
            <a:r>
              <a:rPr sz="1200" b="1" i="0">
                <a:solidFill>
                  <a:srgbClr val="E07B22"/>
                </a:solidFill>
                <a:latin typeface="Calibri"/>
              </a:rPr>
              <a:t>13 · ARCHITECTURE &amp; DATA FLOW</a:t>
            </a:r>
          </a:p>
        </p:txBody>
      </p:sp>
      <p:sp>
        <p:nvSpPr>
          <p:cNvPr id="5" name="Title"/>
          <p:cNvSpPr txBox="1"/>
          <p:nvPr/>
        </p:nvSpPr>
        <p:spPr>
          <a:xfrm>
            <a:off x="548640" y="566928"/>
            <a:ext cx="11091672" cy="566928"/>
          </a:xfrm>
          <a:prstGeom prst="rect">
            <a:avLst/>
          </a:prstGeom>
          <a:noFill/>
        </p:spPr>
        <p:txBody>
          <a:bodyPr wrap="square" lIns="0" rIns="0" tIns="0" bIns="0" anchor="t">
            <a:spAutoFit/>
          </a:bodyPr>
          <a:lstStyle/>
          <a:p>
            <a:pPr algn="l">
              <a:spcAft>
                <a:spcPts val="0"/>
              </a:spcAft>
            </a:pPr>
            <a:r>
              <a:rPr sz="3000" b="1" i="0">
                <a:solidFill>
                  <a:srgbClr val="1F3A5F"/>
                </a:solidFill>
                <a:latin typeface="Calibri"/>
              </a:rPr>
              <a:t>How data flows, and where the twin acts</a:t>
            </a:r>
          </a:p>
        </p:txBody>
      </p:sp>
      <p:cxnSp>
        <p:nvCxnSpPr>
          <p:cNvPr id="6" name="Footer rule"/>
          <p:cNvCxnSpPr/>
          <p:nvPr/>
        </p:nvCxnSpPr>
        <p:spPr>
          <a:xfrm>
            <a:off x="548640" y="6382512"/>
            <a:ext cx="11091672" cy="0"/>
          </a:xfrm>
          <a:prstGeom prst="line">
            <a:avLst/>
          </a:prstGeom>
          <a:ln w="9525">
            <a:solidFill>
              <a:srgbClr val="C9D1DC"/>
            </a:solidFill>
          </a:ln>
        </p:spPr>
        <p:style>
          <a:lnRef idx="2">
            <a:schemeClr val="accent1"/>
          </a:lnRef>
          <a:fillRef idx="0">
            <a:schemeClr val="accent1"/>
          </a:fillRef>
          <a:effectRef idx="1">
            <a:schemeClr val="accent1"/>
          </a:effectRef>
          <a:fontRef idx="minor">
            <a:schemeClr val="tx1"/>
          </a:fontRef>
        </p:style>
      </p:cxnSp>
      <p:sp>
        <p:nvSpPr>
          <p:cNvPr id="7" name="Sources"/>
          <p:cNvSpPr txBox="1"/>
          <p:nvPr/>
        </p:nvSpPr>
        <p:spPr>
          <a:xfrm>
            <a:off x="548640" y="6428232"/>
            <a:ext cx="10634472" cy="365760"/>
          </a:xfrm>
          <a:prstGeom prst="rect">
            <a:avLst/>
          </a:prstGeom>
          <a:noFill/>
        </p:spPr>
        <p:txBody>
          <a:bodyPr wrap="square" lIns="0" rIns="0" tIns="0" bIns="0" anchor="t">
            <a:spAutoFit/>
          </a:bodyPr>
          <a:lstStyle/>
          <a:p>
            <a:pPr algn="l">
              <a:spcAft>
                <a:spcPts val="0"/>
              </a:spcAft>
            </a:pPr>
            <a:r>
              <a:rPr sz="900" b="0" i="0">
                <a:solidFill>
                  <a:srgbClr val="5B6675"/>
                </a:solidFill>
                <a:latin typeface="Calibri"/>
              </a:rPr>
              <a:t>Sources: GlucoTwin architecture as built (docs/architecture). Benchmark 17 Oct 2026 on one laptop thread. Items under NEXT are planned, not built. The app deploys as serverless functions (Nitro on Vercel).</a:t>
            </a:r>
          </a:p>
        </p:txBody>
      </p:sp>
      <p:sp>
        <p:nvSpPr>
          <p:cNvPr id="8" name="Page number"/>
          <p:cNvSpPr txBox="1"/>
          <p:nvPr/>
        </p:nvSpPr>
        <p:spPr>
          <a:xfrm>
            <a:off x="11274552" y="6446520"/>
            <a:ext cx="365760" cy="228600"/>
          </a:xfrm>
          <a:prstGeom prst="rect">
            <a:avLst/>
          </a:prstGeom>
          <a:noFill/>
        </p:spPr>
        <p:txBody>
          <a:bodyPr wrap="square" lIns="0" rIns="0" tIns="0" bIns="0" anchor="t">
            <a:spAutoFit/>
          </a:bodyPr>
          <a:lstStyle/>
          <a:p>
            <a:pPr algn="r">
              <a:spcAft>
                <a:spcPts val="0"/>
              </a:spcAft>
            </a:pPr>
            <a:r>
              <a:rPr sz="1100" b="1" i="0">
                <a:solidFill>
                  <a:srgbClr val="1F3A5F"/>
                </a:solidFill>
                <a:latin typeface="Calibri"/>
              </a:rPr>
              <a:t>13</a:t>
            </a:r>
          </a:p>
        </p:txBody>
      </p:sp>
      <p:sp>
        <p:nvSpPr>
          <p:cNvPr id="9" name="TextBox 8"/>
          <p:cNvSpPr txBox="1"/>
          <p:nvPr/>
        </p:nvSpPr>
        <p:spPr>
          <a:xfrm>
            <a:off x="548640" y="1261872"/>
            <a:ext cx="2075688" cy="237744"/>
          </a:xfrm>
          <a:prstGeom prst="rect">
            <a:avLst/>
          </a:prstGeom>
          <a:noFill/>
        </p:spPr>
        <p:txBody>
          <a:bodyPr wrap="square" lIns="0" rIns="0" tIns="0" bIns="0" anchor="t">
            <a:spAutoFit/>
          </a:bodyPr>
          <a:lstStyle/>
          <a:p>
            <a:pPr algn="l">
              <a:spcAft>
                <a:spcPts val="0"/>
              </a:spcAft>
            </a:pPr>
            <a:r>
              <a:rPr sz="1100" b="1" i="0">
                <a:solidFill>
                  <a:srgbClr val="5B6675"/>
                </a:solidFill>
                <a:latin typeface="Calibri"/>
              </a:rPr>
              <a:t>INPUTS</a:t>
            </a:r>
          </a:p>
        </p:txBody>
      </p:sp>
      <p:sp>
        <p:nvSpPr>
          <p:cNvPr id="10" name="Rectangle 9"/>
          <p:cNvSpPr/>
          <p:nvPr/>
        </p:nvSpPr>
        <p:spPr>
          <a:xfrm>
            <a:off x="548640" y="1536192"/>
            <a:ext cx="2075688" cy="2852928"/>
          </a:xfrm>
          <a:prstGeom prst="rect">
            <a:avLst/>
          </a:prstGeom>
          <a:solidFill>
            <a:srgbClr val="F3F5F9"/>
          </a:solidFill>
          <a:ln>
            <a:noFill/>
          </a:ln>
        </p:spPr>
        <p:txBody>
          <a:bodyPr rtlCol="0" anchor="ctr"/>
          <a:lstStyle/>
          <a:p>
            <a:pPr algn="ctr"/>
          </a:p>
        </p:txBody>
      </p:sp>
      <p:sp>
        <p:nvSpPr>
          <p:cNvPr id="11" name="Rounded Rectangle 10"/>
          <p:cNvSpPr/>
          <p:nvPr/>
        </p:nvSpPr>
        <p:spPr>
          <a:xfrm>
            <a:off x="658368" y="1700784"/>
            <a:ext cx="1856232" cy="548640"/>
          </a:xfrm>
          <a:prstGeom prst="roundRect">
            <a:avLst>
              <a:gd name="adj" fmla="val 10000"/>
            </a:avLst>
          </a:prstGeom>
          <a:solidFill>
            <a:srgbClr val="FFFFFF"/>
          </a:solidFill>
          <a:ln w="12700">
            <a:solidFill>
              <a:srgbClr val="C9D1DC"/>
            </a:solidFill>
          </a:ln>
        </p:spPr>
        <p:txBody>
          <a:bodyPr rtlCol="0" anchor="ctr" wrap="square" lIns="73152" rIns="73152" tIns="36576" bIns="36576"/>
          <a:lstStyle/>
          <a:p>
            <a:pPr algn="ctr">
              <a:spcAft>
                <a:spcPts val="0"/>
              </a:spcAft>
            </a:pPr>
            <a:r>
              <a:rPr sz="1150" b="0" i="0">
                <a:solidFill>
                  <a:srgbClr val="1F3A5F"/>
                </a:solidFill>
                <a:latin typeface="Calibri"/>
              </a:rPr>
              <a:t>CGM, every 5 min</a:t>
            </a:r>
          </a:p>
        </p:txBody>
      </p:sp>
      <p:sp>
        <p:nvSpPr>
          <p:cNvPr id="12" name="Rounded Rectangle 11"/>
          <p:cNvSpPr/>
          <p:nvPr/>
        </p:nvSpPr>
        <p:spPr>
          <a:xfrm>
            <a:off x="658368" y="2359152"/>
            <a:ext cx="1856232" cy="548640"/>
          </a:xfrm>
          <a:prstGeom prst="roundRect">
            <a:avLst>
              <a:gd name="adj" fmla="val 10000"/>
            </a:avLst>
          </a:prstGeom>
          <a:solidFill>
            <a:srgbClr val="FFFFFF"/>
          </a:solidFill>
          <a:ln w="12700">
            <a:solidFill>
              <a:srgbClr val="C9D1DC"/>
            </a:solidFill>
          </a:ln>
        </p:spPr>
        <p:txBody>
          <a:bodyPr rtlCol="0" anchor="ctr" wrap="square" lIns="73152" rIns="73152" tIns="36576" bIns="36576"/>
          <a:lstStyle/>
          <a:p>
            <a:pPr algn="ctr">
              <a:spcAft>
                <a:spcPts val="0"/>
              </a:spcAft>
            </a:pPr>
            <a:r>
              <a:rPr sz="1150" b="0" i="0">
                <a:solidFill>
                  <a:srgbClr val="1F3A5F"/>
                </a:solidFill>
                <a:latin typeface="Calibri"/>
              </a:rPr>
              <a:t>Sleep, HRV, steps</a:t>
            </a:r>
          </a:p>
        </p:txBody>
      </p:sp>
      <p:sp>
        <p:nvSpPr>
          <p:cNvPr id="13" name="Rounded Rectangle 12"/>
          <p:cNvSpPr/>
          <p:nvPr/>
        </p:nvSpPr>
        <p:spPr>
          <a:xfrm>
            <a:off x="658368" y="3017520"/>
            <a:ext cx="1856232" cy="548640"/>
          </a:xfrm>
          <a:prstGeom prst="roundRect">
            <a:avLst>
              <a:gd name="adj" fmla="val 10000"/>
            </a:avLst>
          </a:prstGeom>
          <a:solidFill>
            <a:srgbClr val="FFFFFF"/>
          </a:solidFill>
          <a:ln w="12700">
            <a:solidFill>
              <a:srgbClr val="C9D1DC"/>
            </a:solidFill>
          </a:ln>
        </p:spPr>
        <p:txBody>
          <a:bodyPr rtlCol="0" anchor="ctr" wrap="square" lIns="73152" rIns="73152" tIns="36576" bIns="36576"/>
          <a:lstStyle/>
          <a:p>
            <a:pPr algn="ctr">
              <a:spcAft>
                <a:spcPts val="0"/>
              </a:spcAft>
            </a:pPr>
            <a:r>
              <a:rPr sz="1150" b="0" i="0">
                <a:solidFill>
                  <a:srgbClr val="1F3A5F"/>
                </a:solidFill>
                <a:latin typeface="Calibri"/>
              </a:rPr>
              <a:t>FHIR R4 health record</a:t>
            </a:r>
          </a:p>
        </p:txBody>
      </p:sp>
      <p:sp>
        <p:nvSpPr>
          <p:cNvPr id="14" name="Rounded Rectangle 13"/>
          <p:cNvSpPr/>
          <p:nvPr/>
        </p:nvSpPr>
        <p:spPr>
          <a:xfrm>
            <a:off x="658368" y="3675887"/>
            <a:ext cx="1856232" cy="548640"/>
          </a:xfrm>
          <a:prstGeom prst="roundRect">
            <a:avLst>
              <a:gd name="adj" fmla="val 10000"/>
            </a:avLst>
          </a:prstGeom>
          <a:solidFill>
            <a:srgbClr val="FFFFFF"/>
          </a:solidFill>
          <a:ln w="12700">
            <a:solidFill>
              <a:srgbClr val="C9D1DC"/>
            </a:solidFill>
          </a:ln>
        </p:spPr>
        <p:txBody>
          <a:bodyPr rtlCol="0" anchor="ctr" wrap="square" lIns="73152" rIns="73152" tIns="36576" bIns="36576"/>
          <a:lstStyle/>
          <a:p>
            <a:pPr algn="ctr">
              <a:spcAft>
                <a:spcPts val="0"/>
              </a:spcAft>
            </a:pPr>
            <a:r>
              <a:rPr sz="1150" b="0" i="0">
                <a:solidFill>
                  <a:srgbClr val="1F3A5F"/>
                </a:solidFill>
                <a:latin typeface="Calibri"/>
              </a:rPr>
              <a:t>Meals (IFCT) and walks</a:t>
            </a:r>
          </a:p>
        </p:txBody>
      </p:sp>
      <p:sp>
        <p:nvSpPr>
          <p:cNvPr id="15" name="Right Arrow 14"/>
          <p:cNvSpPr/>
          <p:nvPr/>
        </p:nvSpPr>
        <p:spPr>
          <a:xfrm>
            <a:off x="2615184" y="2834640"/>
            <a:ext cx="182880" cy="237744"/>
          </a:xfrm>
          <a:prstGeom prst="rightArrow">
            <a:avLst/>
          </a:prstGeom>
          <a:solidFill>
            <a:srgbClr val="5B6675"/>
          </a:solidFill>
          <a:ln>
            <a:noFill/>
          </a:ln>
        </p:spPr>
        <p:txBody>
          <a:bodyPr rtlCol="0" anchor="ctr"/>
          <a:lstStyle/>
          <a:p>
            <a:pPr algn="ctr"/>
          </a:p>
        </p:txBody>
      </p:sp>
      <p:sp>
        <p:nvSpPr>
          <p:cNvPr id="16" name="TextBox 15"/>
          <p:cNvSpPr txBox="1"/>
          <p:nvPr/>
        </p:nvSpPr>
        <p:spPr>
          <a:xfrm>
            <a:off x="2802636" y="1261872"/>
            <a:ext cx="2075688" cy="237744"/>
          </a:xfrm>
          <a:prstGeom prst="rect">
            <a:avLst/>
          </a:prstGeom>
          <a:noFill/>
        </p:spPr>
        <p:txBody>
          <a:bodyPr wrap="square" lIns="0" rIns="0" tIns="0" bIns="0" anchor="t">
            <a:spAutoFit/>
          </a:bodyPr>
          <a:lstStyle/>
          <a:p>
            <a:pPr algn="l">
              <a:spcAft>
                <a:spcPts val="0"/>
              </a:spcAft>
            </a:pPr>
            <a:r>
              <a:rPr sz="1100" b="1" i="0">
                <a:solidFill>
                  <a:srgbClr val="5B6675"/>
                </a:solidFill>
                <a:latin typeface="Calibri"/>
              </a:rPr>
              <a:t>STREAM CHECKS (code)</a:t>
            </a:r>
          </a:p>
        </p:txBody>
      </p:sp>
      <p:sp>
        <p:nvSpPr>
          <p:cNvPr id="17" name="Rectangle 16"/>
          <p:cNvSpPr/>
          <p:nvPr/>
        </p:nvSpPr>
        <p:spPr>
          <a:xfrm>
            <a:off x="2802636" y="1536192"/>
            <a:ext cx="2075688" cy="2852928"/>
          </a:xfrm>
          <a:prstGeom prst="rect">
            <a:avLst/>
          </a:prstGeom>
          <a:solidFill>
            <a:srgbClr val="F3F5F9"/>
          </a:solidFill>
          <a:ln>
            <a:noFill/>
          </a:ln>
        </p:spPr>
        <p:txBody>
          <a:bodyPr rtlCol="0" anchor="ctr"/>
          <a:lstStyle/>
          <a:p>
            <a:pPr algn="ctr"/>
          </a:p>
        </p:txBody>
      </p:sp>
      <p:sp>
        <p:nvSpPr>
          <p:cNvPr id="18" name="Rounded Rectangle 17"/>
          <p:cNvSpPr/>
          <p:nvPr/>
        </p:nvSpPr>
        <p:spPr>
          <a:xfrm>
            <a:off x="2912364" y="2029967"/>
            <a:ext cx="1856232" cy="548640"/>
          </a:xfrm>
          <a:prstGeom prst="roundRect">
            <a:avLst>
              <a:gd name="adj" fmla="val 10000"/>
            </a:avLst>
          </a:prstGeom>
          <a:solidFill>
            <a:srgbClr val="2F6DB5"/>
          </a:solidFill>
          <a:ln>
            <a:noFill/>
          </a:ln>
        </p:spPr>
        <p:txBody>
          <a:bodyPr rtlCol="0" anchor="ctr" wrap="square" lIns="73152" rIns="73152" tIns="36576" bIns="36576"/>
          <a:lstStyle/>
          <a:p>
            <a:pPr algn="ctr">
              <a:spcAft>
                <a:spcPts val="0"/>
              </a:spcAft>
            </a:pPr>
            <a:r>
              <a:rPr sz="1150" b="1" i="0">
                <a:solidFill>
                  <a:srgbClr val="FFFFFF"/>
                </a:solidFill>
                <a:latin typeface="Calibri"/>
              </a:rPr>
              <a:t>5-min grid, gap flags</a:t>
            </a:r>
          </a:p>
        </p:txBody>
      </p:sp>
      <p:sp>
        <p:nvSpPr>
          <p:cNvPr id="19" name="Rounded Rectangle 18"/>
          <p:cNvSpPr/>
          <p:nvPr/>
        </p:nvSpPr>
        <p:spPr>
          <a:xfrm>
            <a:off x="2912364" y="2688335"/>
            <a:ext cx="1856232" cy="548640"/>
          </a:xfrm>
          <a:prstGeom prst="roundRect">
            <a:avLst>
              <a:gd name="adj" fmla="val 10000"/>
            </a:avLst>
          </a:prstGeom>
          <a:solidFill>
            <a:srgbClr val="2F6DB5"/>
          </a:solidFill>
          <a:ln>
            <a:noFill/>
          </a:ln>
        </p:spPr>
        <p:txBody>
          <a:bodyPr rtlCol="0" anchor="ctr" wrap="square" lIns="73152" rIns="73152" tIns="36576" bIns="36576"/>
          <a:lstStyle/>
          <a:p>
            <a:pPr algn="ctr">
              <a:spcAft>
                <a:spcPts val="0"/>
              </a:spcAft>
            </a:pPr>
            <a:r>
              <a:rPr sz="1150" b="1" i="0">
                <a:solidFill>
                  <a:srgbClr val="FFFFFF"/>
                </a:solidFill>
                <a:latin typeface="Calibri"/>
              </a:rPr>
              <a:t>Compression lows, sensor lag</a:t>
            </a:r>
          </a:p>
        </p:txBody>
      </p:sp>
      <p:sp>
        <p:nvSpPr>
          <p:cNvPr id="20" name="Rounded Rectangle 19"/>
          <p:cNvSpPr/>
          <p:nvPr/>
        </p:nvSpPr>
        <p:spPr>
          <a:xfrm>
            <a:off x="2912364" y="3346703"/>
            <a:ext cx="1856232" cy="548640"/>
          </a:xfrm>
          <a:prstGeom prst="roundRect">
            <a:avLst>
              <a:gd name="adj" fmla="val 10000"/>
            </a:avLst>
          </a:prstGeom>
          <a:solidFill>
            <a:srgbClr val="2F6DB5"/>
          </a:solidFill>
          <a:ln>
            <a:noFill/>
          </a:ln>
        </p:spPr>
        <p:txBody>
          <a:bodyPr rtlCol="0" anchor="ctr" wrap="square" lIns="73152" rIns="73152" tIns="36576" bIns="36576"/>
          <a:lstStyle/>
          <a:p>
            <a:pPr algn="ctr">
              <a:spcAft>
                <a:spcPts val="0"/>
              </a:spcAft>
            </a:pPr>
            <a:r>
              <a:rPr sz="1150" b="1" i="0">
                <a:solidFill>
                  <a:srgbClr val="FFFFFF"/>
                </a:solidFill>
                <a:latin typeface="Calibri"/>
              </a:rPr>
              <a:t>Unit mix-ups (mg/dL vs mmol/L)</a:t>
            </a:r>
          </a:p>
        </p:txBody>
      </p:sp>
      <p:sp>
        <p:nvSpPr>
          <p:cNvPr id="21" name="Right Arrow 20"/>
          <p:cNvSpPr/>
          <p:nvPr/>
        </p:nvSpPr>
        <p:spPr>
          <a:xfrm>
            <a:off x="4869180" y="2834640"/>
            <a:ext cx="182880" cy="237744"/>
          </a:xfrm>
          <a:prstGeom prst="rightArrow">
            <a:avLst/>
          </a:prstGeom>
          <a:solidFill>
            <a:srgbClr val="5B6675"/>
          </a:solidFill>
          <a:ln>
            <a:noFill/>
          </a:ln>
        </p:spPr>
        <p:txBody>
          <a:bodyPr rtlCol="0" anchor="ctr"/>
          <a:lstStyle/>
          <a:p>
            <a:pPr algn="ctr"/>
          </a:p>
        </p:txBody>
      </p:sp>
      <p:sp>
        <p:nvSpPr>
          <p:cNvPr id="22" name="TextBox 21"/>
          <p:cNvSpPr txBox="1"/>
          <p:nvPr/>
        </p:nvSpPr>
        <p:spPr>
          <a:xfrm>
            <a:off x="5056631" y="1261872"/>
            <a:ext cx="2075688" cy="237744"/>
          </a:xfrm>
          <a:prstGeom prst="rect">
            <a:avLst/>
          </a:prstGeom>
          <a:noFill/>
        </p:spPr>
        <p:txBody>
          <a:bodyPr wrap="square" lIns="0" rIns="0" tIns="0" bIns="0" anchor="t">
            <a:spAutoFit/>
          </a:bodyPr>
          <a:lstStyle/>
          <a:p>
            <a:pPr algn="l">
              <a:spcAft>
                <a:spcPts val="0"/>
              </a:spcAft>
            </a:pPr>
            <a:r>
              <a:rPr sz="1100" b="1" i="0">
                <a:solidFill>
                  <a:srgbClr val="5B6675"/>
                </a:solidFill>
                <a:latin typeface="Calibri"/>
              </a:rPr>
              <a:t>TWIN CORE (TypeScript)</a:t>
            </a:r>
          </a:p>
        </p:txBody>
      </p:sp>
      <p:sp>
        <p:nvSpPr>
          <p:cNvPr id="23" name="Rectangle 22"/>
          <p:cNvSpPr/>
          <p:nvPr/>
        </p:nvSpPr>
        <p:spPr>
          <a:xfrm>
            <a:off x="5056631" y="1536192"/>
            <a:ext cx="2075688" cy="2852928"/>
          </a:xfrm>
          <a:prstGeom prst="rect">
            <a:avLst/>
          </a:prstGeom>
          <a:solidFill>
            <a:srgbClr val="F3F5F9"/>
          </a:solidFill>
          <a:ln>
            <a:noFill/>
          </a:ln>
        </p:spPr>
        <p:txBody>
          <a:bodyPr rtlCol="0" anchor="ctr"/>
          <a:lstStyle/>
          <a:p>
            <a:pPr algn="ctr"/>
          </a:p>
        </p:txBody>
      </p:sp>
      <p:sp>
        <p:nvSpPr>
          <p:cNvPr id="24" name="Rounded Rectangle 23"/>
          <p:cNvSpPr/>
          <p:nvPr/>
        </p:nvSpPr>
        <p:spPr>
          <a:xfrm>
            <a:off x="5166359" y="1700784"/>
            <a:ext cx="1856232" cy="548640"/>
          </a:xfrm>
          <a:prstGeom prst="roundRect">
            <a:avLst>
              <a:gd name="adj" fmla="val 10000"/>
            </a:avLst>
          </a:prstGeom>
          <a:solidFill>
            <a:srgbClr val="E07B22"/>
          </a:solidFill>
          <a:ln>
            <a:noFill/>
          </a:ln>
        </p:spPr>
        <p:txBody>
          <a:bodyPr rtlCol="0" anchor="ctr" wrap="square" lIns="73152" rIns="73152" tIns="36576" bIns="36576"/>
          <a:lstStyle/>
          <a:p>
            <a:pPr algn="ctr">
              <a:spcAft>
                <a:spcPts val="0"/>
              </a:spcAft>
            </a:pPr>
            <a:r>
              <a:rPr sz="1150" b="1" i="0">
                <a:solidFill>
                  <a:srgbClr val="FFFFFF"/>
                </a:solidFill>
                <a:latin typeface="Calibri"/>
              </a:rPr>
              <a:t>Record prior + subgroup → day-0 knobs</a:t>
            </a:r>
          </a:p>
        </p:txBody>
      </p:sp>
      <p:sp>
        <p:nvSpPr>
          <p:cNvPr id="25" name="Rounded Rectangle 24"/>
          <p:cNvSpPr/>
          <p:nvPr/>
        </p:nvSpPr>
        <p:spPr>
          <a:xfrm>
            <a:off x="5166359" y="2359152"/>
            <a:ext cx="1856232" cy="548640"/>
          </a:xfrm>
          <a:prstGeom prst="roundRect">
            <a:avLst>
              <a:gd name="adj" fmla="val 10000"/>
            </a:avLst>
          </a:prstGeom>
          <a:solidFill>
            <a:srgbClr val="E07B22"/>
          </a:solidFill>
          <a:ln>
            <a:noFill/>
          </a:ln>
        </p:spPr>
        <p:txBody>
          <a:bodyPr rtlCol="0" anchor="ctr" wrap="square" lIns="73152" rIns="73152" tIns="36576" bIns="36576"/>
          <a:lstStyle/>
          <a:p>
            <a:pPr algn="ctr">
              <a:spcAft>
                <a:spcPts val="0"/>
              </a:spcAft>
            </a:pPr>
            <a:r>
              <a:rPr sz="1150" b="1" i="0">
                <a:solidFill>
                  <a:srgbClr val="FFFFFF"/>
                </a:solidFill>
                <a:latin typeface="Calibri"/>
              </a:rPr>
              <a:t>Fitted knobs + live state</a:t>
            </a:r>
          </a:p>
        </p:txBody>
      </p:sp>
      <p:sp>
        <p:nvSpPr>
          <p:cNvPr id="26" name="Rounded Rectangle 25"/>
          <p:cNvSpPr/>
          <p:nvPr/>
        </p:nvSpPr>
        <p:spPr>
          <a:xfrm>
            <a:off x="5166359" y="3017520"/>
            <a:ext cx="1856232" cy="548640"/>
          </a:xfrm>
          <a:prstGeom prst="roundRect">
            <a:avLst>
              <a:gd name="adj" fmla="val 10000"/>
            </a:avLst>
          </a:prstGeom>
          <a:solidFill>
            <a:srgbClr val="E07B22"/>
          </a:solidFill>
          <a:ln>
            <a:noFill/>
          </a:ln>
        </p:spPr>
        <p:txBody>
          <a:bodyPr rtlCol="0" anchor="ctr" wrap="square" lIns="73152" rIns="73152" tIns="36576" bIns="36576"/>
          <a:lstStyle/>
          <a:p>
            <a:pPr algn="ctr">
              <a:spcAft>
                <a:spcPts val="0"/>
              </a:spcAft>
            </a:pPr>
            <a:r>
              <a:rPr sz="1150" b="1" i="0">
                <a:solidFill>
                  <a:srgbClr val="FFFFFF"/>
                </a:solidFill>
                <a:latin typeface="Calibri"/>
              </a:rPr>
              <a:t>Forecast 30/60/120 + band</a:t>
            </a:r>
          </a:p>
        </p:txBody>
      </p:sp>
      <p:sp>
        <p:nvSpPr>
          <p:cNvPr id="27" name="Rounded Rectangle 26"/>
          <p:cNvSpPr/>
          <p:nvPr/>
        </p:nvSpPr>
        <p:spPr>
          <a:xfrm>
            <a:off x="5166359" y="3675887"/>
            <a:ext cx="1856232" cy="548640"/>
          </a:xfrm>
          <a:prstGeom prst="roundRect">
            <a:avLst>
              <a:gd name="adj" fmla="val 10000"/>
            </a:avLst>
          </a:prstGeom>
          <a:solidFill>
            <a:srgbClr val="E07B22"/>
          </a:solidFill>
          <a:ln>
            <a:noFill/>
          </a:ln>
        </p:spPr>
        <p:txBody>
          <a:bodyPr rtlCol="0" anchor="ctr" wrap="square" lIns="73152" rIns="73152" tIns="36576" bIns="36576"/>
          <a:lstStyle/>
          <a:p>
            <a:pPr algn="ctr">
              <a:spcAft>
                <a:spcPts val="0"/>
              </a:spcAft>
            </a:pPr>
            <a:r>
              <a:rPr sz="1150" b="1" i="0">
                <a:solidFill>
                  <a:srgbClr val="FFFFFF"/>
                </a:solidFill>
                <a:latin typeface="Calibri"/>
              </a:rPr>
              <a:t>Drift monitor</a:t>
            </a:r>
          </a:p>
        </p:txBody>
      </p:sp>
      <p:sp>
        <p:nvSpPr>
          <p:cNvPr id="28" name="Right Arrow 27"/>
          <p:cNvSpPr/>
          <p:nvPr/>
        </p:nvSpPr>
        <p:spPr>
          <a:xfrm>
            <a:off x="7123175" y="2834640"/>
            <a:ext cx="182880" cy="237744"/>
          </a:xfrm>
          <a:prstGeom prst="rightArrow">
            <a:avLst/>
          </a:prstGeom>
          <a:solidFill>
            <a:srgbClr val="5B6675"/>
          </a:solidFill>
          <a:ln>
            <a:noFill/>
          </a:ln>
        </p:spPr>
        <p:txBody>
          <a:bodyPr rtlCol="0" anchor="ctr"/>
          <a:lstStyle/>
          <a:p>
            <a:pPr algn="ctr"/>
          </a:p>
        </p:txBody>
      </p:sp>
      <p:sp>
        <p:nvSpPr>
          <p:cNvPr id="29" name="TextBox 28"/>
          <p:cNvSpPr txBox="1"/>
          <p:nvPr/>
        </p:nvSpPr>
        <p:spPr>
          <a:xfrm>
            <a:off x="7310627" y="1261872"/>
            <a:ext cx="2075688" cy="237744"/>
          </a:xfrm>
          <a:prstGeom prst="rect">
            <a:avLst/>
          </a:prstGeom>
          <a:noFill/>
        </p:spPr>
        <p:txBody>
          <a:bodyPr wrap="square" lIns="0" rIns="0" tIns="0" bIns="0" anchor="t">
            <a:spAutoFit/>
          </a:bodyPr>
          <a:lstStyle/>
          <a:p>
            <a:pPr algn="l">
              <a:spcAft>
                <a:spcPts val="0"/>
              </a:spcAft>
            </a:pPr>
            <a:r>
              <a:rPr sz="1100" b="1" i="0">
                <a:solidFill>
                  <a:srgbClr val="5B6675"/>
                </a:solidFill>
                <a:latin typeface="Calibri"/>
              </a:rPr>
              <a:t>OUTPUTS</a:t>
            </a:r>
          </a:p>
        </p:txBody>
      </p:sp>
      <p:sp>
        <p:nvSpPr>
          <p:cNvPr id="30" name="Rectangle 29"/>
          <p:cNvSpPr/>
          <p:nvPr/>
        </p:nvSpPr>
        <p:spPr>
          <a:xfrm>
            <a:off x="7310627" y="1536192"/>
            <a:ext cx="2075688" cy="2852928"/>
          </a:xfrm>
          <a:prstGeom prst="rect">
            <a:avLst/>
          </a:prstGeom>
          <a:solidFill>
            <a:srgbClr val="F3F5F9"/>
          </a:solidFill>
          <a:ln>
            <a:noFill/>
          </a:ln>
        </p:spPr>
        <p:txBody>
          <a:bodyPr rtlCol="0" anchor="ctr"/>
          <a:lstStyle/>
          <a:p>
            <a:pPr algn="ctr"/>
          </a:p>
        </p:txBody>
      </p:sp>
      <p:sp>
        <p:nvSpPr>
          <p:cNvPr id="31" name="Rounded Rectangle 30"/>
          <p:cNvSpPr/>
          <p:nvPr/>
        </p:nvSpPr>
        <p:spPr>
          <a:xfrm>
            <a:off x="7420355" y="1901952"/>
            <a:ext cx="1856232" cy="1005840"/>
          </a:xfrm>
          <a:prstGeom prst="roundRect">
            <a:avLst>
              <a:gd name="adj" fmla="val 5454"/>
            </a:avLst>
          </a:prstGeom>
          <a:solidFill>
            <a:srgbClr val="1A8F7A"/>
          </a:solidFill>
          <a:ln>
            <a:noFill/>
          </a:ln>
        </p:spPr>
        <p:txBody>
          <a:bodyPr rtlCol="0" anchor="ctr" wrap="square" lIns="73152" rIns="73152" tIns="36576" bIns="36576"/>
          <a:lstStyle/>
          <a:p>
            <a:pPr algn="ctr">
              <a:spcAft>
                <a:spcPts val="0"/>
              </a:spcAft>
            </a:pPr>
            <a:r>
              <a:rPr sz="1150" b="1" i="0">
                <a:solidFill>
                  <a:srgbClr val="FFFFFF"/>
                </a:solidFill>
                <a:latin typeface="Calibri"/>
              </a:rPr>
              <a:t>Alert engine: Urgent / Watch, with reasons</a:t>
            </a:r>
          </a:p>
        </p:txBody>
      </p:sp>
      <p:sp>
        <p:nvSpPr>
          <p:cNvPr id="32" name="Rounded Rectangle 31"/>
          <p:cNvSpPr/>
          <p:nvPr/>
        </p:nvSpPr>
        <p:spPr>
          <a:xfrm>
            <a:off x="7420355" y="3017520"/>
            <a:ext cx="1856232" cy="1005840"/>
          </a:xfrm>
          <a:prstGeom prst="roundRect">
            <a:avLst>
              <a:gd name="adj" fmla="val 5454"/>
            </a:avLst>
          </a:prstGeom>
          <a:solidFill>
            <a:srgbClr val="1A8F7A"/>
          </a:solidFill>
          <a:ln>
            <a:noFill/>
          </a:ln>
        </p:spPr>
        <p:txBody>
          <a:bodyPr rtlCol="0" anchor="ctr" wrap="square" lIns="73152" rIns="73152" tIns="36576" bIns="36576"/>
          <a:lstStyle/>
          <a:p>
            <a:pPr algn="ctr">
              <a:spcAft>
                <a:spcPts val="0"/>
              </a:spcAft>
            </a:pPr>
            <a:r>
              <a:rPr sz="1150" b="1" i="0">
                <a:solidFill>
                  <a:srgbClr val="FFFFFF"/>
                </a:solidFill>
                <a:latin typeface="Calibri"/>
              </a:rPr>
              <a:t>Plan compare: 7 lifestyle plans</a:t>
            </a:r>
          </a:p>
        </p:txBody>
      </p:sp>
      <p:sp>
        <p:nvSpPr>
          <p:cNvPr id="33" name="Right Arrow 32"/>
          <p:cNvSpPr/>
          <p:nvPr/>
        </p:nvSpPr>
        <p:spPr>
          <a:xfrm>
            <a:off x="9377172" y="2834640"/>
            <a:ext cx="182880" cy="237744"/>
          </a:xfrm>
          <a:prstGeom prst="rightArrow">
            <a:avLst/>
          </a:prstGeom>
          <a:solidFill>
            <a:srgbClr val="5B6675"/>
          </a:solidFill>
          <a:ln>
            <a:noFill/>
          </a:ln>
        </p:spPr>
        <p:txBody>
          <a:bodyPr rtlCol="0" anchor="ctr"/>
          <a:lstStyle/>
          <a:p>
            <a:pPr algn="ctr"/>
          </a:p>
        </p:txBody>
      </p:sp>
      <p:sp>
        <p:nvSpPr>
          <p:cNvPr id="34" name="TextBox 33"/>
          <p:cNvSpPr txBox="1"/>
          <p:nvPr/>
        </p:nvSpPr>
        <p:spPr>
          <a:xfrm>
            <a:off x="9564624" y="1261872"/>
            <a:ext cx="2075688" cy="237744"/>
          </a:xfrm>
          <a:prstGeom prst="rect">
            <a:avLst/>
          </a:prstGeom>
          <a:noFill/>
        </p:spPr>
        <p:txBody>
          <a:bodyPr wrap="square" lIns="0" rIns="0" tIns="0" bIns="0" anchor="t">
            <a:spAutoFit/>
          </a:bodyPr>
          <a:lstStyle/>
          <a:p>
            <a:pPr algn="l">
              <a:spcAft>
                <a:spcPts val="0"/>
              </a:spcAft>
            </a:pPr>
            <a:r>
              <a:rPr sz="1100" b="1" i="0">
                <a:solidFill>
                  <a:srgbClr val="5B6675"/>
                </a:solidFill>
                <a:latin typeface="Calibri"/>
              </a:rPr>
              <a:t>DOCTOR</a:t>
            </a:r>
          </a:p>
        </p:txBody>
      </p:sp>
      <p:sp>
        <p:nvSpPr>
          <p:cNvPr id="35" name="Rectangle 34"/>
          <p:cNvSpPr/>
          <p:nvPr/>
        </p:nvSpPr>
        <p:spPr>
          <a:xfrm>
            <a:off x="9564624" y="1536192"/>
            <a:ext cx="2075688" cy="2852928"/>
          </a:xfrm>
          <a:prstGeom prst="rect">
            <a:avLst/>
          </a:prstGeom>
          <a:solidFill>
            <a:srgbClr val="F3F5F9"/>
          </a:solidFill>
          <a:ln>
            <a:noFill/>
          </a:ln>
        </p:spPr>
        <p:txBody>
          <a:bodyPr rtlCol="0" anchor="ctr"/>
          <a:lstStyle/>
          <a:p>
            <a:pPr algn="ctr"/>
          </a:p>
        </p:txBody>
      </p:sp>
      <p:sp>
        <p:nvSpPr>
          <p:cNvPr id="36" name="Rounded Rectangle 35"/>
          <p:cNvSpPr/>
          <p:nvPr/>
        </p:nvSpPr>
        <p:spPr>
          <a:xfrm>
            <a:off x="9674351" y="1901952"/>
            <a:ext cx="1856232" cy="1005840"/>
          </a:xfrm>
          <a:prstGeom prst="roundRect">
            <a:avLst>
              <a:gd name="adj" fmla="val 5454"/>
            </a:avLst>
          </a:prstGeom>
          <a:solidFill>
            <a:srgbClr val="1F3A5F"/>
          </a:solidFill>
          <a:ln>
            <a:noFill/>
          </a:ln>
        </p:spPr>
        <p:txBody>
          <a:bodyPr rtlCol="0" anchor="ctr" wrap="square" lIns="73152" rIns="73152" tIns="36576" bIns="36576"/>
          <a:lstStyle/>
          <a:p>
            <a:pPr algn="ctr">
              <a:spcAft>
                <a:spcPts val="0"/>
              </a:spcAft>
            </a:pPr>
            <a:r>
              <a:rPr sz="1150" b="1" i="0">
                <a:solidFill>
                  <a:srgbClr val="FFFFFF"/>
                </a:solidFill>
                <a:latin typeface="Calibri"/>
              </a:rPr>
              <a:t>Dashboard: 7 screens + consent gate</a:t>
            </a:r>
          </a:p>
        </p:txBody>
      </p:sp>
      <p:sp>
        <p:nvSpPr>
          <p:cNvPr id="37" name="Rounded Rectangle 36"/>
          <p:cNvSpPr/>
          <p:nvPr/>
        </p:nvSpPr>
        <p:spPr>
          <a:xfrm>
            <a:off x="9674351" y="3017520"/>
            <a:ext cx="1856232" cy="1005840"/>
          </a:xfrm>
          <a:prstGeom prst="roundRect">
            <a:avLst>
              <a:gd name="adj" fmla="val 5454"/>
            </a:avLst>
          </a:prstGeom>
          <a:solidFill>
            <a:srgbClr val="1F3A5F"/>
          </a:solidFill>
          <a:ln>
            <a:noFill/>
          </a:ln>
        </p:spPr>
        <p:txBody>
          <a:bodyPr rtlCol="0" anchor="ctr" wrap="square" lIns="73152" rIns="73152" tIns="36576" bIns="36576"/>
          <a:lstStyle/>
          <a:p>
            <a:pPr algn="ctr">
              <a:spcAft>
                <a:spcPts val="0"/>
              </a:spcAft>
            </a:pPr>
            <a:r>
              <a:rPr sz="1150" b="1" i="0">
                <a:solidFill>
                  <a:srgbClr val="FFFFFF"/>
                </a:solidFill>
                <a:latin typeface="Calibri"/>
              </a:rPr>
              <a:t>Pre-visit summary; mark false alarm</a:t>
            </a:r>
          </a:p>
        </p:txBody>
      </p:sp>
      <p:sp>
        <p:nvSpPr>
          <p:cNvPr id="38" name="Rectangle 37"/>
          <p:cNvSpPr/>
          <p:nvPr/>
        </p:nvSpPr>
        <p:spPr>
          <a:xfrm>
            <a:off x="548640" y="4526280"/>
            <a:ext cx="6583680" cy="502920"/>
          </a:xfrm>
          <a:prstGeom prst="rect">
            <a:avLst/>
          </a:prstGeom>
          <a:solidFill>
            <a:srgbClr val="FFFFFF"/>
          </a:solidFill>
          <a:ln w="15875">
            <a:solidFill>
              <a:srgbClr val="5B6675"/>
            </a:solidFill>
            <a:prstDash val="dash"/>
          </a:ln>
        </p:spPr>
        <p:txBody>
          <a:bodyPr rtlCol="0" anchor="ctr" wrap="square" lIns="73152" rIns="73152" tIns="36576" bIns="36576"/>
          <a:lstStyle/>
          <a:p>
            <a:pPr algn="ctr">
              <a:spcAft>
                <a:spcPts val="0"/>
              </a:spcAft>
            </a:pPr>
            <a:r>
              <a:rPr sz="1200" b="1" i="0">
                <a:solidFill>
                  <a:srgbClr val="E07B22"/>
                </a:solidFill>
                <a:latin typeface="Calibri"/>
              </a:rPr>
              <a:t>OFFLINE (Python): </a:t>
            </a:r>
            <a:r>
              <a:rPr sz="1200" b="0" i="0">
                <a:solidFill>
                  <a:srgbClr val="1F2D3D"/>
                </a:solidFill>
                <a:latin typeface="Calibri"/>
              </a:rPr>
              <a:t>CGMacros → ridge prior + LightGBM residual → results the app reads</a:t>
            </a:r>
          </a:p>
        </p:txBody>
      </p:sp>
      <p:sp>
        <p:nvSpPr>
          <p:cNvPr id="39" name="Rectangle 38"/>
          <p:cNvSpPr/>
          <p:nvPr/>
        </p:nvSpPr>
        <p:spPr>
          <a:xfrm>
            <a:off x="548640" y="5212080"/>
            <a:ext cx="3566160" cy="1005840"/>
          </a:xfrm>
          <a:prstGeom prst="rect">
            <a:avLst/>
          </a:prstGeom>
          <a:solidFill>
            <a:srgbClr val="F3F5F9"/>
          </a:solidFill>
          <a:ln>
            <a:noFill/>
          </a:ln>
        </p:spPr>
        <p:txBody>
          <a:bodyPr rtlCol="0" anchor="ctr"/>
          <a:lstStyle/>
          <a:p>
            <a:pPr algn="ctr"/>
          </a:p>
        </p:txBody>
      </p:sp>
      <p:sp>
        <p:nvSpPr>
          <p:cNvPr id="40" name="TextBox 39"/>
          <p:cNvSpPr txBox="1"/>
          <p:nvPr/>
        </p:nvSpPr>
        <p:spPr>
          <a:xfrm>
            <a:off x="713232" y="5285232"/>
            <a:ext cx="3291840" cy="914400"/>
          </a:xfrm>
          <a:prstGeom prst="rect">
            <a:avLst/>
          </a:prstGeom>
          <a:noFill/>
        </p:spPr>
        <p:txBody>
          <a:bodyPr wrap="square" lIns="0" rIns="0" tIns="0" bIns="0" anchor="t">
            <a:spAutoFit/>
          </a:bodyPr>
          <a:lstStyle/>
          <a:p>
            <a:pPr algn="l">
              <a:spcAft>
                <a:spcPts val="200"/>
              </a:spcAft>
            </a:pPr>
            <a:r>
              <a:rPr sz="1100" b="1" i="0">
                <a:solidFill>
                  <a:srgbClr val="E07B22"/>
                </a:solidFill>
                <a:latin typeface="Calibri"/>
              </a:rPr>
              <a:t>STACK</a:t>
            </a:r>
          </a:p>
          <a:p>
            <a:pPr algn="l">
              <a:spcAft>
                <a:spcPts val="0"/>
              </a:spcAft>
            </a:pPr>
            <a:r>
              <a:rPr sz="1150" b="0" i="0">
                <a:solidFill>
                  <a:srgbClr val="1F2D3D"/>
                </a:solidFill>
                <a:latin typeface="Calibri"/>
              </a:rPr>
              <a:t>TypeScript · React 19 · TanStack Start · Recharts · Python (numpy, pandas, scikit-learn, LightGBM) · FHIR R4 · Vercel</a:t>
            </a:r>
          </a:p>
        </p:txBody>
      </p:sp>
      <p:sp>
        <p:nvSpPr>
          <p:cNvPr id="41" name="Rectangle 40"/>
          <p:cNvSpPr/>
          <p:nvPr/>
        </p:nvSpPr>
        <p:spPr>
          <a:xfrm>
            <a:off x="4297680" y="5212080"/>
            <a:ext cx="3657600" cy="1005840"/>
          </a:xfrm>
          <a:prstGeom prst="rect">
            <a:avLst/>
          </a:prstGeom>
          <a:solidFill>
            <a:srgbClr val="FFFFFF"/>
          </a:solidFill>
          <a:ln w="19050">
            <a:solidFill>
              <a:srgbClr val="1A8F7A"/>
            </a:solidFill>
          </a:ln>
        </p:spPr>
        <p:txBody>
          <a:bodyPr rtlCol="0" anchor="ctr"/>
          <a:lstStyle/>
          <a:p>
            <a:pPr algn="ctr"/>
          </a:p>
        </p:txBody>
      </p:sp>
      <p:sp>
        <p:nvSpPr>
          <p:cNvPr id="42" name="TextBox 41"/>
          <p:cNvSpPr txBox="1"/>
          <p:nvPr/>
        </p:nvSpPr>
        <p:spPr>
          <a:xfrm>
            <a:off x="4462272" y="5285232"/>
            <a:ext cx="3383280" cy="914400"/>
          </a:xfrm>
          <a:prstGeom prst="rect">
            <a:avLst/>
          </a:prstGeom>
          <a:noFill/>
        </p:spPr>
        <p:txBody>
          <a:bodyPr wrap="square" lIns="0" rIns="0" tIns="0" bIns="0" anchor="t">
            <a:spAutoFit/>
          </a:bodyPr>
          <a:lstStyle/>
          <a:p>
            <a:pPr algn="l">
              <a:spcAft>
                <a:spcPts val="200"/>
              </a:spcAft>
            </a:pPr>
            <a:r>
              <a:rPr sz="1100" b="1" i="0">
                <a:solidFill>
                  <a:srgbClr val="1A8F7A"/>
                </a:solidFill>
                <a:latin typeface="Calibri"/>
              </a:rPr>
              <a:t>TODAY (HONEST STATUS): RUNNING END TO END</a:t>
            </a:r>
          </a:p>
          <a:p>
            <a:pPr algn="l">
              <a:spcAft>
                <a:spcPts val="0"/>
              </a:spcAft>
            </a:pPr>
            <a:r>
              <a:rPr sz="1150" b="0" i="0">
                <a:solidFill>
                  <a:srgbClr val="1F2D3D"/>
                </a:solidFill>
                <a:latin typeface="Calibri"/>
              </a:rPr>
              <a:t>11 simulated patients + 45 real CGMacros adults. </a:t>
            </a:r>
            <a:r>
              <a:rPr sz="1150" b="1" i="0">
                <a:solidFill>
                  <a:srgbClr val="1F2D3D"/>
                </a:solidFill>
                <a:latin typeface="Calibri"/>
              </a:rPr>
              <a:t>118/118 model tests; 16.3 µs per reading.</a:t>
            </a:r>
          </a:p>
        </p:txBody>
      </p:sp>
      <p:sp>
        <p:nvSpPr>
          <p:cNvPr id="43" name="Rectangle 42"/>
          <p:cNvSpPr/>
          <p:nvPr/>
        </p:nvSpPr>
        <p:spPr>
          <a:xfrm>
            <a:off x="8138160" y="5212080"/>
            <a:ext cx="3502152" cy="1005840"/>
          </a:xfrm>
          <a:prstGeom prst="rect">
            <a:avLst/>
          </a:prstGeom>
          <a:solidFill>
            <a:srgbClr val="1A8F7A"/>
          </a:solidFill>
          <a:ln>
            <a:noFill/>
          </a:ln>
        </p:spPr>
        <p:txBody>
          <a:bodyPr rtlCol="0" anchor="ctr"/>
          <a:lstStyle/>
          <a:p>
            <a:pPr algn="ctr"/>
          </a:p>
        </p:txBody>
      </p:sp>
      <p:sp>
        <p:nvSpPr>
          <p:cNvPr id="44" name="TextBox 43"/>
          <p:cNvSpPr txBox="1"/>
          <p:nvPr/>
        </p:nvSpPr>
        <p:spPr>
          <a:xfrm>
            <a:off x="8302752" y="5285232"/>
            <a:ext cx="3200400" cy="914400"/>
          </a:xfrm>
          <a:prstGeom prst="rect">
            <a:avLst/>
          </a:prstGeom>
          <a:noFill/>
        </p:spPr>
        <p:txBody>
          <a:bodyPr wrap="square" lIns="0" rIns="0" tIns="0" bIns="0" anchor="t">
            <a:spAutoFit/>
          </a:bodyPr>
          <a:lstStyle/>
          <a:p>
            <a:pPr algn="l">
              <a:spcAft>
                <a:spcPts val="200"/>
              </a:spcAft>
            </a:pPr>
            <a:r>
              <a:rPr sz="1100" b="1" i="0">
                <a:solidFill>
                  <a:srgbClr val="CDEFE7"/>
                </a:solidFill>
                <a:latin typeface="Calibri"/>
              </a:rPr>
              <a:t>NEXT</a:t>
            </a:r>
          </a:p>
          <a:p>
            <a:pPr algn="l">
              <a:spcAft>
                <a:spcPts val="0"/>
              </a:spcAft>
            </a:pPr>
            <a:r>
              <a:rPr sz="1150" b="0" i="0">
                <a:solidFill>
                  <a:srgbClr val="FFFFFF"/>
                </a:solidFill>
                <a:latin typeface="Calibri"/>
              </a:rPr>
              <a:t>ABHA-consented FHIR pull · ABDM consent artefacts · event queue sharded by patient · LightGBM on the live curve after review</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band"/>
          <p:cNvSpPr/>
          <p:nvPr/>
        </p:nvSpPr>
        <p:spPr>
          <a:xfrm>
            <a:off x="0" y="0"/>
            <a:ext cx="12191695" cy="82296"/>
          </a:xfrm>
          <a:prstGeom prst="rect">
            <a:avLst/>
          </a:prstGeom>
          <a:solidFill>
            <a:srgbClr val="1F3A5F"/>
          </a:solidFill>
          <a:ln>
            <a:noFill/>
          </a:ln>
        </p:spPr>
        <p:txBody>
          <a:bodyPr rtlCol="0" anchor="ctr"/>
          <a:lstStyle/>
          <a:p>
            <a:pPr algn="ctr"/>
          </a:p>
        </p:txBody>
      </p:sp>
      <p:sp>
        <p:nvSpPr>
          <p:cNvPr id="3" name="Top accent"/>
          <p:cNvSpPr/>
          <p:nvPr/>
        </p:nvSpPr>
        <p:spPr>
          <a:xfrm>
            <a:off x="0" y="82296"/>
            <a:ext cx="2011680" cy="45720"/>
          </a:xfrm>
          <a:prstGeom prst="rect">
            <a:avLst/>
          </a:prstGeom>
          <a:solidFill>
            <a:srgbClr val="E07B22"/>
          </a:solidFill>
          <a:ln>
            <a:noFill/>
          </a:ln>
        </p:spPr>
        <p:txBody>
          <a:bodyPr rtlCol="0" anchor="ctr"/>
          <a:lstStyle/>
          <a:p>
            <a:pPr algn="ctr"/>
          </a:p>
        </p:txBody>
      </p:sp>
      <p:sp>
        <p:nvSpPr>
          <p:cNvPr id="4" name="Kicker"/>
          <p:cNvSpPr txBox="1"/>
          <p:nvPr/>
        </p:nvSpPr>
        <p:spPr>
          <a:xfrm>
            <a:off x="548640" y="329184"/>
            <a:ext cx="11091672" cy="237744"/>
          </a:xfrm>
          <a:prstGeom prst="rect">
            <a:avLst/>
          </a:prstGeom>
          <a:noFill/>
        </p:spPr>
        <p:txBody>
          <a:bodyPr wrap="square" lIns="0" rIns="0" tIns="0" bIns="0" anchor="t">
            <a:spAutoFit/>
          </a:bodyPr>
          <a:lstStyle/>
          <a:p>
            <a:pPr algn="l">
              <a:spcAft>
                <a:spcPts val="0"/>
              </a:spcAft>
            </a:pPr>
            <a:r>
              <a:rPr sz="1200" b="1" i="0">
                <a:solidFill>
                  <a:srgbClr val="E07B22"/>
                </a:solidFill>
                <a:latin typeface="Calibri"/>
              </a:rPr>
              <a:t>14 · RISKS, FEASIBILITY, SCALE &amp; COST</a:t>
            </a:r>
          </a:p>
        </p:txBody>
      </p:sp>
      <p:sp>
        <p:nvSpPr>
          <p:cNvPr id="5" name="Title"/>
          <p:cNvSpPr txBox="1"/>
          <p:nvPr/>
        </p:nvSpPr>
        <p:spPr>
          <a:xfrm>
            <a:off x="548640" y="566928"/>
            <a:ext cx="11091672" cy="566928"/>
          </a:xfrm>
          <a:prstGeom prst="rect">
            <a:avLst/>
          </a:prstGeom>
          <a:noFill/>
        </p:spPr>
        <p:txBody>
          <a:bodyPr wrap="square" lIns="0" rIns="0" tIns="0" bIns="0" anchor="t">
            <a:spAutoFit/>
          </a:bodyPr>
          <a:lstStyle/>
          <a:p>
            <a:pPr algn="l">
              <a:spcAft>
                <a:spcPts val="0"/>
              </a:spcAft>
            </a:pPr>
            <a:r>
              <a:rPr sz="3000" b="1" i="0">
                <a:solidFill>
                  <a:srgbClr val="1F3A5F"/>
                </a:solidFill>
                <a:latin typeface="Calibri"/>
              </a:rPr>
              <a:t>Guardrails, scale and cost</a:t>
            </a:r>
          </a:p>
        </p:txBody>
      </p:sp>
      <p:cxnSp>
        <p:nvCxnSpPr>
          <p:cNvPr id="6" name="Footer rule"/>
          <p:cNvCxnSpPr/>
          <p:nvPr/>
        </p:nvCxnSpPr>
        <p:spPr>
          <a:xfrm>
            <a:off x="548640" y="6382512"/>
            <a:ext cx="11091672" cy="0"/>
          </a:xfrm>
          <a:prstGeom prst="line">
            <a:avLst/>
          </a:prstGeom>
          <a:ln w="9525">
            <a:solidFill>
              <a:srgbClr val="C9D1DC"/>
            </a:solidFill>
          </a:ln>
        </p:spPr>
        <p:style>
          <a:lnRef idx="2">
            <a:schemeClr val="accent1"/>
          </a:lnRef>
          <a:fillRef idx="0">
            <a:schemeClr val="accent1"/>
          </a:fillRef>
          <a:effectRef idx="1">
            <a:schemeClr val="accent1"/>
          </a:effectRef>
          <a:fontRef idx="minor">
            <a:schemeClr val="tx1"/>
          </a:fontRef>
        </p:style>
      </p:cxnSp>
      <p:sp>
        <p:nvSpPr>
          <p:cNvPr id="7" name="Sources"/>
          <p:cNvSpPr txBox="1"/>
          <p:nvPr/>
        </p:nvSpPr>
        <p:spPr>
          <a:xfrm>
            <a:off x="548640" y="6428232"/>
            <a:ext cx="10634472" cy="365760"/>
          </a:xfrm>
          <a:prstGeom prst="rect">
            <a:avLst/>
          </a:prstGeom>
          <a:noFill/>
        </p:spPr>
        <p:txBody>
          <a:bodyPr wrap="square" lIns="0" rIns="0" tIns="0" bIns="0" anchor="t">
            <a:spAutoFit/>
          </a:bodyPr>
          <a:lstStyle/>
          <a:p>
            <a:pPr algn="l">
              <a:spcAft>
                <a:spcPts val="0"/>
              </a:spcAft>
            </a:pPr>
            <a:r>
              <a:rPr sz="900" b="0" i="0">
                <a:solidFill>
                  <a:srgbClr val="5B6675"/>
                </a:solidFill>
                <a:latin typeface="Calibri"/>
              </a:rPr>
              <a:t>Benchmark 17 Oct 2026: 3,000 synthetic patients × 288 readings, Node 22, Intel i5-11400H, one thread, compute only (no network or database I/O). Fingerstick figure: interpolation error on the simulated ward. Lows: 6 of 16 on the stress test (blind drug guard), 7 of 17 on CGMacros.</a:t>
            </a:r>
          </a:p>
        </p:txBody>
      </p:sp>
      <p:sp>
        <p:nvSpPr>
          <p:cNvPr id="8" name="Page number"/>
          <p:cNvSpPr txBox="1"/>
          <p:nvPr/>
        </p:nvSpPr>
        <p:spPr>
          <a:xfrm>
            <a:off x="11274552" y="6446520"/>
            <a:ext cx="365760" cy="228600"/>
          </a:xfrm>
          <a:prstGeom prst="rect">
            <a:avLst/>
          </a:prstGeom>
          <a:noFill/>
        </p:spPr>
        <p:txBody>
          <a:bodyPr wrap="square" lIns="0" rIns="0" tIns="0" bIns="0" anchor="t">
            <a:spAutoFit/>
          </a:bodyPr>
          <a:lstStyle/>
          <a:p>
            <a:pPr algn="r">
              <a:spcAft>
                <a:spcPts val="0"/>
              </a:spcAft>
            </a:pPr>
            <a:r>
              <a:rPr sz="1100" b="1" i="0">
                <a:solidFill>
                  <a:srgbClr val="1F3A5F"/>
                </a:solidFill>
                <a:latin typeface="Calibri"/>
              </a:rPr>
              <a:t>14</a:t>
            </a:r>
          </a:p>
        </p:txBody>
      </p:sp>
      <p:sp>
        <p:nvSpPr>
          <p:cNvPr id="9" name="Rectangle 8"/>
          <p:cNvSpPr/>
          <p:nvPr/>
        </p:nvSpPr>
        <p:spPr>
          <a:xfrm>
            <a:off x="548640" y="1325880"/>
            <a:ext cx="3584448" cy="896112"/>
          </a:xfrm>
          <a:prstGeom prst="rect">
            <a:avLst/>
          </a:prstGeom>
          <a:solidFill>
            <a:srgbClr val="F3F5F9"/>
          </a:solidFill>
          <a:ln>
            <a:noFill/>
          </a:ln>
        </p:spPr>
        <p:txBody>
          <a:bodyPr rtlCol="0" anchor="ctr"/>
          <a:lstStyle/>
          <a:p>
            <a:pPr algn="ctr"/>
          </a:p>
        </p:txBody>
      </p:sp>
      <p:sp>
        <p:nvSpPr>
          <p:cNvPr id="10" name="Rectangle 9"/>
          <p:cNvSpPr/>
          <p:nvPr/>
        </p:nvSpPr>
        <p:spPr>
          <a:xfrm>
            <a:off x="548640" y="1325880"/>
            <a:ext cx="64008" cy="896112"/>
          </a:xfrm>
          <a:prstGeom prst="rect">
            <a:avLst/>
          </a:prstGeom>
          <a:solidFill>
            <a:srgbClr val="C0392B"/>
          </a:solidFill>
          <a:ln>
            <a:noFill/>
          </a:ln>
        </p:spPr>
        <p:txBody>
          <a:bodyPr rtlCol="0" anchor="ctr"/>
          <a:lstStyle/>
          <a:p>
            <a:pPr algn="ctr"/>
          </a:p>
        </p:txBody>
      </p:sp>
      <p:sp>
        <p:nvSpPr>
          <p:cNvPr id="11" name="TextBox 10"/>
          <p:cNvSpPr txBox="1"/>
          <p:nvPr/>
        </p:nvSpPr>
        <p:spPr>
          <a:xfrm>
            <a:off x="731520" y="1399032"/>
            <a:ext cx="3328415" cy="274320"/>
          </a:xfrm>
          <a:prstGeom prst="rect">
            <a:avLst/>
          </a:prstGeom>
          <a:noFill/>
        </p:spPr>
        <p:txBody>
          <a:bodyPr wrap="square" lIns="0" rIns="0" tIns="0" bIns="0" anchor="t">
            <a:spAutoFit/>
          </a:bodyPr>
          <a:lstStyle/>
          <a:p>
            <a:pPr algn="l">
              <a:spcAft>
                <a:spcPts val="0"/>
              </a:spcAft>
            </a:pPr>
            <a:r>
              <a:rPr sz="1450" b="1" i="0">
                <a:solidFill>
                  <a:srgbClr val="1F3A5F"/>
                </a:solidFill>
                <a:latin typeface="Calibri"/>
              </a:rPr>
              <a:t>Sensor noise &amp; gaps</a:t>
            </a:r>
          </a:p>
        </p:txBody>
      </p:sp>
      <p:sp>
        <p:nvSpPr>
          <p:cNvPr id="12" name="TextBox 11"/>
          <p:cNvSpPr txBox="1"/>
          <p:nvPr/>
        </p:nvSpPr>
        <p:spPr>
          <a:xfrm>
            <a:off x="731520" y="1709928"/>
            <a:ext cx="3328415" cy="457200"/>
          </a:xfrm>
          <a:prstGeom prst="rect">
            <a:avLst/>
          </a:prstGeom>
          <a:noFill/>
        </p:spPr>
        <p:txBody>
          <a:bodyPr wrap="square" lIns="0" rIns="0" tIns="0" bIns="0" anchor="t">
            <a:spAutoFit/>
          </a:bodyPr>
          <a:lstStyle/>
          <a:p>
            <a:pPr algn="l">
              <a:spcAft>
                <a:spcPts val="0"/>
              </a:spcAft>
            </a:pPr>
            <a:r>
              <a:rPr sz="1200" b="0" i="0">
                <a:solidFill>
                  <a:srgbClr val="1F2D3D"/>
                </a:solidFill>
                <a:latin typeface="Calibri"/>
              </a:rPr>
              <a:t>Stream checks flag gaps, compression lows and lag before the twin uses a reading</a:t>
            </a:r>
          </a:p>
        </p:txBody>
      </p:sp>
      <p:sp>
        <p:nvSpPr>
          <p:cNvPr id="13" name="Rectangle 12"/>
          <p:cNvSpPr/>
          <p:nvPr/>
        </p:nvSpPr>
        <p:spPr>
          <a:xfrm>
            <a:off x="4325112" y="1325880"/>
            <a:ext cx="3584448" cy="896112"/>
          </a:xfrm>
          <a:prstGeom prst="rect">
            <a:avLst/>
          </a:prstGeom>
          <a:solidFill>
            <a:srgbClr val="F3F5F9"/>
          </a:solidFill>
          <a:ln>
            <a:noFill/>
          </a:ln>
        </p:spPr>
        <p:txBody>
          <a:bodyPr rtlCol="0" anchor="ctr"/>
          <a:lstStyle/>
          <a:p>
            <a:pPr algn="ctr"/>
          </a:p>
        </p:txBody>
      </p:sp>
      <p:sp>
        <p:nvSpPr>
          <p:cNvPr id="14" name="Rectangle 13"/>
          <p:cNvSpPr/>
          <p:nvPr/>
        </p:nvSpPr>
        <p:spPr>
          <a:xfrm>
            <a:off x="4325112" y="1325880"/>
            <a:ext cx="64008" cy="896112"/>
          </a:xfrm>
          <a:prstGeom prst="rect">
            <a:avLst/>
          </a:prstGeom>
          <a:solidFill>
            <a:srgbClr val="1A8F7A"/>
          </a:solidFill>
          <a:ln>
            <a:noFill/>
          </a:ln>
        </p:spPr>
        <p:txBody>
          <a:bodyPr rtlCol="0" anchor="ctr"/>
          <a:lstStyle/>
          <a:p>
            <a:pPr algn="ctr"/>
          </a:p>
        </p:txBody>
      </p:sp>
      <p:sp>
        <p:nvSpPr>
          <p:cNvPr id="15" name="TextBox 14"/>
          <p:cNvSpPr txBox="1"/>
          <p:nvPr/>
        </p:nvSpPr>
        <p:spPr>
          <a:xfrm>
            <a:off x="4507992" y="1399032"/>
            <a:ext cx="3328415" cy="274320"/>
          </a:xfrm>
          <a:prstGeom prst="rect">
            <a:avLst/>
          </a:prstGeom>
          <a:noFill/>
        </p:spPr>
        <p:txBody>
          <a:bodyPr wrap="square" lIns="0" rIns="0" tIns="0" bIns="0" anchor="t">
            <a:spAutoFit/>
          </a:bodyPr>
          <a:lstStyle/>
          <a:p>
            <a:pPr algn="l">
              <a:spcAft>
                <a:spcPts val="0"/>
              </a:spcAft>
            </a:pPr>
            <a:r>
              <a:rPr sz="1450" b="1" i="0">
                <a:solidFill>
                  <a:srgbClr val="1F3A5F"/>
                </a:solidFill>
                <a:latin typeface="Calibri"/>
              </a:rPr>
              <a:t>Alarm fatigue</a:t>
            </a:r>
          </a:p>
        </p:txBody>
      </p:sp>
      <p:sp>
        <p:nvSpPr>
          <p:cNvPr id="16" name="TextBox 15"/>
          <p:cNvSpPr txBox="1"/>
          <p:nvPr/>
        </p:nvSpPr>
        <p:spPr>
          <a:xfrm>
            <a:off x="4507992" y="1709928"/>
            <a:ext cx="3328415" cy="457200"/>
          </a:xfrm>
          <a:prstGeom prst="rect">
            <a:avLst/>
          </a:prstGeom>
          <a:noFill/>
        </p:spPr>
        <p:txBody>
          <a:bodyPr wrap="square" lIns="0" rIns="0" tIns="0" bIns="0" anchor="t">
            <a:spAutoFit/>
          </a:bodyPr>
          <a:lstStyle/>
          <a:p>
            <a:pPr algn="l">
              <a:spcAft>
                <a:spcPts val="0"/>
              </a:spcAft>
            </a:pPr>
            <a:r>
              <a:rPr sz="1200" b="0" i="0">
                <a:solidFill>
                  <a:srgbClr val="1F2D3D"/>
                </a:solidFill>
                <a:latin typeface="Calibri"/>
              </a:rPr>
              <a:t>Two tiers, hysteresis, thresholds chosen on validation days; 0.75 false alerts a day</a:t>
            </a:r>
          </a:p>
        </p:txBody>
      </p:sp>
      <p:sp>
        <p:nvSpPr>
          <p:cNvPr id="17" name="Rectangle 16"/>
          <p:cNvSpPr/>
          <p:nvPr/>
        </p:nvSpPr>
        <p:spPr>
          <a:xfrm>
            <a:off x="8101583" y="1325880"/>
            <a:ext cx="3584448" cy="896112"/>
          </a:xfrm>
          <a:prstGeom prst="rect">
            <a:avLst/>
          </a:prstGeom>
          <a:solidFill>
            <a:srgbClr val="F3F5F9"/>
          </a:solidFill>
          <a:ln>
            <a:noFill/>
          </a:ln>
        </p:spPr>
        <p:txBody>
          <a:bodyPr rtlCol="0" anchor="ctr"/>
          <a:lstStyle/>
          <a:p>
            <a:pPr algn="ctr"/>
          </a:p>
        </p:txBody>
      </p:sp>
      <p:sp>
        <p:nvSpPr>
          <p:cNvPr id="18" name="Rectangle 17"/>
          <p:cNvSpPr/>
          <p:nvPr/>
        </p:nvSpPr>
        <p:spPr>
          <a:xfrm>
            <a:off x="8101583" y="1325880"/>
            <a:ext cx="64008" cy="896112"/>
          </a:xfrm>
          <a:prstGeom prst="rect">
            <a:avLst/>
          </a:prstGeom>
          <a:solidFill>
            <a:srgbClr val="2F6DB5"/>
          </a:solidFill>
          <a:ln>
            <a:noFill/>
          </a:ln>
        </p:spPr>
        <p:txBody>
          <a:bodyPr rtlCol="0" anchor="ctr"/>
          <a:lstStyle/>
          <a:p>
            <a:pPr algn="ctr"/>
          </a:p>
        </p:txBody>
      </p:sp>
      <p:sp>
        <p:nvSpPr>
          <p:cNvPr id="19" name="TextBox 18"/>
          <p:cNvSpPr txBox="1"/>
          <p:nvPr/>
        </p:nvSpPr>
        <p:spPr>
          <a:xfrm>
            <a:off x="8284463" y="1399032"/>
            <a:ext cx="3328415" cy="274320"/>
          </a:xfrm>
          <a:prstGeom prst="rect">
            <a:avLst/>
          </a:prstGeom>
          <a:noFill/>
        </p:spPr>
        <p:txBody>
          <a:bodyPr wrap="square" lIns="0" rIns="0" tIns="0" bIns="0" anchor="t">
            <a:spAutoFit/>
          </a:bodyPr>
          <a:lstStyle/>
          <a:p>
            <a:pPr algn="l">
              <a:spcAft>
                <a:spcPts val="0"/>
              </a:spcAft>
            </a:pPr>
            <a:r>
              <a:rPr sz="1450" b="1" i="0">
                <a:solidFill>
                  <a:srgbClr val="1F3A5F"/>
                </a:solidFill>
                <a:latin typeface="Calibri"/>
              </a:rPr>
              <a:t>Over-trust &amp; dosing</a:t>
            </a:r>
          </a:p>
        </p:txBody>
      </p:sp>
      <p:sp>
        <p:nvSpPr>
          <p:cNvPr id="20" name="TextBox 19"/>
          <p:cNvSpPr txBox="1"/>
          <p:nvPr/>
        </p:nvSpPr>
        <p:spPr>
          <a:xfrm>
            <a:off x="8284463" y="1709928"/>
            <a:ext cx="3328415" cy="457200"/>
          </a:xfrm>
          <a:prstGeom prst="rect">
            <a:avLst/>
          </a:prstGeom>
          <a:noFill/>
        </p:spPr>
        <p:txBody>
          <a:bodyPr wrap="square" lIns="0" rIns="0" tIns="0" bIns="0" anchor="t">
            <a:spAutoFit/>
          </a:bodyPr>
          <a:lstStyle/>
          <a:p>
            <a:pPr algn="l">
              <a:spcAft>
                <a:spcPts val="0"/>
              </a:spcAft>
            </a:pPr>
            <a:r>
              <a:rPr sz="1200" b="0" i="0">
                <a:solidFill>
                  <a:srgbClr val="1F2D3D"/>
                </a:solidFill>
                <a:latin typeface="Calibri"/>
              </a:rPr>
              <a:t>No dose, no diagnosis; plans labelled “Simulation, not advice”</a:t>
            </a:r>
          </a:p>
        </p:txBody>
      </p:sp>
      <p:sp>
        <p:nvSpPr>
          <p:cNvPr id="21" name="Rectangle 20"/>
          <p:cNvSpPr/>
          <p:nvPr/>
        </p:nvSpPr>
        <p:spPr>
          <a:xfrm>
            <a:off x="548640" y="2350008"/>
            <a:ext cx="3584448" cy="896112"/>
          </a:xfrm>
          <a:prstGeom prst="rect">
            <a:avLst/>
          </a:prstGeom>
          <a:solidFill>
            <a:srgbClr val="F3F5F9"/>
          </a:solidFill>
          <a:ln>
            <a:noFill/>
          </a:ln>
        </p:spPr>
        <p:txBody>
          <a:bodyPr rtlCol="0" anchor="ctr"/>
          <a:lstStyle/>
          <a:p>
            <a:pPr algn="ctr"/>
          </a:p>
        </p:txBody>
      </p:sp>
      <p:sp>
        <p:nvSpPr>
          <p:cNvPr id="22" name="Rectangle 21"/>
          <p:cNvSpPr/>
          <p:nvPr/>
        </p:nvSpPr>
        <p:spPr>
          <a:xfrm>
            <a:off x="548640" y="2350008"/>
            <a:ext cx="64008" cy="896112"/>
          </a:xfrm>
          <a:prstGeom prst="rect">
            <a:avLst/>
          </a:prstGeom>
          <a:solidFill>
            <a:srgbClr val="1F3A5F"/>
          </a:solidFill>
          <a:ln>
            <a:noFill/>
          </a:ln>
        </p:spPr>
        <p:txBody>
          <a:bodyPr rtlCol="0" anchor="ctr"/>
          <a:lstStyle/>
          <a:p>
            <a:pPr algn="ctr"/>
          </a:p>
        </p:txBody>
      </p:sp>
      <p:sp>
        <p:nvSpPr>
          <p:cNvPr id="23" name="TextBox 22"/>
          <p:cNvSpPr txBox="1"/>
          <p:nvPr/>
        </p:nvSpPr>
        <p:spPr>
          <a:xfrm>
            <a:off x="731520" y="2423160"/>
            <a:ext cx="3328415" cy="274320"/>
          </a:xfrm>
          <a:prstGeom prst="rect">
            <a:avLst/>
          </a:prstGeom>
          <a:noFill/>
        </p:spPr>
        <p:txBody>
          <a:bodyPr wrap="square" lIns="0" rIns="0" tIns="0" bIns="0" anchor="t">
            <a:spAutoFit/>
          </a:bodyPr>
          <a:lstStyle/>
          <a:p>
            <a:pPr algn="l">
              <a:spcAft>
                <a:spcPts val="0"/>
              </a:spcAft>
            </a:pPr>
            <a:r>
              <a:rPr sz="1450" b="1" i="0">
                <a:solidFill>
                  <a:srgbClr val="1F3A5F"/>
                </a:solidFill>
                <a:latin typeface="Calibri"/>
              </a:rPr>
              <a:t>Privacy (DPDP)</a:t>
            </a:r>
          </a:p>
        </p:txBody>
      </p:sp>
      <p:sp>
        <p:nvSpPr>
          <p:cNvPr id="24" name="TextBox 23"/>
          <p:cNvSpPr txBox="1"/>
          <p:nvPr/>
        </p:nvSpPr>
        <p:spPr>
          <a:xfrm>
            <a:off x="731520" y="2734056"/>
            <a:ext cx="3328415" cy="457200"/>
          </a:xfrm>
          <a:prstGeom prst="rect">
            <a:avLst/>
          </a:prstGeom>
          <a:noFill/>
        </p:spPr>
        <p:txBody>
          <a:bodyPr wrap="square" lIns="0" rIns="0" tIns="0" bIns="0" anchor="t">
            <a:spAutoFit/>
          </a:bodyPr>
          <a:lstStyle/>
          <a:p>
            <a:pPr algn="l">
              <a:spcAft>
                <a:spcPts val="0"/>
              </a:spcAft>
            </a:pPr>
            <a:r>
              <a:rPr sz="1200" b="0" i="0">
                <a:solidFill>
                  <a:srgbClr val="1F2D3D"/>
                </a:solidFill>
                <a:latin typeface="Calibri"/>
              </a:rPr>
              <a:t>Synthetic and open data only; per-stream consent gate live in the dashboard</a:t>
            </a:r>
          </a:p>
        </p:txBody>
      </p:sp>
      <p:sp>
        <p:nvSpPr>
          <p:cNvPr id="25" name="Rectangle 24"/>
          <p:cNvSpPr/>
          <p:nvPr/>
        </p:nvSpPr>
        <p:spPr>
          <a:xfrm>
            <a:off x="4325112" y="2350008"/>
            <a:ext cx="3584448" cy="896112"/>
          </a:xfrm>
          <a:prstGeom prst="rect">
            <a:avLst/>
          </a:prstGeom>
          <a:solidFill>
            <a:srgbClr val="F3F5F9"/>
          </a:solidFill>
          <a:ln>
            <a:noFill/>
          </a:ln>
        </p:spPr>
        <p:txBody>
          <a:bodyPr rtlCol="0" anchor="ctr"/>
          <a:lstStyle/>
          <a:p>
            <a:pPr algn="ctr"/>
          </a:p>
        </p:txBody>
      </p:sp>
      <p:sp>
        <p:nvSpPr>
          <p:cNvPr id="26" name="Rectangle 25"/>
          <p:cNvSpPr/>
          <p:nvPr/>
        </p:nvSpPr>
        <p:spPr>
          <a:xfrm>
            <a:off x="4325112" y="2350008"/>
            <a:ext cx="64008" cy="896112"/>
          </a:xfrm>
          <a:prstGeom prst="rect">
            <a:avLst/>
          </a:prstGeom>
          <a:solidFill>
            <a:srgbClr val="E07B22"/>
          </a:solidFill>
          <a:ln>
            <a:noFill/>
          </a:ln>
        </p:spPr>
        <p:txBody>
          <a:bodyPr rtlCol="0" anchor="ctr"/>
          <a:lstStyle/>
          <a:p>
            <a:pPr algn="ctr"/>
          </a:p>
        </p:txBody>
      </p:sp>
      <p:sp>
        <p:nvSpPr>
          <p:cNvPr id="27" name="TextBox 26"/>
          <p:cNvSpPr txBox="1"/>
          <p:nvPr/>
        </p:nvSpPr>
        <p:spPr>
          <a:xfrm>
            <a:off x="4507992" y="2423160"/>
            <a:ext cx="3328415" cy="274320"/>
          </a:xfrm>
          <a:prstGeom prst="rect">
            <a:avLst/>
          </a:prstGeom>
          <a:noFill/>
        </p:spPr>
        <p:txBody>
          <a:bodyPr wrap="square" lIns="0" rIns="0" tIns="0" bIns="0" anchor="t">
            <a:spAutoFit/>
          </a:bodyPr>
          <a:lstStyle/>
          <a:p>
            <a:pPr algn="l">
              <a:spcAft>
                <a:spcPts val="0"/>
              </a:spcAft>
            </a:pPr>
            <a:r>
              <a:rPr sz="1450" b="1" i="0">
                <a:solidFill>
                  <a:srgbClr val="1F3A5F"/>
                </a:solidFill>
                <a:latin typeface="Calibri"/>
              </a:rPr>
              <a:t>Population shift</a:t>
            </a:r>
          </a:p>
        </p:txBody>
      </p:sp>
      <p:sp>
        <p:nvSpPr>
          <p:cNvPr id="28" name="TextBox 27"/>
          <p:cNvSpPr txBox="1"/>
          <p:nvPr/>
        </p:nvSpPr>
        <p:spPr>
          <a:xfrm>
            <a:off x="4507992" y="2734056"/>
            <a:ext cx="3328415" cy="457200"/>
          </a:xfrm>
          <a:prstGeom prst="rect">
            <a:avLst/>
          </a:prstGeom>
          <a:noFill/>
        </p:spPr>
        <p:txBody>
          <a:bodyPr wrap="square" lIns="0" rIns="0" tIns="0" bIns="0" anchor="t">
            <a:spAutoFit/>
          </a:bodyPr>
          <a:lstStyle/>
          <a:p>
            <a:pPr algn="l">
              <a:spcAft>
                <a:spcPts val="0"/>
              </a:spcAft>
            </a:pPr>
            <a:r>
              <a:rPr sz="1200" b="0" i="0">
                <a:solidFill>
                  <a:srgbClr val="1F2D3D"/>
                </a:solidFill>
                <a:latin typeface="Calibri"/>
              </a:rPr>
              <a:t>CGMacros is US adults; the pilot refits on Indian patients and meals</a:t>
            </a:r>
          </a:p>
        </p:txBody>
      </p:sp>
      <p:sp>
        <p:nvSpPr>
          <p:cNvPr id="29" name="Rectangle 28"/>
          <p:cNvSpPr/>
          <p:nvPr/>
        </p:nvSpPr>
        <p:spPr>
          <a:xfrm>
            <a:off x="8101583" y="2350008"/>
            <a:ext cx="3584448" cy="896112"/>
          </a:xfrm>
          <a:prstGeom prst="rect">
            <a:avLst/>
          </a:prstGeom>
          <a:solidFill>
            <a:srgbClr val="F3F5F9"/>
          </a:solidFill>
          <a:ln>
            <a:noFill/>
          </a:ln>
        </p:spPr>
        <p:txBody>
          <a:bodyPr rtlCol="0" anchor="ctr"/>
          <a:lstStyle/>
          <a:p>
            <a:pPr algn="ctr"/>
          </a:p>
        </p:txBody>
      </p:sp>
      <p:sp>
        <p:nvSpPr>
          <p:cNvPr id="30" name="Rectangle 29"/>
          <p:cNvSpPr/>
          <p:nvPr/>
        </p:nvSpPr>
        <p:spPr>
          <a:xfrm>
            <a:off x="8101583" y="2350008"/>
            <a:ext cx="64008" cy="896112"/>
          </a:xfrm>
          <a:prstGeom prst="rect">
            <a:avLst/>
          </a:prstGeom>
          <a:solidFill>
            <a:srgbClr val="1A8F7A"/>
          </a:solidFill>
          <a:ln>
            <a:noFill/>
          </a:ln>
        </p:spPr>
        <p:txBody>
          <a:bodyPr rtlCol="0" anchor="ctr"/>
          <a:lstStyle/>
          <a:p>
            <a:pPr algn="ctr"/>
          </a:p>
        </p:txBody>
      </p:sp>
      <p:sp>
        <p:nvSpPr>
          <p:cNvPr id="31" name="TextBox 30"/>
          <p:cNvSpPr txBox="1"/>
          <p:nvPr/>
        </p:nvSpPr>
        <p:spPr>
          <a:xfrm>
            <a:off x="8284463" y="2423160"/>
            <a:ext cx="3328415" cy="274320"/>
          </a:xfrm>
          <a:prstGeom prst="rect">
            <a:avLst/>
          </a:prstGeom>
          <a:noFill/>
        </p:spPr>
        <p:txBody>
          <a:bodyPr wrap="square" lIns="0" rIns="0" tIns="0" bIns="0" anchor="t">
            <a:spAutoFit/>
          </a:bodyPr>
          <a:lstStyle/>
          <a:p>
            <a:pPr algn="l">
              <a:spcAft>
                <a:spcPts val="0"/>
              </a:spcAft>
            </a:pPr>
            <a:r>
              <a:rPr sz="1450" b="1" i="0">
                <a:solidFill>
                  <a:srgbClr val="1F3A5F"/>
                </a:solidFill>
                <a:latin typeface="Calibri"/>
              </a:rPr>
              <a:t>Rare lows</a:t>
            </a:r>
          </a:p>
        </p:txBody>
      </p:sp>
      <p:sp>
        <p:nvSpPr>
          <p:cNvPr id="32" name="TextBox 31"/>
          <p:cNvSpPr txBox="1"/>
          <p:nvPr/>
        </p:nvSpPr>
        <p:spPr>
          <a:xfrm>
            <a:off x="8284463" y="2734056"/>
            <a:ext cx="3328415" cy="457200"/>
          </a:xfrm>
          <a:prstGeom prst="rect">
            <a:avLst/>
          </a:prstGeom>
          <a:noFill/>
        </p:spPr>
        <p:txBody>
          <a:bodyPr wrap="square" lIns="0" rIns="0" tIns="0" bIns="0" anchor="t">
            <a:spAutoFit/>
          </a:bodyPr>
          <a:lstStyle/>
          <a:p>
            <a:pPr algn="l">
              <a:spcAft>
                <a:spcPts val="0"/>
              </a:spcAft>
            </a:pPr>
            <a:r>
              <a:rPr sz="1200" b="0" i="0">
                <a:solidFill>
                  <a:srgbClr val="1F2D3D"/>
                </a:solidFill>
                <a:latin typeface="Calibri"/>
              </a:rPr>
              <a:t>Stress test: 6 of 16 lows warned, all correct (blind guard). CGMacros: 7 of 17, 39% precise</a:t>
            </a:r>
          </a:p>
        </p:txBody>
      </p:sp>
      <p:sp>
        <p:nvSpPr>
          <p:cNvPr id="33" name="Rectangle 32"/>
          <p:cNvSpPr/>
          <p:nvPr/>
        </p:nvSpPr>
        <p:spPr>
          <a:xfrm>
            <a:off x="548640" y="3520440"/>
            <a:ext cx="5760720" cy="2697480"/>
          </a:xfrm>
          <a:prstGeom prst="rect">
            <a:avLst/>
          </a:prstGeom>
          <a:solidFill>
            <a:srgbClr val="1F3A5F"/>
          </a:solidFill>
          <a:ln>
            <a:noFill/>
          </a:ln>
        </p:spPr>
        <p:txBody>
          <a:bodyPr rtlCol="0" anchor="ctr"/>
          <a:lstStyle/>
          <a:p>
            <a:pPr algn="ctr"/>
          </a:p>
        </p:txBody>
      </p:sp>
      <p:sp>
        <p:nvSpPr>
          <p:cNvPr id="34" name="TextBox 33"/>
          <p:cNvSpPr txBox="1"/>
          <p:nvPr/>
        </p:nvSpPr>
        <p:spPr>
          <a:xfrm>
            <a:off x="777240" y="3639312"/>
            <a:ext cx="5349240" cy="2514600"/>
          </a:xfrm>
          <a:prstGeom prst="rect">
            <a:avLst/>
          </a:prstGeom>
          <a:noFill/>
        </p:spPr>
        <p:txBody>
          <a:bodyPr wrap="square" lIns="0" rIns="0" tIns="0" bIns="0" anchor="t">
            <a:spAutoFit/>
          </a:bodyPr>
          <a:lstStyle/>
          <a:p>
            <a:pPr algn="l">
              <a:spcAft>
                <a:spcPts val="500"/>
              </a:spcAft>
            </a:pPr>
            <a:r>
              <a:rPr sz="1200" b="1" i="0">
                <a:solidFill>
                  <a:srgbClr val="F2B266"/>
                </a:solidFill>
                <a:latin typeface="Calibri"/>
              </a:rPr>
              <a:t>SCALE (MEASURED)</a:t>
            </a:r>
          </a:p>
          <a:p>
            <a:pPr algn="l" marL="182880" indent="-182880">
              <a:spcAft>
                <a:spcPts val="500"/>
              </a:spcAft>
              <a:buClr>
                <a:srgbClr val="E07B22"/>
              </a:buClr>
              <a:buFont typeface="Arial"/>
              <a:buChar char="•"/>
            </a:pPr>
            <a:r>
              <a:rPr sz="1400" b="0" i="0">
                <a:solidFill>
                  <a:srgbClr val="FFFFFF"/>
                </a:solidFill>
                <a:latin typeface="Calibri"/>
              </a:rPr>
              <a:t>16.3 µs per reading on one laptop core: update, 2-hour forecast and spike risk</a:t>
            </a:r>
          </a:p>
          <a:p>
            <a:pPr algn="l" marL="182880" indent="-182880">
              <a:spcAft>
                <a:spcPts val="500"/>
              </a:spcAft>
              <a:buClr>
                <a:srgbClr val="E07B22"/>
              </a:buClr>
              <a:buFont typeface="Arial"/>
              <a:buChar char="•"/>
            </a:pPr>
            <a:r>
              <a:rPr sz="1400" b="0" i="0">
                <a:solidFill>
                  <a:srgbClr val="FFFFFF"/>
                </a:solidFill>
                <a:latin typeface="Calibri"/>
              </a:rPr>
              <a:t>1.7 KB of state per patient: a million patients fit in 1.7 GB</a:t>
            </a:r>
          </a:p>
          <a:p>
            <a:pPr algn="l" marL="182880" indent="-182880">
              <a:spcAft>
                <a:spcPts val="500"/>
              </a:spcAft>
              <a:buClr>
                <a:srgbClr val="E07B22"/>
              </a:buClr>
              <a:buFont typeface="Arial"/>
              <a:buChar char="•"/>
            </a:pPr>
            <a:r>
              <a:rPr sz="1400" b="0" i="0">
                <a:solidFill>
                  <a:srgbClr val="FFFFFF"/>
                </a:solidFill>
                <a:latin typeface="Calibri"/>
              </a:rPr>
              <a:t>O(1) update and stateless workers: shard by patient ID</a:t>
            </a:r>
          </a:p>
          <a:p>
            <a:pPr algn="l" marL="182880" indent="-182880">
              <a:spcAft>
                <a:spcPts val="500"/>
              </a:spcAft>
              <a:buClr>
                <a:srgbClr val="E07B22"/>
              </a:buClr>
              <a:buFont typeface="Arial"/>
              <a:buChar char="•"/>
            </a:pPr>
            <a:r>
              <a:rPr sz="1400" b="0" i="0">
                <a:solidFill>
                  <a:srgbClr val="FFFFFF"/>
                </a:solidFill>
                <a:latin typeface="Calibri"/>
              </a:rPr>
              <a:t>No CGM? Eight fingersticks a day rebuild the curve at 20.3 mg/dL error (simulated)</a:t>
            </a:r>
          </a:p>
          <a:p>
            <a:pPr algn="l" marL="182880" indent="-182880">
              <a:spcAft>
                <a:spcPts val="0"/>
              </a:spcAft>
              <a:buClr>
                <a:srgbClr val="E07B22"/>
              </a:buClr>
              <a:buFont typeface="Arial"/>
              <a:buChar char="•"/>
            </a:pPr>
            <a:r>
              <a:rPr sz="1400" b="0" i="0">
                <a:solidFill>
                  <a:srgbClr val="FFFFFF"/>
                </a:solidFill>
                <a:latin typeface="Calibri"/>
              </a:rPr>
              <a:t>118/118 model tests; Python ↔ TypeScript parity on 300 cases</a:t>
            </a:r>
          </a:p>
        </p:txBody>
      </p:sp>
      <p:sp>
        <p:nvSpPr>
          <p:cNvPr id="35" name="Rectangle 34"/>
          <p:cNvSpPr/>
          <p:nvPr/>
        </p:nvSpPr>
        <p:spPr>
          <a:xfrm>
            <a:off x="6537960" y="3520440"/>
            <a:ext cx="5102352" cy="2697480"/>
          </a:xfrm>
          <a:prstGeom prst="rect">
            <a:avLst/>
          </a:prstGeom>
          <a:solidFill>
            <a:srgbClr val="FFF4E6"/>
          </a:solidFill>
          <a:ln>
            <a:noFill/>
          </a:ln>
        </p:spPr>
        <p:txBody>
          <a:bodyPr rtlCol="0" anchor="ctr"/>
          <a:lstStyle/>
          <a:p>
            <a:pPr algn="ctr"/>
          </a:p>
        </p:txBody>
      </p:sp>
      <p:sp>
        <p:nvSpPr>
          <p:cNvPr id="36" name="TextBox 35"/>
          <p:cNvSpPr txBox="1"/>
          <p:nvPr/>
        </p:nvSpPr>
        <p:spPr>
          <a:xfrm>
            <a:off x="6766560" y="3639312"/>
            <a:ext cx="4709160" cy="2514600"/>
          </a:xfrm>
          <a:prstGeom prst="rect">
            <a:avLst/>
          </a:prstGeom>
          <a:noFill/>
        </p:spPr>
        <p:txBody>
          <a:bodyPr wrap="square" lIns="0" rIns="0" tIns="0" bIns="0" anchor="t">
            <a:spAutoFit/>
          </a:bodyPr>
          <a:lstStyle/>
          <a:p>
            <a:pPr algn="l">
              <a:spcAft>
                <a:spcPts val="400"/>
              </a:spcAft>
            </a:pPr>
            <a:r>
              <a:rPr sz="1200" b="1" i="0">
                <a:solidFill>
                  <a:srgbClr val="E07B22"/>
                </a:solidFill>
                <a:latin typeface="Calibri"/>
              </a:rPr>
              <a:t>MODEL COMPUTE PER PATIENT (MEASURED)</a:t>
            </a:r>
          </a:p>
          <a:p>
            <a:pPr algn="l">
              <a:spcAft>
                <a:spcPts val="400"/>
              </a:spcAft>
            </a:pPr>
            <a:r>
              <a:rPr sz="2800" b="1" i="0">
                <a:solidFill>
                  <a:srgbClr val="1F3A5F"/>
                </a:solidFill>
                <a:latin typeface="Calibri"/>
              </a:rPr>
              <a:t>≈ 0.14 CPU-seconds / month</a:t>
            </a:r>
          </a:p>
          <a:p>
            <a:pPr algn="l">
              <a:spcAft>
                <a:spcPts val="600"/>
              </a:spcAft>
            </a:pPr>
            <a:r>
              <a:rPr sz="1350" b="0" i="0">
                <a:solidFill>
                  <a:srgbClr val="1F2D3D"/>
                </a:solidFill>
                <a:latin typeface="Calibri"/>
              </a:rPr>
              <a:t>288 readings × 30 days × 16.3 µs. One cloud vCPU covers the model for millions of patients, so the sensor, storage and hosting, not the twin, set the cost.</a:t>
            </a:r>
          </a:p>
          <a:p>
            <a:pPr algn="l">
              <a:spcAft>
                <a:spcPts val="600"/>
              </a:spcAft>
            </a:pPr>
            <a:r>
              <a:rPr sz="1350" b="1" i="0">
                <a:solidFill>
                  <a:srgbClr val="1F3A5F"/>
                </a:solidFill>
                <a:latin typeface="Calibri"/>
              </a:rPr>
              <a:t>At 1 million patients: </a:t>
            </a:r>
            <a:r>
              <a:rPr sz="1350" b="0" i="0">
                <a:solidFill>
                  <a:srgbClr val="1F2D3D"/>
                </a:solidFill>
                <a:latin typeface="Calibri"/>
              </a:rPr>
              <a:t>≈ 39 CPU-hours of model compute a month, 3,300 readings a second, 1.7 GB of twin state.</a:t>
            </a:r>
          </a:p>
          <a:p>
            <a:pPr algn="l">
              <a:spcAft>
                <a:spcPts val="0"/>
              </a:spcAft>
            </a:pPr>
            <a:r>
              <a:rPr sz="1200" b="0" i="1">
                <a:solidFill>
                  <a:srgbClr val="5B6675"/>
                </a:solidFill>
                <a:latin typeface="Calibri"/>
              </a:rPr>
              <a:t>Hosting and sensor prices are not yet costed.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band"/>
          <p:cNvSpPr/>
          <p:nvPr/>
        </p:nvSpPr>
        <p:spPr>
          <a:xfrm>
            <a:off x="0" y="0"/>
            <a:ext cx="12191695" cy="82296"/>
          </a:xfrm>
          <a:prstGeom prst="rect">
            <a:avLst/>
          </a:prstGeom>
          <a:solidFill>
            <a:srgbClr val="1F3A5F"/>
          </a:solidFill>
          <a:ln>
            <a:noFill/>
          </a:ln>
        </p:spPr>
        <p:txBody>
          <a:bodyPr rtlCol="0" anchor="ctr"/>
          <a:lstStyle/>
          <a:p>
            <a:pPr algn="ctr"/>
          </a:p>
        </p:txBody>
      </p:sp>
      <p:sp>
        <p:nvSpPr>
          <p:cNvPr id="3" name="Top accent"/>
          <p:cNvSpPr/>
          <p:nvPr/>
        </p:nvSpPr>
        <p:spPr>
          <a:xfrm>
            <a:off x="0" y="82296"/>
            <a:ext cx="2011680" cy="45720"/>
          </a:xfrm>
          <a:prstGeom prst="rect">
            <a:avLst/>
          </a:prstGeom>
          <a:solidFill>
            <a:srgbClr val="E07B22"/>
          </a:solidFill>
          <a:ln>
            <a:noFill/>
          </a:ln>
        </p:spPr>
        <p:txBody>
          <a:bodyPr rtlCol="0" anchor="ctr"/>
          <a:lstStyle/>
          <a:p>
            <a:pPr algn="ctr"/>
          </a:p>
        </p:txBody>
      </p:sp>
      <p:sp>
        <p:nvSpPr>
          <p:cNvPr id="4" name="Kicker"/>
          <p:cNvSpPr txBox="1"/>
          <p:nvPr/>
        </p:nvSpPr>
        <p:spPr>
          <a:xfrm>
            <a:off x="548640" y="329184"/>
            <a:ext cx="11091672" cy="237744"/>
          </a:xfrm>
          <a:prstGeom prst="rect">
            <a:avLst/>
          </a:prstGeom>
          <a:noFill/>
        </p:spPr>
        <p:txBody>
          <a:bodyPr wrap="square" lIns="0" rIns="0" tIns="0" bIns="0" anchor="t">
            <a:spAutoFit/>
          </a:bodyPr>
          <a:lstStyle/>
          <a:p>
            <a:pPr algn="l">
              <a:spcAft>
                <a:spcPts val="0"/>
              </a:spcAft>
            </a:pPr>
            <a:r>
              <a:rPr sz="1200" b="1" i="0">
                <a:solidFill>
                  <a:srgbClr val="E07B22"/>
                </a:solidFill>
                <a:latin typeface="Calibri"/>
              </a:rPr>
              <a:t>15 · FROM PROTOTYPE TO ONE CLINIC TO A CITY</a:t>
            </a:r>
          </a:p>
        </p:txBody>
      </p:sp>
      <p:sp>
        <p:nvSpPr>
          <p:cNvPr id="5" name="Title"/>
          <p:cNvSpPr txBox="1"/>
          <p:nvPr/>
        </p:nvSpPr>
        <p:spPr>
          <a:xfrm>
            <a:off x="548640" y="566928"/>
            <a:ext cx="11091672" cy="566928"/>
          </a:xfrm>
          <a:prstGeom prst="rect">
            <a:avLst/>
          </a:prstGeom>
          <a:noFill/>
        </p:spPr>
        <p:txBody>
          <a:bodyPr wrap="square" lIns="0" rIns="0" tIns="0" bIns="0" anchor="t">
            <a:spAutoFit/>
          </a:bodyPr>
          <a:lstStyle/>
          <a:p>
            <a:pPr algn="l">
              <a:spcAft>
                <a:spcPts val="0"/>
              </a:spcAft>
            </a:pPr>
            <a:r>
              <a:rPr sz="3000" b="1" i="0">
                <a:solidFill>
                  <a:srgbClr val="1F3A5F"/>
                </a:solidFill>
                <a:latin typeface="Calibri"/>
              </a:rPr>
              <a:t>Pilot plan, impact metrics and roadmap</a:t>
            </a:r>
          </a:p>
        </p:txBody>
      </p:sp>
      <p:cxnSp>
        <p:nvCxnSpPr>
          <p:cNvPr id="6" name="Footer rule"/>
          <p:cNvCxnSpPr/>
          <p:nvPr/>
        </p:nvCxnSpPr>
        <p:spPr>
          <a:xfrm>
            <a:off x="548640" y="6382512"/>
            <a:ext cx="11091672" cy="0"/>
          </a:xfrm>
          <a:prstGeom prst="line">
            <a:avLst/>
          </a:prstGeom>
          <a:ln w="9525">
            <a:solidFill>
              <a:srgbClr val="C9D1DC"/>
            </a:solidFill>
          </a:ln>
        </p:spPr>
        <p:style>
          <a:lnRef idx="2">
            <a:schemeClr val="accent1"/>
          </a:lnRef>
          <a:fillRef idx="0">
            <a:schemeClr val="accent1"/>
          </a:fillRef>
          <a:effectRef idx="1">
            <a:schemeClr val="accent1"/>
          </a:effectRef>
          <a:fontRef idx="minor">
            <a:schemeClr val="tx1"/>
          </a:fontRef>
        </p:style>
      </p:cxnSp>
      <p:sp>
        <p:nvSpPr>
          <p:cNvPr id="7" name="Sources"/>
          <p:cNvSpPr txBox="1"/>
          <p:nvPr/>
        </p:nvSpPr>
        <p:spPr>
          <a:xfrm>
            <a:off x="548640" y="6428232"/>
            <a:ext cx="10634472" cy="365760"/>
          </a:xfrm>
          <a:prstGeom prst="rect">
            <a:avLst/>
          </a:prstGeom>
          <a:noFill/>
        </p:spPr>
        <p:txBody>
          <a:bodyPr wrap="square" lIns="0" rIns="0" tIns="0" bIns="0" anchor="t">
            <a:spAutoFit/>
          </a:bodyPr>
          <a:lstStyle/>
          <a:p>
            <a:pPr algn="l">
              <a:spcAft>
                <a:spcPts val="0"/>
              </a:spcAft>
            </a:pPr>
            <a:r>
              <a:rPr sz="900" b="0" i="0">
                <a:solidFill>
                  <a:srgbClr val="5B6675"/>
                </a:solidFill>
                <a:latin typeface="Calibri"/>
              </a:rPr>
              <a:t>Pilot design and targets are proposals; outcomes will be reported as associations, not causal proof. ABHA figures: PIB fact sheet, 6 Jul 2026. Regulatory dates: DPDP Rules (notified 13 Nov 2025); CDSCO draft guidance on medical device software (21 Oct 2025).</a:t>
            </a:r>
          </a:p>
        </p:txBody>
      </p:sp>
      <p:sp>
        <p:nvSpPr>
          <p:cNvPr id="8" name="Page number"/>
          <p:cNvSpPr txBox="1"/>
          <p:nvPr/>
        </p:nvSpPr>
        <p:spPr>
          <a:xfrm>
            <a:off x="11274552" y="6446520"/>
            <a:ext cx="365760" cy="228600"/>
          </a:xfrm>
          <a:prstGeom prst="rect">
            <a:avLst/>
          </a:prstGeom>
          <a:noFill/>
        </p:spPr>
        <p:txBody>
          <a:bodyPr wrap="square" lIns="0" rIns="0" tIns="0" bIns="0" anchor="t">
            <a:spAutoFit/>
          </a:bodyPr>
          <a:lstStyle/>
          <a:p>
            <a:pPr algn="r">
              <a:spcAft>
                <a:spcPts val="0"/>
              </a:spcAft>
            </a:pPr>
            <a:r>
              <a:rPr sz="1100" b="1" i="0">
                <a:solidFill>
                  <a:srgbClr val="1F3A5F"/>
                </a:solidFill>
                <a:latin typeface="Calibri"/>
              </a:rPr>
              <a:t>15</a:t>
            </a:r>
          </a:p>
        </p:txBody>
      </p:sp>
      <p:sp>
        <p:nvSpPr>
          <p:cNvPr id="9" name="Rectangle 8"/>
          <p:cNvSpPr/>
          <p:nvPr/>
        </p:nvSpPr>
        <p:spPr>
          <a:xfrm>
            <a:off x="548640" y="1325880"/>
            <a:ext cx="3538728" cy="658368"/>
          </a:xfrm>
          <a:prstGeom prst="rect">
            <a:avLst/>
          </a:prstGeom>
          <a:solidFill>
            <a:srgbClr val="2F6DB5"/>
          </a:solidFill>
          <a:ln>
            <a:noFill/>
          </a:ln>
        </p:spPr>
        <p:txBody>
          <a:bodyPr rtlCol="0" anchor="ctr"/>
          <a:lstStyle/>
          <a:p>
            <a:pPr algn="ctr"/>
          </a:p>
        </p:txBody>
      </p:sp>
      <p:sp>
        <p:nvSpPr>
          <p:cNvPr id="10" name="TextBox 9"/>
          <p:cNvSpPr txBox="1"/>
          <p:nvPr/>
        </p:nvSpPr>
        <p:spPr>
          <a:xfrm>
            <a:off x="713232" y="1371600"/>
            <a:ext cx="3200400" cy="228600"/>
          </a:xfrm>
          <a:prstGeom prst="rect">
            <a:avLst/>
          </a:prstGeom>
          <a:noFill/>
        </p:spPr>
        <p:txBody>
          <a:bodyPr wrap="square" lIns="0" rIns="0" tIns="0" bIns="0" anchor="t">
            <a:spAutoFit/>
          </a:bodyPr>
          <a:lstStyle/>
          <a:p>
            <a:pPr algn="l">
              <a:spcAft>
                <a:spcPts val="0"/>
              </a:spcAft>
            </a:pPr>
            <a:r>
              <a:rPr sz="1100" b="1" i="0">
                <a:solidFill>
                  <a:srgbClr val="FFFFFF"/>
                </a:solidFill>
                <a:latin typeface="Calibri"/>
              </a:rPr>
              <a:t>NOW → DEC 2026</a:t>
            </a:r>
          </a:p>
        </p:txBody>
      </p:sp>
      <p:sp>
        <p:nvSpPr>
          <p:cNvPr id="11" name="TextBox 10"/>
          <p:cNvSpPr txBox="1"/>
          <p:nvPr/>
        </p:nvSpPr>
        <p:spPr>
          <a:xfrm>
            <a:off x="713232" y="1591056"/>
            <a:ext cx="3200400" cy="347472"/>
          </a:xfrm>
          <a:prstGeom prst="rect">
            <a:avLst/>
          </a:prstGeom>
          <a:noFill/>
        </p:spPr>
        <p:txBody>
          <a:bodyPr wrap="square" lIns="0" rIns="0" tIns="0" bIns="0" anchor="t">
            <a:spAutoFit/>
          </a:bodyPr>
          <a:lstStyle/>
          <a:p>
            <a:pPr algn="l">
              <a:spcAft>
                <a:spcPts val="0"/>
              </a:spcAft>
            </a:pPr>
            <a:r>
              <a:rPr sz="1700" b="1" i="0">
                <a:solidFill>
                  <a:srgbClr val="FFFFFF"/>
                </a:solidFill>
                <a:latin typeface="Calibri"/>
              </a:rPr>
              <a:t>Prototype</a:t>
            </a:r>
          </a:p>
        </p:txBody>
      </p:sp>
      <p:sp>
        <p:nvSpPr>
          <p:cNvPr id="12" name="Rectangle 11"/>
          <p:cNvSpPr/>
          <p:nvPr/>
        </p:nvSpPr>
        <p:spPr>
          <a:xfrm>
            <a:off x="548640" y="1984248"/>
            <a:ext cx="3538728" cy="960120"/>
          </a:xfrm>
          <a:prstGeom prst="rect">
            <a:avLst/>
          </a:prstGeom>
          <a:solidFill>
            <a:srgbClr val="F3F5F9"/>
          </a:solidFill>
          <a:ln>
            <a:noFill/>
          </a:ln>
        </p:spPr>
        <p:txBody>
          <a:bodyPr rtlCol="0" anchor="ctr"/>
          <a:lstStyle/>
          <a:p>
            <a:pPr algn="ctr"/>
          </a:p>
        </p:txBody>
      </p:sp>
      <p:sp>
        <p:nvSpPr>
          <p:cNvPr id="13" name="TextBox 12"/>
          <p:cNvSpPr txBox="1"/>
          <p:nvPr/>
        </p:nvSpPr>
        <p:spPr>
          <a:xfrm>
            <a:off x="731520" y="2075688"/>
            <a:ext cx="3200400" cy="822960"/>
          </a:xfrm>
          <a:prstGeom prst="rect">
            <a:avLst/>
          </a:prstGeom>
          <a:noFill/>
        </p:spPr>
        <p:txBody>
          <a:bodyPr wrap="square" lIns="0" rIns="0" tIns="0" bIns="0" anchor="t">
            <a:spAutoFit/>
          </a:bodyPr>
          <a:lstStyle/>
          <a:p>
            <a:pPr algn="l" marL="182880" indent="-182880">
              <a:spcAft>
                <a:spcPts val="400"/>
              </a:spcAft>
              <a:buClr>
                <a:srgbClr val="2F6DB5"/>
              </a:buClr>
              <a:buFont typeface="Arial"/>
              <a:buChar char="•"/>
            </a:pPr>
            <a:r>
              <a:rPr sz="1250" b="0" i="0">
                <a:solidFill>
                  <a:srgbClr val="1F2D3D"/>
                </a:solidFill>
                <a:latin typeface="Calibri"/>
              </a:rPr>
              <a:t>Twin running: 11 simulated + 45 real adults</a:t>
            </a:r>
          </a:p>
          <a:p>
            <a:pPr algn="l" marL="182880" indent="-182880">
              <a:spcAft>
                <a:spcPts val="400"/>
              </a:spcAft>
              <a:buClr>
                <a:srgbClr val="2F6DB5"/>
              </a:buClr>
              <a:buFont typeface="Arial"/>
              <a:buChar char="•"/>
            </a:pPr>
            <a:r>
              <a:rPr sz="1250" b="0" i="0">
                <a:solidFill>
                  <a:srgbClr val="1F2D3D"/>
                </a:solidFill>
                <a:latin typeface="Calibri"/>
              </a:rPr>
              <a:t>Built: habit-aware alerts, consent gate, pre-visit summary</a:t>
            </a:r>
          </a:p>
        </p:txBody>
      </p:sp>
      <p:sp>
        <p:nvSpPr>
          <p:cNvPr id="14" name="Rectangle 13"/>
          <p:cNvSpPr/>
          <p:nvPr/>
        </p:nvSpPr>
        <p:spPr>
          <a:xfrm>
            <a:off x="4325112" y="1325880"/>
            <a:ext cx="3538728" cy="658368"/>
          </a:xfrm>
          <a:prstGeom prst="rect">
            <a:avLst/>
          </a:prstGeom>
          <a:solidFill>
            <a:srgbClr val="E07B22"/>
          </a:solidFill>
          <a:ln>
            <a:noFill/>
          </a:ln>
        </p:spPr>
        <p:txBody>
          <a:bodyPr rtlCol="0" anchor="ctr"/>
          <a:lstStyle/>
          <a:p>
            <a:pPr algn="ctr"/>
          </a:p>
        </p:txBody>
      </p:sp>
      <p:sp>
        <p:nvSpPr>
          <p:cNvPr id="15" name="TextBox 14"/>
          <p:cNvSpPr txBox="1"/>
          <p:nvPr/>
        </p:nvSpPr>
        <p:spPr>
          <a:xfrm>
            <a:off x="4489703" y="1371600"/>
            <a:ext cx="3200400" cy="228600"/>
          </a:xfrm>
          <a:prstGeom prst="rect">
            <a:avLst/>
          </a:prstGeom>
          <a:noFill/>
        </p:spPr>
        <p:txBody>
          <a:bodyPr wrap="square" lIns="0" rIns="0" tIns="0" bIns="0" anchor="t">
            <a:spAutoFit/>
          </a:bodyPr>
          <a:lstStyle/>
          <a:p>
            <a:pPr algn="l">
              <a:spcAft>
                <a:spcPts val="0"/>
              </a:spcAft>
            </a:pPr>
            <a:r>
              <a:rPr sz="1100" b="1" i="0">
                <a:solidFill>
                  <a:srgbClr val="FFFFFF"/>
                </a:solidFill>
                <a:latin typeface="Calibri"/>
              </a:rPr>
              <a:t>NEXT</a:t>
            </a:r>
          </a:p>
        </p:txBody>
      </p:sp>
      <p:sp>
        <p:nvSpPr>
          <p:cNvPr id="16" name="TextBox 15"/>
          <p:cNvSpPr txBox="1"/>
          <p:nvPr/>
        </p:nvSpPr>
        <p:spPr>
          <a:xfrm>
            <a:off x="4489703" y="1591056"/>
            <a:ext cx="3200400" cy="347472"/>
          </a:xfrm>
          <a:prstGeom prst="rect">
            <a:avLst/>
          </a:prstGeom>
          <a:noFill/>
        </p:spPr>
        <p:txBody>
          <a:bodyPr wrap="square" lIns="0" rIns="0" tIns="0" bIns="0" anchor="t">
            <a:spAutoFit/>
          </a:bodyPr>
          <a:lstStyle/>
          <a:p>
            <a:pPr algn="l">
              <a:spcAft>
                <a:spcPts val="0"/>
              </a:spcAft>
            </a:pPr>
            <a:r>
              <a:rPr sz="1700" b="1" i="0">
                <a:solidFill>
                  <a:srgbClr val="FFFFFF"/>
                </a:solidFill>
                <a:latin typeface="Calibri"/>
              </a:rPr>
              <a:t>One-clinic pilot</a:t>
            </a:r>
          </a:p>
        </p:txBody>
      </p:sp>
      <p:sp>
        <p:nvSpPr>
          <p:cNvPr id="17" name="Rectangle 16"/>
          <p:cNvSpPr/>
          <p:nvPr/>
        </p:nvSpPr>
        <p:spPr>
          <a:xfrm>
            <a:off x="4325112" y="1984248"/>
            <a:ext cx="3538728" cy="960120"/>
          </a:xfrm>
          <a:prstGeom prst="rect">
            <a:avLst/>
          </a:prstGeom>
          <a:solidFill>
            <a:srgbClr val="F3F5F9"/>
          </a:solidFill>
          <a:ln>
            <a:noFill/>
          </a:ln>
        </p:spPr>
        <p:txBody>
          <a:bodyPr rtlCol="0" anchor="ctr"/>
          <a:lstStyle/>
          <a:p>
            <a:pPr algn="ctr"/>
          </a:p>
        </p:txBody>
      </p:sp>
      <p:sp>
        <p:nvSpPr>
          <p:cNvPr id="18" name="TextBox 17"/>
          <p:cNvSpPr txBox="1"/>
          <p:nvPr/>
        </p:nvSpPr>
        <p:spPr>
          <a:xfrm>
            <a:off x="4507992" y="2075688"/>
            <a:ext cx="3200400" cy="822960"/>
          </a:xfrm>
          <a:prstGeom prst="rect">
            <a:avLst/>
          </a:prstGeom>
          <a:noFill/>
        </p:spPr>
        <p:txBody>
          <a:bodyPr wrap="square" lIns="0" rIns="0" tIns="0" bIns="0" anchor="t">
            <a:spAutoFit/>
          </a:bodyPr>
          <a:lstStyle/>
          <a:p>
            <a:pPr algn="l" marL="182880" indent="-182880">
              <a:spcAft>
                <a:spcPts val="400"/>
              </a:spcAft>
              <a:buClr>
                <a:srgbClr val="E07B22"/>
              </a:buClr>
              <a:buFont typeface="Arial"/>
              <a:buChar char="•"/>
            </a:pPr>
            <a:r>
              <a:rPr sz="1250" b="0" i="0">
                <a:solidFill>
                  <a:srgbClr val="1F2D3D"/>
                </a:solidFill>
                <a:latin typeface="Calibri"/>
              </a:rPr>
              <a:t>30 adults with Type 2 diabetes on CGM, 12 weeks</a:t>
            </a:r>
          </a:p>
          <a:p>
            <a:pPr algn="l" marL="182880" indent="-182880">
              <a:spcAft>
                <a:spcPts val="400"/>
              </a:spcAft>
              <a:buClr>
                <a:srgbClr val="E07B22"/>
              </a:buClr>
              <a:buFont typeface="Arial"/>
              <a:buChar char="•"/>
            </a:pPr>
            <a:r>
              <a:rPr sz="1250" b="0" i="0">
                <a:solidFill>
                  <a:srgbClr val="1F2D3D"/>
                </a:solidFill>
                <a:latin typeface="Calibri"/>
              </a:rPr>
              <a:t>Indian meals via IFCT; doctor reviews forecasts</a:t>
            </a:r>
          </a:p>
        </p:txBody>
      </p:sp>
      <p:sp>
        <p:nvSpPr>
          <p:cNvPr id="19" name="Rectangle 18"/>
          <p:cNvSpPr/>
          <p:nvPr/>
        </p:nvSpPr>
        <p:spPr>
          <a:xfrm>
            <a:off x="8101583" y="1325880"/>
            <a:ext cx="3538728" cy="658368"/>
          </a:xfrm>
          <a:prstGeom prst="rect">
            <a:avLst/>
          </a:prstGeom>
          <a:solidFill>
            <a:srgbClr val="1A8F7A"/>
          </a:solidFill>
          <a:ln>
            <a:noFill/>
          </a:ln>
        </p:spPr>
        <p:txBody>
          <a:bodyPr rtlCol="0" anchor="ctr"/>
          <a:lstStyle/>
          <a:p>
            <a:pPr algn="ctr"/>
          </a:p>
        </p:txBody>
      </p:sp>
      <p:sp>
        <p:nvSpPr>
          <p:cNvPr id="20" name="TextBox 19"/>
          <p:cNvSpPr txBox="1"/>
          <p:nvPr/>
        </p:nvSpPr>
        <p:spPr>
          <a:xfrm>
            <a:off x="8266175" y="1371600"/>
            <a:ext cx="3200400" cy="228600"/>
          </a:xfrm>
          <a:prstGeom prst="rect">
            <a:avLst/>
          </a:prstGeom>
          <a:noFill/>
        </p:spPr>
        <p:txBody>
          <a:bodyPr wrap="square" lIns="0" rIns="0" tIns="0" bIns="0" anchor="t">
            <a:spAutoFit/>
          </a:bodyPr>
          <a:lstStyle/>
          <a:p>
            <a:pPr algn="l">
              <a:spcAft>
                <a:spcPts val="0"/>
              </a:spcAft>
            </a:pPr>
            <a:r>
              <a:rPr sz="1100" b="1" i="0">
                <a:solidFill>
                  <a:srgbClr val="FFFFFF"/>
                </a:solidFill>
                <a:latin typeface="Calibri"/>
              </a:rPr>
              <a:t>THEN</a:t>
            </a:r>
          </a:p>
        </p:txBody>
      </p:sp>
      <p:sp>
        <p:nvSpPr>
          <p:cNvPr id="21" name="TextBox 20"/>
          <p:cNvSpPr txBox="1"/>
          <p:nvPr/>
        </p:nvSpPr>
        <p:spPr>
          <a:xfrm>
            <a:off x="8266175" y="1591056"/>
            <a:ext cx="3200400" cy="347472"/>
          </a:xfrm>
          <a:prstGeom prst="rect">
            <a:avLst/>
          </a:prstGeom>
          <a:noFill/>
        </p:spPr>
        <p:txBody>
          <a:bodyPr wrap="square" lIns="0" rIns="0" tIns="0" bIns="0" anchor="t">
            <a:spAutoFit/>
          </a:bodyPr>
          <a:lstStyle/>
          <a:p>
            <a:pPr algn="l">
              <a:spcAft>
                <a:spcPts val="0"/>
              </a:spcAft>
            </a:pPr>
            <a:r>
              <a:rPr sz="1700" b="1" i="0">
                <a:solidFill>
                  <a:srgbClr val="FFFFFF"/>
                </a:solidFill>
                <a:latin typeface="Calibri"/>
              </a:rPr>
              <a:t>City rollout</a:t>
            </a:r>
          </a:p>
        </p:txBody>
      </p:sp>
      <p:sp>
        <p:nvSpPr>
          <p:cNvPr id="22" name="Rectangle 21"/>
          <p:cNvSpPr/>
          <p:nvPr/>
        </p:nvSpPr>
        <p:spPr>
          <a:xfrm>
            <a:off x="8101583" y="1984248"/>
            <a:ext cx="3538728" cy="960120"/>
          </a:xfrm>
          <a:prstGeom prst="rect">
            <a:avLst/>
          </a:prstGeom>
          <a:solidFill>
            <a:srgbClr val="F3F5F9"/>
          </a:solidFill>
          <a:ln>
            <a:noFill/>
          </a:ln>
        </p:spPr>
        <p:txBody>
          <a:bodyPr rtlCol="0" anchor="ctr"/>
          <a:lstStyle/>
          <a:p>
            <a:pPr algn="ctr"/>
          </a:p>
        </p:txBody>
      </p:sp>
      <p:sp>
        <p:nvSpPr>
          <p:cNvPr id="23" name="TextBox 22"/>
          <p:cNvSpPr txBox="1"/>
          <p:nvPr/>
        </p:nvSpPr>
        <p:spPr>
          <a:xfrm>
            <a:off x="8284463" y="2075688"/>
            <a:ext cx="3200400" cy="822960"/>
          </a:xfrm>
          <a:prstGeom prst="rect">
            <a:avLst/>
          </a:prstGeom>
          <a:noFill/>
        </p:spPr>
        <p:txBody>
          <a:bodyPr wrap="square" lIns="0" rIns="0" tIns="0" bIns="0" anchor="t">
            <a:spAutoFit/>
          </a:bodyPr>
          <a:lstStyle/>
          <a:p>
            <a:pPr algn="l" marL="182880" indent="-182880">
              <a:spcAft>
                <a:spcPts val="400"/>
              </a:spcAft>
              <a:buClr>
                <a:srgbClr val="1A8F7A"/>
              </a:buClr>
              <a:buFont typeface="Arial"/>
              <a:buChar char="•"/>
            </a:pPr>
            <a:r>
              <a:rPr sz="1250" b="0" i="0">
                <a:solidFill>
                  <a:srgbClr val="1F2D3D"/>
                </a:solidFill>
                <a:latin typeface="Calibri"/>
              </a:rPr>
              <a:t>More clinics via ABDM, with ABHA consent</a:t>
            </a:r>
          </a:p>
          <a:p>
            <a:pPr algn="l" marL="182880" indent="-182880">
              <a:spcAft>
                <a:spcPts val="400"/>
              </a:spcAft>
              <a:buClr>
                <a:srgbClr val="1A8F7A"/>
              </a:buClr>
              <a:buFont typeface="Arial"/>
              <a:buChar char="•"/>
            </a:pPr>
            <a:r>
              <a:rPr sz="1250" b="0" i="0">
                <a:solidFill>
                  <a:srgbClr val="1F2D3D"/>
                </a:solidFill>
                <a:latin typeface="Calibri"/>
              </a:rPr>
              <a:t>Hypertension twin on the same core</a:t>
            </a:r>
          </a:p>
        </p:txBody>
      </p:sp>
      <p:sp>
        <p:nvSpPr>
          <p:cNvPr id="24" name="TextBox 23"/>
          <p:cNvSpPr txBox="1"/>
          <p:nvPr/>
        </p:nvSpPr>
        <p:spPr>
          <a:xfrm>
            <a:off x="548640" y="3063240"/>
            <a:ext cx="11091672" cy="237744"/>
          </a:xfrm>
          <a:prstGeom prst="rect">
            <a:avLst/>
          </a:prstGeom>
          <a:noFill/>
        </p:spPr>
        <p:txBody>
          <a:bodyPr wrap="square" lIns="0" rIns="0" tIns="0" bIns="0" anchor="t">
            <a:spAutoFit/>
          </a:bodyPr>
          <a:lstStyle/>
          <a:p>
            <a:pPr algn="l">
              <a:spcAft>
                <a:spcPts val="0"/>
              </a:spcAft>
            </a:pPr>
            <a:r>
              <a:rPr sz="1200" b="1" i="0">
                <a:solidFill>
                  <a:srgbClr val="5B6675"/>
                </a:solidFill>
                <a:latin typeface="Calibri"/>
              </a:rPr>
              <a:t>HOW WE'LL KNOW IT WORKS   (lead metric: time in range)</a:t>
            </a:r>
          </a:p>
        </p:txBody>
      </p:sp>
      <p:sp>
        <p:nvSpPr>
          <p:cNvPr id="25" name="Rounded Rectangle 24"/>
          <p:cNvSpPr/>
          <p:nvPr/>
        </p:nvSpPr>
        <p:spPr>
          <a:xfrm>
            <a:off x="548640" y="3337560"/>
            <a:ext cx="2651760" cy="960120"/>
          </a:xfrm>
          <a:prstGeom prst="roundRect">
            <a:avLst>
              <a:gd name="adj" fmla="val 5714"/>
            </a:avLst>
          </a:prstGeom>
          <a:solidFill>
            <a:srgbClr val="FFFFFF"/>
          </a:solidFill>
          <a:ln w="19050">
            <a:solidFill>
              <a:srgbClr val="E07B22"/>
            </a:solidFill>
          </a:ln>
        </p:spPr>
        <p:txBody>
          <a:bodyPr rtlCol="0" anchor="ctr"/>
          <a:lstStyle/>
          <a:p>
            <a:pPr algn="ctr"/>
          </a:p>
        </p:txBody>
      </p:sp>
      <p:sp>
        <p:nvSpPr>
          <p:cNvPr id="26" name="TextBox 25"/>
          <p:cNvSpPr txBox="1"/>
          <p:nvPr/>
        </p:nvSpPr>
        <p:spPr>
          <a:xfrm>
            <a:off x="694944" y="3401568"/>
            <a:ext cx="2377440" cy="274320"/>
          </a:xfrm>
          <a:prstGeom prst="rect">
            <a:avLst/>
          </a:prstGeom>
          <a:noFill/>
        </p:spPr>
        <p:txBody>
          <a:bodyPr wrap="square" lIns="0" rIns="0" tIns="0" bIns="0" anchor="t">
            <a:spAutoFit/>
          </a:bodyPr>
          <a:lstStyle/>
          <a:p>
            <a:pPr algn="l">
              <a:spcAft>
                <a:spcPts val="0"/>
              </a:spcAft>
            </a:pPr>
            <a:r>
              <a:rPr sz="1400" b="1" i="0">
                <a:solidFill>
                  <a:srgbClr val="1F3A5F"/>
                </a:solidFill>
                <a:latin typeface="Calibri"/>
              </a:rPr>
              <a:t>Time in range</a:t>
            </a:r>
          </a:p>
        </p:txBody>
      </p:sp>
      <p:sp>
        <p:nvSpPr>
          <p:cNvPr id="27" name="TextBox 26"/>
          <p:cNvSpPr txBox="1"/>
          <p:nvPr/>
        </p:nvSpPr>
        <p:spPr>
          <a:xfrm>
            <a:off x="694944" y="3685032"/>
            <a:ext cx="2377440" cy="594360"/>
          </a:xfrm>
          <a:prstGeom prst="rect">
            <a:avLst/>
          </a:prstGeom>
          <a:noFill/>
        </p:spPr>
        <p:txBody>
          <a:bodyPr wrap="square" lIns="0" rIns="0" tIns="0" bIns="0" anchor="t">
            <a:spAutoFit/>
          </a:bodyPr>
          <a:lstStyle/>
          <a:p>
            <a:pPr algn="l">
              <a:spcAft>
                <a:spcPts val="0"/>
              </a:spcAft>
            </a:pPr>
            <a:r>
              <a:rPr sz="1150" b="0" i="0">
                <a:solidFill>
                  <a:srgbClr val="1F2D3D"/>
                </a:solidFill>
                <a:latin typeface="Calibri"/>
              </a:rPr>
              <a:t>points gained vs the pilot's baseline weeks; +5 is clinically meaningful</a:t>
            </a:r>
          </a:p>
        </p:txBody>
      </p:sp>
      <p:sp>
        <p:nvSpPr>
          <p:cNvPr id="28" name="Rounded Rectangle 27"/>
          <p:cNvSpPr/>
          <p:nvPr/>
        </p:nvSpPr>
        <p:spPr>
          <a:xfrm>
            <a:off x="3346704" y="3337560"/>
            <a:ext cx="2651760" cy="960120"/>
          </a:xfrm>
          <a:prstGeom prst="roundRect">
            <a:avLst>
              <a:gd name="adj" fmla="val 5714"/>
            </a:avLst>
          </a:prstGeom>
          <a:solidFill>
            <a:srgbClr val="FFFFFF"/>
          </a:solidFill>
          <a:ln w="19050">
            <a:solidFill>
              <a:srgbClr val="E07B22"/>
            </a:solidFill>
          </a:ln>
        </p:spPr>
        <p:txBody>
          <a:bodyPr rtlCol="0" anchor="ctr"/>
          <a:lstStyle/>
          <a:p>
            <a:pPr algn="ctr"/>
          </a:p>
        </p:txBody>
      </p:sp>
      <p:sp>
        <p:nvSpPr>
          <p:cNvPr id="29" name="TextBox 28"/>
          <p:cNvSpPr txBox="1"/>
          <p:nvPr/>
        </p:nvSpPr>
        <p:spPr>
          <a:xfrm>
            <a:off x="3493008" y="3401568"/>
            <a:ext cx="2377440" cy="274320"/>
          </a:xfrm>
          <a:prstGeom prst="rect">
            <a:avLst/>
          </a:prstGeom>
          <a:noFill/>
        </p:spPr>
        <p:txBody>
          <a:bodyPr wrap="square" lIns="0" rIns="0" tIns="0" bIns="0" anchor="t">
            <a:spAutoFit/>
          </a:bodyPr>
          <a:lstStyle/>
          <a:p>
            <a:pPr algn="l">
              <a:spcAft>
                <a:spcPts val="0"/>
              </a:spcAft>
            </a:pPr>
            <a:r>
              <a:rPr sz="1400" b="1" i="0">
                <a:solidFill>
                  <a:srgbClr val="1F3A5F"/>
                </a:solidFill>
                <a:latin typeface="Calibri"/>
              </a:rPr>
              <a:t>Spikes warned early</a:t>
            </a:r>
          </a:p>
        </p:txBody>
      </p:sp>
      <p:sp>
        <p:nvSpPr>
          <p:cNvPr id="30" name="TextBox 29"/>
          <p:cNvSpPr txBox="1"/>
          <p:nvPr/>
        </p:nvSpPr>
        <p:spPr>
          <a:xfrm>
            <a:off x="3493008" y="3685032"/>
            <a:ext cx="2377440" cy="594360"/>
          </a:xfrm>
          <a:prstGeom prst="rect">
            <a:avLst/>
          </a:prstGeom>
          <a:noFill/>
        </p:spPr>
        <p:txBody>
          <a:bodyPr wrap="square" lIns="0" rIns="0" tIns="0" bIns="0" anchor="t">
            <a:spAutoFit/>
          </a:bodyPr>
          <a:lstStyle/>
          <a:p>
            <a:pPr algn="l">
              <a:spcAft>
                <a:spcPts val="0"/>
              </a:spcAft>
            </a:pPr>
            <a:r>
              <a:rPr sz="1150" b="0" i="0">
                <a:solidFill>
                  <a:srgbClr val="1F2D3D"/>
                </a:solidFill>
                <a:latin typeface="Calibri"/>
              </a:rPr>
              <a:t>% warned ≥60 min ahead (stress test today: 42.9%, median 105 min)</a:t>
            </a:r>
          </a:p>
        </p:txBody>
      </p:sp>
      <p:sp>
        <p:nvSpPr>
          <p:cNvPr id="31" name="Rounded Rectangle 30"/>
          <p:cNvSpPr/>
          <p:nvPr/>
        </p:nvSpPr>
        <p:spPr>
          <a:xfrm>
            <a:off x="6144768" y="3337560"/>
            <a:ext cx="2651760" cy="960120"/>
          </a:xfrm>
          <a:prstGeom prst="roundRect">
            <a:avLst>
              <a:gd name="adj" fmla="val 5714"/>
            </a:avLst>
          </a:prstGeom>
          <a:solidFill>
            <a:srgbClr val="FFFFFF"/>
          </a:solidFill>
          <a:ln w="19050">
            <a:solidFill>
              <a:srgbClr val="E07B22"/>
            </a:solidFill>
          </a:ln>
        </p:spPr>
        <p:txBody>
          <a:bodyPr rtlCol="0" anchor="ctr"/>
          <a:lstStyle/>
          <a:p>
            <a:pPr algn="ctr"/>
          </a:p>
        </p:txBody>
      </p:sp>
      <p:sp>
        <p:nvSpPr>
          <p:cNvPr id="32" name="TextBox 31"/>
          <p:cNvSpPr txBox="1"/>
          <p:nvPr/>
        </p:nvSpPr>
        <p:spPr>
          <a:xfrm>
            <a:off x="6291072" y="3401568"/>
            <a:ext cx="2377440" cy="274320"/>
          </a:xfrm>
          <a:prstGeom prst="rect">
            <a:avLst/>
          </a:prstGeom>
          <a:noFill/>
        </p:spPr>
        <p:txBody>
          <a:bodyPr wrap="square" lIns="0" rIns="0" tIns="0" bIns="0" anchor="t">
            <a:spAutoFit/>
          </a:bodyPr>
          <a:lstStyle/>
          <a:p>
            <a:pPr algn="l">
              <a:spcAft>
                <a:spcPts val="0"/>
              </a:spcAft>
            </a:pPr>
            <a:r>
              <a:rPr sz="1400" b="1" i="0">
                <a:solidFill>
                  <a:srgbClr val="1F3A5F"/>
                </a:solidFill>
                <a:latin typeface="Calibri"/>
              </a:rPr>
              <a:t>False alerts</a:t>
            </a:r>
          </a:p>
        </p:txBody>
      </p:sp>
      <p:sp>
        <p:nvSpPr>
          <p:cNvPr id="33" name="TextBox 32"/>
          <p:cNvSpPr txBox="1"/>
          <p:nvPr/>
        </p:nvSpPr>
        <p:spPr>
          <a:xfrm>
            <a:off x="6291072" y="3685032"/>
            <a:ext cx="2377440" cy="594360"/>
          </a:xfrm>
          <a:prstGeom prst="rect">
            <a:avLst/>
          </a:prstGeom>
          <a:noFill/>
        </p:spPr>
        <p:txBody>
          <a:bodyPr wrap="square" lIns="0" rIns="0" tIns="0" bIns="0" anchor="t">
            <a:spAutoFit/>
          </a:bodyPr>
          <a:lstStyle/>
          <a:p>
            <a:pPr algn="l">
              <a:spcAft>
                <a:spcPts val="0"/>
              </a:spcAft>
            </a:pPr>
            <a:r>
              <a:rPr sz="1150" b="0" i="0">
                <a:solidFill>
                  <a:srgbClr val="1F2D3D"/>
                </a:solidFill>
                <a:latin typeface="Calibri"/>
              </a:rPr>
              <a:t>per patient-day; today 0.75, keep below 1</a:t>
            </a:r>
          </a:p>
        </p:txBody>
      </p:sp>
      <p:sp>
        <p:nvSpPr>
          <p:cNvPr id="34" name="Rounded Rectangle 33"/>
          <p:cNvSpPr/>
          <p:nvPr/>
        </p:nvSpPr>
        <p:spPr>
          <a:xfrm>
            <a:off x="8942832" y="3337560"/>
            <a:ext cx="2651760" cy="960120"/>
          </a:xfrm>
          <a:prstGeom prst="roundRect">
            <a:avLst>
              <a:gd name="adj" fmla="val 5714"/>
            </a:avLst>
          </a:prstGeom>
          <a:solidFill>
            <a:srgbClr val="FFFFFF"/>
          </a:solidFill>
          <a:ln w="19050">
            <a:solidFill>
              <a:srgbClr val="E07B22"/>
            </a:solidFill>
          </a:ln>
        </p:spPr>
        <p:txBody>
          <a:bodyPr rtlCol="0" anchor="ctr"/>
          <a:lstStyle/>
          <a:p>
            <a:pPr algn="ctr"/>
          </a:p>
        </p:txBody>
      </p:sp>
      <p:sp>
        <p:nvSpPr>
          <p:cNvPr id="35" name="TextBox 34"/>
          <p:cNvSpPr txBox="1"/>
          <p:nvPr/>
        </p:nvSpPr>
        <p:spPr>
          <a:xfrm>
            <a:off x="9089136" y="3401568"/>
            <a:ext cx="2377440" cy="274320"/>
          </a:xfrm>
          <a:prstGeom prst="rect">
            <a:avLst/>
          </a:prstGeom>
          <a:noFill/>
        </p:spPr>
        <p:txBody>
          <a:bodyPr wrap="square" lIns="0" rIns="0" tIns="0" bIns="0" anchor="t">
            <a:spAutoFit/>
          </a:bodyPr>
          <a:lstStyle/>
          <a:p>
            <a:pPr algn="l">
              <a:spcAft>
                <a:spcPts val="0"/>
              </a:spcAft>
            </a:pPr>
            <a:r>
              <a:rPr sz="1400" b="1" i="0">
                <a:solidFill>
                  <a:srgbClr val="1F3A5F"/>
                </a:solidFill>
                <a:latin typeface="Calibri"/>
              </a:rPr>
              <a:t>Review time</a:t>
            </a:r>
          </a:p>
        </p:txBody>
      </p:sp>
      <p:sp>
        <p:nvSpPr>
          <p:cNvPr id="36" name="TextBox 35"/>
          <p:cNvSpPr txBox="1"/>
          <p:nvPr/>
        </p:nvSpPr>
        <p:spPr>
          <a:xfrm>
            <a:off x="9089136" y="3685032"/>
            <a:ext cx="2377440" cy="594360"/>
          </a:xfrm>
          <a:prstGeom prst="rect">
            <a:avLst/>
          </a:prstGeom>
          <a:noFill/>
        </p:spPr>
        <p:txBody>
          <a:bodyPr wrap="square" lIns="0" rIns="0" tIns="0" bIns="0" anchor="t">
            <a:spAutoFit/>
          </a:bodyPr>
          <a:lstStyle/>
          <a:p>
            <a:pPr algn="l">
              <a:spcAft>
                <a:spcPts val="0"/>
              </a:spcAft>
            </a:pPr>
            <a:r>
              <a:rPr sz="1150" b="0" i="0">
                <a:solidFill>
                  <a:srgbClr val="1F2D3D"/>
                </a:solidFill>
                <a:latin typeface="Calibri"/>
              </a:rPr>
              <a:t>minutes per patient review, before vs after</a:t>
            </a:r>
          </a:p>
        </p:txBody>
      </p:sp>
      <p:sp>
        <p:nvSpPr>
          <p:cNvPr id="37" name="Rectangle 36"/>
          <p:cNvSpPr/>
          <p:nvPr/>
        </p:nvSpPr>
        <p:spPr>
          <a:xfrm>
            <a:off x="548640" y="4434840"/>
            <a:ext cx="11091672" cy="914400"/>
          </a:xfrm>
          <a:prstGeom prst="rect">
            <a:avLst/>
          </a:prstGeom>
          <a:solidFill>
            <a:srgbClr val="1F3A5F"/>
          </a:solidFill>
          <a:ln>
            <a:noFill/>
          </a:ln>
        </p:spPr>
        <p:txBody>
          <a:bodyPr rtlCol="0" anchor="ctr"/>
          <a:lstStyle/>
          <a:p>
            <a:pPr algn="ctr"/>
          </a:p>
        </p:txBody>
      </p:sp>
      <p:sp>
        <p:nvSpPr>
          <p:cNvPr id="38" name="TextBox 37"/>
          <p:cNvSpPr txBox="1"/>
          <p:nvPr/>
        </p:nvSpPr>
        <p:spPr>
          <a:xfrm>
            <a:off x="749808" y="4498848"/>
            <a:ext cx="10689336" cy="841248"/>
          </a:xfrm>
          <a:prstGeom prst="rect">
            <a:avLst/>
          </a:prstGeom>
          <a:noFill/>
        </p:spPr>
        <p:txBody>
          <a:bodyPr wrap="square" lIns="0" rIns="0" tIns="0" bIns="0" anchor="t">
            <a:spAutoFit/>
          </a:bodyPr>
          <a:lstStyle/>
          <a:p>
            <a:pPr algn="l">
              <a:spcAft>
                <a:spcPts val="300"/>
              </a:spcAft>
            </a:pPr>
            <a:r>
              <a:rPr sz="1100" b="1" i="0">
                <a:solidFill>
                  <a:srgbClr val="F2B266"/>
                </a:solidFill>
                <a:latin typeface="Calibri"/>
              </a:rPr>
              <a:t>ADOPTION &amp; SUSTAINABILITY</a:t>
            </a:r>
          </a:p>
          <a:p>
            <a:pPr algn="l">
              <a:spcAft>
                <a:spcPts val="0"/>
              </a:spcAft>
            </a:pPr>
            <a:r>
              <a:rPr sz="1250" b="1" i="0">
                <a:solidFill>
                  <a:srgbClr val="F2B266"/>
                </a:solidFill>
                <a:latin typeface="Calibri"/>
              </a:rPr>
              <a:t>Plugs in: </a:t>
            </a:r>
            <a:r>
              <a:rPr sz="1250" b="0" i="0">
                <a:solidFill>
                  <a:srgbClr val="FFFFFF"/>
                </a:solidFill>
                <a:latin typeface="Calibri"/>
              </a:rPr>
              <a:t>ABDM exchanges records as FHIR R4, the format the twin already reads; 93 crore ABHA accounts and 104 crore linked records exist today. </a:t>
            </a:r>
            <a:r>
              <a:rPr sz="1250" b="1" i="0">
                <a:solidFill>
                  <a:srgbClr val="F2B266"/>
                </a:solidFill>
                <a:latin typeface="Calibri"/>
              </a:rPr>
              <a:t>Regulation: </a:t>
            </a:r>
            <a:r>
              <a:rPr sz="1250" b="0" i="0">
                <a:solidFill>
                  <a:srgbClr val="FFFFFF"/>
                </a:solidFill>
                <a:latin typeface="Calibri"/>
              </a:rPr>
              <a:t>clinician decision support, built for DPDP consent (consent-manager duties from 13 Nov 2026) and the CDSCO software pathway.</a:t>
            </a:r>
          </a:p>
        </p:txBody>
      </p:sp>
      <p:sp>
        <p:nvSpPr>
          <p:cNvPr id="39" name="Rectangle 38"/>
          <p:cNvSpPr/>
          <p:nvPr/>
        </p:nvSpPr>
        <p:spPr>
          <a:xfrm>
            <a:off x="548640" y="5486400"/>
            <a:ext cx="11091672" cy="731520"/>
          </a:xfrm>
          <a:prstGeom prst="rect">
            <a:avLst/>
          </a:prstGeom>
          <a:solidFill>
            <a:srgbClr val="FFF4E6"/>
          </a:solidFill>
          <a:ln>
            <a:noFill/>
          </a:ln>
        </p:spPr>
        <p:txBody>
          <a:bodyPr rtlCol="0" anchor="ctr"/>
          <a:lstStyle/>
          <a:p>
            <a:pPr algn="ctr"/>
          </a:p>
        </p:txBody>
      </p:sp>
      <p:sp>
        <p:nvSpPr>
          <p:cNvPr id="40" name="TextBox 39"/>
          <p:cNvSpPr txBox="1"/>
          <p:nvPr/>
        </p:nvSpPr>
        <p:spPr>
          <a:xfrm>
            <a:off x="749808" y="5486400"/>
            <a:ext cx="10689336" cy="731520"/>
          </a:xfrm>
          <a:prstGeom prst="rect">
            <a:avLst/>
          </a:prstGeom>
          <a:noFill/>
        </p:spPr>
        <p:txBody>
          <a:bodyPr wrap="square" lIns="0" rIns="0" tIns="0" bIns="0" anchor="ctr">
            <a:spAutoFit/>
          </a:bodyPr>
          <a:lstStyle/>
          <a:p>
            <a:pPr algn="l">
              <a:spcAft>
                <a:spcPts val="0"/>
              </a:spcAft>
            </a:pPr>
            <a:r>
              <a:rPr sz="1400" b="1" i="0">
                <a:solidFill>
                  <a:srgbClr val="E07B22"/>
                </a:solidFill>
                <a:latin typeface="Calibri"/>
              </a:rPr>
              <a:t>The ask: </a:t>
            </a:r>
            <a:r>
              <a:rPr sz="1400" b="0" i="0">
                <a:solidFill>
                  <a:srgbClr val="1F2D3D"/>
                </a:solidFill>
                <a:latin typeface="Calibri"/>
              </a:rPr>
              <a:t>one diabetes clinic, 30 consenting adults with Type 2 diabetes on CGM for 12 weeks, and a doctor willing to review the twin's forecasts.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GlucoTwin — Digital Twin Challenge 2026</dc:title>
  <dc:subject/>
  <dc:creator>Nikhil Chawla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