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F2F"/>
        </a:solidFill>
        <a:effectLst/>
      </p:bgPr>
    </p:bg>
    <p:spTree>
      <p:nvGrpSpPr>
        <p:cNvPr id="1" name=""/>
        <p:cNvGrpSpPr/>
        <p:nvPr/>
      </p:nvGrpSpPr>
      <p:grpSpPr/>
      <p:sp>
        <p:nvSpPr>
          <p:cNvPr id="2" name="TextBox 1"/>
          <p:cNvSpPr txBox="1"/>
          <p:nvPr/>
        </p:nvSpPr>
        <p:spPr>
          <a:xfrm>
            <a:off x="640080" y="329184"/>
            <a:ext cx="10972800" cy="292608"/>
          </a:xfrm>
          <a:prstGeom prst="rect">
            <a:avLst/>
          </a:prstGeom>
          <a:noFill/>
        </p:spPr>
        <p:txBody>
          <a:bodyPr wrap="square">
            <a:spAutoFit/>
          </a:bodyPr>
          <a:lstStyle/>
          <a:p>
            <a:pPr>
              <a:defRPr sz="1200" b="1">
                <a:solidFill>
                  <a:srgbClr val="8FD3C8"/>
                </a:solidFill>
                <a:latin typeface="Calibri"/>
              </a:defRPr>
            </a:pPr>
            <a:r>
              <a:t>A DIGITAL TWIN FOR TYPE 2 DIABETES · HAPPIEST HEALTH DIGITAL TWIN CHALLENGE 2026</a:t>
            </a:r>
          </a:p>
        </p:txBody>
      </p:sp>
      <p:sp>
        <p:nvSpPr>
          <p:cNvPr id="3" name="TextBox 2"/>
          <p:cNvSpPr txBox="1"/>
          <p:nvPr/>
        </p:nvSpPr>
        <p:spPr>
          <a:xfrm>
            <a:off x="640080" y="603504"/>
            <a:ext cx="10972800" cy="822960"/>
          </a:xfrm>
          <a:prstGeom prst="rect">
            <a:avLst/>
          </a:prstGeom>
          <a:noFill/>
        </p:spPr>
        <p:txBody>
          <a:bodyPr wrap="square">
            <a:spAutoFit/>
          </a:bodyPr>
          <a:lstStyle/>
          <a:p>
            <a:pPr>
              <a:defRPr sz="4800" b="0">
                <a:solidFill>
                  <a:srgbClr val="F4F1EA"/>
                </a:solidFill>
                <a:latin typeface="Georgia"/>
              </a:defRPr>
            </a:pPr>
            <a:r>
              <a:t>GlucoTwin</a:t>
            </a:r>
          </a:p>
        </p:txBody>
      </p:sp>
      <p:sp>
        <p:nvSpPr>
          <p:cNvPr id="4" name="Rounded Rectangle 3"/>
          <p:cNvSpPr/>
          <p:nvPr/>
        </p:nvSpPr>
        <p:spPr>
          <a:xfrm>
            <a:off x="640080" y="1600200"/>
            <a:ext cx="2590038" cy="1325880"/>
          </a:xfrm>
          <a:prstGeom prst="roundRect">
            <a:avLst>
              <a:gd name="adj" fmla="val 12000"/>
            </a:avLst>
          </a:prstGeom>
          <a:solidFill>
            <a:srgbClr val="1E4545"/>
          </a:solidFill>
          <a:ln>
            <a:solidFill>
              <a:srgbClr val="3A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673352"/>
            <a:ext cx="2370582" cy="548640"/>
          </a:xfrm>
          <a:prstGeom prst="rect">
            <a:avLst/>
          </a:prstGeom>
          <a:noFill/>
        </p:spPr>
        <p:txBody>
          <a:bodyPr wrap="square">
            <a:spAutoFit/>
          </a:bodyPr>
          <a:lstStyle/>
          <a:p>
            <a:pPr>
              <a:defRPr sz="2600" b="1">
                <a:solidFill>
                  <a:srgbClr val="8FD3C8"/>
                </a:solidFill>
                <a:latin typeface="Georgia"/>
              </a:defRPr>
            </a:pPr>
            <a:r>
              <a:t>18.3%</a:t>
            </a:r>
          </a:p>
        </p:txBody>
      </p:sp>
      <p:sp>
        <p:nvSpPr>
          <p:cNvPr id="6" name="TextBox 5"/>
          <p:cNvSpPr txBox="1"/>
          <p:nvPr/>
        </p:nvSpPr>
        <p:spPr>
          <a:xfrm>
            <a:off x="749808" y="2203704"/>
            <a:ext cx="2370582" cy="685800"/>
          </a:xfrm>
          <a:prstGeom prst="rect">
            <a:avLst/>
          </a:prstGeom>
          <a:noFill/>
        </p:spPr>
        <p:txBody>
          <a:bodyPr wrap="square">
            <a:spAutoFit/>
          </a:bodyPr>
          <a:lstStyle/>
          <a:p>
            <a:pPr>
              <a:defRPr sz="1100" b="0">
                <a:solidFill>
                  <a:srgbClr val="E7E2D6"/>
                </a:solidFill>
                <a:latin typeface="Calibri"/>
              </a:defRPr>
            </a:pPr>
            <a:r>
              <a:t>lower 2-hour error than persistence on 45 real adults (31.8 vs 38.9 mg/dL)</a:t>
            </a:r>
          </a:p>
        </p:txBody>
      </p:sp>
      <p:sp>
        <p:nvSpPr>
          <p:cNvPr id="7" name="Rounded Rectangle 6"/>
          <p:cNvSpPr/>
          <p:nvPr/>
        </p:nvSpPr>
        <p:spPr>
          <a:xfrm>
            <a:off x="3412998" y="1600200"/>
            <a:ext cx="2590038" cy="1325880"/>
          </a:xfrm>
          <a:prstGeom prst="roundRect">
            <a:avLst>
              <a:gd name="adj" fmla="val 12000"/>
            </a:avLst>
          </a:prstGeom>
          <a:solidFill>
            <a:srgbClr val="1E4545"/>
          </a:solidFill>
          <a:ln>
            <a:solidFill>
              <a:srgbClr val="3A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2726" y="1673352"/>
            <a:ext cx="2370582" cy="548640"/>
          </a:xfrm>
          <a:prstGeom prst="rect">
            <a:avLst/>
          </a:prstGeom>
          <a:noFill/>
        </p:spPr>
        <p:txBody>
          <a:bodyPr wrap="square">
            <a:spAutoFit/>
          </a:bodyPr>
          <a:lstStyle/>
          <a:p>
            <a:pPr>
              <a:defRPr sz="2600" b="1">
                <a:solidFill>
                  <a:srgbClr val="8FD3C8"/>
                </a:solidFill>
                <a:latin typeface="Georgia"/>
              </a:defRPr>
            </a:pPr>
            <a:r>
              <a:t>105 min</a:t>
            </a:r>
          </a:p>
        </p:txBody>
      </p:sp>
      <p:sp>
        <p:nvSpPr>
          <p:cNvPr id="9" name="TextBox 8"/>
          <p:cNvSpPr txBox="1"/>
          <p:nvPr/>
        </p:nvSpPr>
        <p:spPr>
          <a:xfrm>
            <a:off x="3522726" y="2203704"/>
            <a:ext cx="2370582" cy="685800"/>
          </a:xfrm>
          <a:prstGeom prst="rect">
            <a:avLst/>
          </a:prstGeom>
          <a:noFill/>
        </p:spPr>
        <p:txBody>
          <a:bodyPr wrap="square">
            <a:spAutoFit/>
          </a:bodyPr>
          <a:lstStyle/>
          <a:p>
            <a:pPr>
              <a:defRPr sz="1100" b="0">
                <a:solidFill>
                  <a:srgbClr val="E7E2D6"/>
                </a:solidFill>
                <a:latin typeface="Calibri"/>
              </a:defRPr>
            </a:pPr>
            <a:r>
              <a:t>median warning before a glucose spike, using the habitual next meal</a:t>
            </a:r>
          </a:p>
        </p:txBody>
      </p:sp>
      <p:sp>
        <p:nvSpPr>
          <p:cNvPr id="10" name="Rounded Rectangle 9"/>
          <p:cNvSpPr/>
          <p:nvPr/>
        </p:nvSpPr>
        <p:spPr>
          <a:xfrm>
            <a:off x="6185916" y="1600200"/>
            <a:ext cx="2590038" cy="1325880"/>
          </a:xfrm>
          <a:prstGeom prst="roundRect">
            <a:avLst>
              <a:gd name="adj" fmla="val 12000"/>
            </a:avLst>
          </a:prstGeom>
          <a:solidFill>
            <a:srgbClr val="1E4545"/>
          </a:solidFill>
          <a:ln>
            <a:solidFill>
              <a:srgbClr val="3A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5644" y="1673352"/>
            <a:ext cx="2370582" cy="548640"/>
          </a:xfrm>
          <a:prstGeom prst="rect">
            <a:avLst/>
          </a:prstGeom>
          <a:noFill/>
        </p:spPr>
        <p:txBody>
          <a:bodyPr wrap="square">
            <a:spAutoFit/>
          </a:bodyPr>
          <a:lstStyle/>
          <a:p>
            <a:pPr>
              <a:defRPr sz="2600" b="1">
                <a:solidFill>
                  <a:srgbClr val="8FD3C8"/>
                </a:solidFill>
                <a:latin typeface="Georgia"/>
              </a:defRPr>
            </a:pPr>
            <a:r>
              <a:t>109 of 254</a:t>
            </a:r>
          </a:p>
        </p:txBody>
      </p:sp>
      <p:sp>
        <p:nvSpPr>
          <p:cNvPr id="12" name="TextBox 11"/>
          <p:cNvSpPr txBox="1"/>
          <p:nvPr/>
        </p:nvSpPr>
        <p:spPr>
          <a:xfrm>
            <a:off x="6295644" y="2203704"/>
            <a:ext cx="2370582" cy="685800"/>
          </a:xfrm>
          <a:prstGeom prst="rect">
            <a:avLst/>
          </a:prstGeom>
          <a:noFill/>
        </p:spPr>
        <p:txBody>
          <a:bodyPr wrap="square">
            <a:spAutoFit/>
          </a:bodyPr>
          <a:lstStyle/>
          <a:p>
            <a:pPr>
              <a:defRPr sz="1100" b="0">
                <a:solidFill>
                  <a:srgbClr val="E7E2D6"/>
                </a:solidFill>
                <a:latin typeface="Calibri"/>
              </a:defRPr>
            </a:pPr>
            <a:r>
              <a:t>spikes warned 60+ min ahead; 33 a full 120 min ahead</a:t>
            </a:r>
          </a:p>
        </p:txBody>
      </p:sp>
      <p:sp>
        <p:nvSpPr>
          <p:cNvPr id="13" name="Rounded Rectangle 12"/>
          <p:cNvSpPr/>
          <p:nvPr/>
        </p:nvSpPr>
        <p:spPr>
          <a:xfrm>
            <a:off x="8958834" y="1600200"/>
            <a:ext cx="2590038" cy="1325880"/>
          </a:xfrm>
          <a:prstGeom prst="roundRect">
            <a:avLst>
              <a:gd name="adj" fmla="val 12000"/>
            </a:avLst>
          </a:prstGeom>
          <a:solidFill>
            <a:srgbClr val="1E4545"/>
          </a:solidFill>
          <a:ln>
            <a:solidFill>
              <a:srgbClr val="3A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68561" y="1673352"/>
            <a:ext cx="2370582" cy="548640"/>
          </a:xfrm>
          <a:prstGeom prst="rect">
            <a:avLst/>
          </a:prstGeom>
          <a:noFill/>
        </p:spPr>
        <p:txBody>
          <a:bodyPr wrap="square">
            <a:spAutoFit/>
          </a:bodyPr>
          <a:lstStyle/>
          <a:p>
            <a:pPr>
              <a:defRPr sz="2600" b="1">
                <a:solidFill>
                  <a:srgbClr val="8FD3C8"/>
                </a:solidFill>
                <a:latin typeface="Georgia"/>
              </a:defRPr>
            </a:pPr>
            <a:r>
              <a:t>7</a:t>
            </a:r>
          </a:p>
        </p:txBody>
      </p:sp>
      <p:sp>
        <p:nvSpPr>
          <p:cNvPr id="15" name="TextBox 14"/>
          <p:cNvSpPr txBox="1"/>
          <p:nvPr/>
        </p:nvSpPr>
        <p:spPr>
          <a:xfrm>
            <a:off x="9068561" y="2203704"/>
            <a:ext cx="2370582" cy="685800"/>
          </a:xfrm>
          <a:prstGeom prst="rect">
            <a:avLst/>
          </a:prstGeom>
          <a:noFill/>
        </p:spPr>
        <p:txBody>
          <a:bodyPr wrap="square">
            <a:spAutoFit/>
          </a:bodyPr>
          <a:lstStyle/>
          <a:p>
            <a:pPr>
              <a:defRPr sz="1100" b="0">
                <a:solidFill>
                  <a:srgbClr val="E7E2D6"/>
                </a:solidFill>
                <a:latin typeface="Calibri"/>
              </a:defRPr>
            </a:pPr>
            <a:r>
              <a:t>lifestyle plans ranked on the patient's own twin, never a dose</a:t>
            </a:r>
          </a:p>
        </p:txBody>
      </p:sp>
      <p:sp>
        <p:nvSpPr>
          <p:cNvPr id="16" name="TextBox 15"/>
          <p:cNvSpPr txBox="1"/>
          <p:nvPr/>
        </p:nvSpPr>
        <p:spPr>
          <a:xfrm>
            <a:off x="777240" y="3108960"/>
            <a:ext cx="10607040" cy="3246120"/>
          </a:xfrm>
          <a:prstGeom prst="rect">
            <a:avLst/>
          </a:prstGeom>
          <a:noFill/>
        </p:spPr>
        <p:txBody>
          <a:bodyPr wrap="square">
            <a:spAutoFit/>
          </a:bodyPr>
          <a:lstStyle/>
          <a:p>
            <a:pPr>
              <a:spcAft>
                <a:spcPts val="600"/>
              </a:spcAft>
              <a:defRPr sz="1700">
                <a:solidFill>
                  <a:srgbClr val="E7E2D6"/>
                </a:solidFill>
                <a:latin typeface="Calibri"/>
              </a:defRPr>
            </a:pPr>
            <a:r>
              <a:t>•  Fuses the FHIR health record with CGM, sleep, HRV and activity to forecast glucose 2 hours ahead, warn before spikes with reasons, and test lifestyle plans on the patient's own twin.</a:t>
            </a:r>
          </a:p>
          <a:p>
            <a:pPr>
              <a:spcAft>
                <a:spcPts val="600"/>
              </a:spcAft>
              <a:defRPr sz="1700">
                <a:solidFill>
                  <a:srgbClr val="E7E2D6"/>
                </a:solidFill>
                <a:latin typeface="Calibri"/>
              </a:defRPr>
            </a:pPr>
            <a:r>
              <a:t>•  Team GlucoTwin_RIMT-University · Nikhil Chawla, AI Engineer · BCA – AI &amp; Data Science, RIMT University.</a:t>
            </a:r>
          </a:p>
          <a:p>
            <a:pPr>
              <a:spcAft>
                <a:spcPts val="600"/>
              </a:spcAft>
              <a:defRPr sz="1700">
                <a:solidFill>
                  <a:srgbClr val="E7E2D6"/>
                </a:solidFill>
                <a:latin typeface="Calibri"/>
              </a:defRPr>
            </a:pPr>
            <a:r>
              <a:t>•  Research prototype — not a medical device, not medical advice. All patient data is synthetic or open (CGMacros, CC BY-NC-SA 4.0).</a:t>
            </a:r>
          </a:p>
        </p:txBody>
      </p:sp>
      <p:sp>
        <p:nvSpPr>
          <p:cNvPr id="17" name="TextBox 16"/>
          <p:cNvSpPr txBox="1"/>
          <p:nvPr/>
        </p:nvSpPr>
        <p:spPr>
          <a:xfrm>
            <a:off x="640080" y="6446520"/>
            <a:ext cx="10972800" cy="274320"/>
          </a:xfrm>
          <a:prstGeom prst="rect">
            <a:avLst/>
          </a:prstGeom>
          <a:noFill/>
        </p:spPr>
        <p:txBody>
          <a:bodyPr wrap="square">
            <a:spAutoFit/>
          </a:bodyPr>
          <a:lstStyle/>
          <a:p>
            <a:pPr>
              <a:defRPr sz="1100" b="0">
                <a:solidFill>
                  <a:srgbClr val="E7E2D6"/>
                </a:solidFill>
                <a:latin typeface="Calibri"/>
              </a:defRPr>
            </a:pPr>
            <a:r>
              <a:t>Research prototype — not a medical device, not medical advice.    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640080" y="329184"/>
            <a:ext cx="10972800" cy="292608"/>
          </a:xfrm>
          <a:prstGeom prst="rect">
            <a:avLst/>
          </a:prstGeom>
          <a:noFill/>
        </p:spPr>
        <p:txBody>
          <a:bodyPr wrap="square">
            <a:spAutoFit/>
          </a:bodyPr>
          <a:lstStyle/>
          <a:p>
            <a:pPr>
              <a:defRPr sz="1200" b="1">
                <a:solidFill>
                  <a:srgbClr val="0F6E6E"/>
                </a:solidFill>
                <a:latin typeface="Calibri"/>
              </a:defRPr>
            </a:pPr>
            <a:r>
              <a:t>CITED SURVEYS, THEN MEASURED RESULTS</a:t>
            </a:r>
          </a:p>
        </p:txBody>
      </p:sp>
      <p:sp>
        <p:nvSpPr>
          <p:cNvPr id="3" name="TextBox 2"/>
          <p:cNvSpPr txBox="1"/>
          <p:nvPr/>
        </p:nvSpPr>
        <p:spPr>
          <a:xfrm>
            <a:off x="640080" y="603504"/>
            <a:ext cx="10972800" cy="822960"/>
          </a:xfrm>
          <a:prstGeom prst="rect">
            <a:avLst/>
          </a:prstGeom>
          <a:noFill/>
        </p:spPr>
        <p:txBody>
          <a:bodyPr wrap="square">
            <a:spAutoFit/>
          </a:bodyPr>
          <a:lstStyle/>
          <a:p>
            <a:pPr>
              <a:defRPr sz="3200" b="0">
                <a:solidFill>
                  <a:srgbClr val="1C1915"/>
                </a:solidFill>
                <a:latin typeface="Georgia"/>
              </a:defRPr>
            </a:pPr>
            <a:r>
              <a:t>The gap, and what the twin changes</a:t>
            </a:r>
          </a:p>
        </p:txBody>
      </p:sp>
      <p:sp>
        <p:nvSpPr>
          <p:cNvPr id="4" name="TextBox 3"/>
          <p:cNvSpPr txBox="1"/>
          <p:nvPr/>
        </p:nvSpPr>
        <p:spPr>
          <a:xfrm>
            <a:off x="777240" y="1371600"/>
            <a:ext cx="10607040" cy="4983480"/>
          </a:xfrm>
          <a:prstGeom prst="rect">
            <a:avLst/>
          </a:prstGeom>
          <a:noFill/>
        </p:spPr>
        <p:txBody>
          <a:bodyPr wrap="square">
            <a:spAutoFit/>
          </a:bodyPr>
          <a:lstStyle/>
          <a:p>
            <a:pPr>
              <a:spcAft>
                <a:spcPts val="600"/>
              </a:spcAft>
              <a:defRPr sz="1700">
                <a:solidFill>
                  <a:srgbClr val="1C1915"/>
                </a:solidFill>
                <a:latin typeface="Calibri"/>
              </a:defRPr>
            </a:pPr>
            <a:r>
              <a:t>•  101 million adults with diabetes and 136 million with prediabetes in India. ICMR-INDIAB-17, Lancet Diabetes &amp; Endocrinology, 2023. doi:10.1016/S2213-8587(23)00119-5.</a:t>
            </a:r>
          </a:p>
          <a:p>
            <a:pPr>
              <a:spcAft>
                <a:spcPts val="600"/>
              </a:spcAft>
              <a:defRPr sz="1700">
                <a:solidFill>
                  <a:srgbClr val="1C1915"/>
                </a:solidFill>
                <a:latin typeface="Calibri"/>
              </a:defRPr>
            </a:pPr>
            <a:r>
              <a:t>•  Only 36.3% reach the glycaemic target; 7.7% reach HbA1c, blood pressure and LDL together. ICMR-INDIAB-13, Lancet Diabetes &amp; Endocrinology, 2022.</a:t>
            </a:r>
          </a:p>
          <a:p>
            <a:pPr>
              <a:spcAft>
                <a:spcPts val="600"/>
              </a:spcAft>
              <a:defRPr sz="1700">
                <a:solidFill>
                  <a:srgbClr val="1C1915"/>
                </a:solidFill>
                <a:latin typeface="Calibri"/>
              </a:defRPr>
            </a:pPr>
            <a:r>
              <a:t>•  Carbohydrates are 62.3% of energy in Indian diets. Nature Medicine, 2025. doi:10.1038/s41591-025-03949-4.</a:t>
            </a:r>
          </a:p>
          <a:p>
            <a:pPr>
              <a:spcAft>
                <a:spcPts val="600"/>
              </a:spcAft>
              <a:defRPr sz="1700">
                <a:solidFill>
                  <a:srgbClr val="1C1915"/>
                </a:solidFill>
                <a:latin typeface="Calibri"/>
              </a:defRPr>
            </a:pPr>
            <a:r>
              <a:t>•  A clinic visit sees the 3-month average, not the spike that already happened.</a:t>
            </a:r>
          </a:p>
          <a:p>
            <a:pPr>
              <a:spcAft>
                <a:spcPts val="600"/>
              </a:spcAft>
              <a:defRPr sz="1700">
                <a:solidFill>
                  <a:srgbClr val="1C1915"/>
                </a:solidFill>
                <a:latin typeface="Calibri"/>
              </a:defRPr>
            </a:pPr>
            <a:r>
              <a:t>•  GlucoTwin: 18.3% lower 2-hour error on real data (31.8 vs 38.9 mg/dL); spikes warned a median 105 min ahead, 109 of 254 at least an hour ahead; seven lifestyle plans compared per patient.</a:t>
            </a:r>
          </a:p>
        </p:txBody>
      </p:sp>
      <p:sp>
        <p:nvSpPr>
          <p:cNvPr id="5" name="TextBox 4"/>
          <p:cNvSpPr txBox="1"/>
          <p:nvPr/>
        </p:nvSpPr>
        <p:spPr>
          <a:xfrm>
            <a:off x="640080" y="6446520"/>
            <a:ext cx="10972800" cy="274320"/>
          </a:xfrm>
          <a:prstGeom prst="rect">
            <a:avLst/>
          </a:prstGeom>
          <a:noFill/>
        </p:spPr>
        <p:txBody>
          <a:bodyPr wrap="square">
            <a:spAutoFit/>
          </a:bodyPr>
          <a:lstStyle/>
          <a:p>
            <a:pPr>
              <a:defRPr sz="1100" b="0">
                <a:solidFill>
                  <a:srgbClr val="5C564C"/>
                </a:solidFill>
                <a:latin typeface="Calibri"/>
              </a:defRPr>
            </a:pPr>
            <a:r>
              <a:t>Research prototype — not a medical device, not medical advice.    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640080" y="329184"/>
            <a:ext cx="10972800" cy="292608"/>
          </a:xfrm>
          <a:prstGeom prst="rect">
            <a:avLst/>
          </a:prstGeom>
          <a:noFill/>
        </p:spPr>
        <p:txBody>
          <a:bodyPr wrap="square">
            <a:spAutoFit/>
          </a:bodyPr>
          <a:lstStyle/>
          <a:p>
            <a:pPr>
              <a:defRPr sz="1200" b="1">
                <a:solidFill>
                  <a:srgbClr val="0F6E6E"/>
                </a:solidFill>
                <a:latin typeface="Calibri"/>
              </a:defRPr>
            </a:pPr>
            <a:r>
              <a:t>AND WHAT IT REFUSES</a:t>
            </a:r>
          </a:p>
        </p:txBody>
      </p:sp>
      <p:sp>
        <p:nvSpPr>
          <p:cNvPr id="3" name="TextBox 2"/>
          <p:cNvSpPr txBox="1"/>
          <p:nvPr/>
        </p:nvSpPr>
        <p:spPr>
          <a:xfrm>
            <a:off x="640080" y="603504"/>
            <a:ext cx="10972800" cy="822960"/>
          </a:xfrm>
          <a:prstGeom prst="rect">
            <a:avLst/>
          </a:prstGeom>
          <a:noFill/>
        </p:spPr>
        <p:txBody>
          <a:bodyPr wrap="square">
            <a:spAutoFit/>
          </a:bodyPr>
          <a:lstStyle/>
          <a:p>
            <a:pPr>
              <a:defRPr sz="3200" b="0">
                <a:solidFill>
                  <a:srgbClr val="1C1915"/>
                </a:solidFill>
                <a:latin typeface="Georgia"/>
              </a:defRPr>
            </a:pPr>
            <a:r>
              <a:t>What the twin does</a:t>
            </a:r>
          </a:p>
        </p:txBody>
      </p:sp>
      <p:sp>
        <p:nvSpPr>
          <p:cNvPr id="4" name="TextBox 3"/>
          <p:cNvSpPr txBox="1"/>
          <p:nvPr/>
        </p:nvSpPr>
        <p:spPr>
          <a:xfrm>
            <a:off x="777240" y="1371600"/>
            <a:ext cx="10607040" cy="4983480"/>
          </a:xfrm>
          <a:prstGeom prst="rect">
            <a:avLst/>
          </a:prstGeom>
          <a:noFill/>
        </p:spPr>
        <p:txBody>
          <a:bodyPr wrap="square">
            <a:spAutoFit/>
          </a:bodyPr>
          <a:lstStyle/>
          <a:p>
            <a:pPr>
              <a:spcAft>
                <a:spcPts val="600"/>
              </a:spcAft>
              <a:defRPr sz="1700">
                <a:solidFill>
                  <a:srgbClr val="1C1915"/>
                </a:solidFill>
                <a:latin typeface="Calibri"/>
              </a:defRPr>
            </a:pPr>
            <a:r>
              <a:t>•  Forecasts glucose 30, 60 and 120 minutes ahead with a 10–90% conformal band, from logged meals, walks, last night's sleep and HRV, and the record-based fit.</a:t>
            </a:r>
          </a:p>
          <a:p>
            <a:pPr>
              <a:spcAft>
                <a:spcPts val="600"/>
              </a:spcAft>
              <a:defRPr sz="1700">
                <a:solidFill>
                  <a:srgbClr val="1C1915"/>
                </a:solidFill>
                <a:latin typeface="Calibri"/>
              </a:defRPr>
            </a:pPr>
            <a:r>
              <a:t>•  Anticipates the next meal: spike risk adds the person's habitual meal (median time and size from the fitting days), so warnings come a median 105 min early and 33 spikes were warned a full 120 min ahead.</a:t>
            </a:r>
          </a:p>
          <a:p>
            <a:pPr>
              <a:spcAft>
                <a:spcPts val="600"/>
              </a:spcAft>
              <a:defRPr sz="1700">
                <a:solidFill>
                  <a:srgbClr val="1C1915"/>
                </a:solidFill>
                <a:latin typeface="Calibri"/>
              </a:defRPr>
            </a:pPr>
            <a:r>
              <a:t>•  Raises Urgent or Watch alerts and lists the meals, walks and sleep behind each one; only Urgent interrupts.</a:t>
            </a:r>
          </a:p>
          <a:p>
            <a:pPr>
              <a:spcAft>
                <a:spcPts val="600"/>
              </a:spcAft>
              <a:defRPr sz="1700">
                <a:solidFill>
                  <a:srgbClr val="1C1915"/>
                </a:solidFill>
                <a:latin typeface="Calibri"/>
              </a:defRPr>
            </a:pPr>
            <a:r>
              <a:t>•  Ranks seven lifestyle plans on the patient's highest-risk meal: walk after the meal, a dal-and-paneer carb cut, an earlier meal, a split meal, jowar roti, and a weekly fasting day. Labelled Simulation, not advice.</a:t>
            </a:r>
          </a:p>
          <a:p>
            <a:pPr>
              <a:spcAft>
                <a:spcPts val="600"/>
              </a:spcAft>
              <a:defRPr sz="1700">
                <a:solidFill>
                  <a:srgbClr val="1C1915"/>
                </a:solidFill>
                <a:latin typeface="Calibri"/>
              </a:defRPr>
            </a:pPr>
            <a:r>
              <a:t>•  Per-stream consent (DPDP-style) and a one-click pre-visit clinical summary for the chart.</a:t>
            </a:r>
          </a:p>
          <a:p>
            <a:pPr>
              <a:spcAft>
                <a:spcPts val="600"/>
              </a:spcAft>
              <a:defRPr sz="1700">
                <a:solidFill>
                  <a:srgbClr val="1C1915"/>
                </a:solidFill>
                <a:latin typeface="Calibri"/>
              </a:defRPr>
            </a:pPr>
            <a:r>
              <a:t>•  Never doses a medicine and never diagnoses.</a:t>
            </a:r>
          </a:p>
        </p:txBody>
      </p:sp>
      <p:sp>
        <p:nvSpPr>
          <p:cNvPr id="5" name="TextBox 4"/>
          <p:cNvSpPr txBox="1"/>
          <p:nvPr/>
        </p:nvSpPr>
        <p:spPr>
          <a:xfrm>
            <a:off x="640080" y="6446520"/>
            <a:ext cx="10972800" cy="274320"/>
          </a:xfrm>
          <a:prstGeom prst="rect">
            <a:avLst/>
          </a:prstGeom>
          <a:noFill/>
        </p:spPr>
        <p:txBody>
          <a:bodyPr wrap="square">
            <a:spAutoFit/>
          </a:bodyPr>
          <a:lstStyle/>
          <a:p>
            <a:pPr>
              <a:defRPr sz="1100" b="0">
                <a:solidFill>
                  <a:srgbClr val="5C564C"/>
                </a:solidFill>
                <a:latin typeface="Calibri"/>
              </a:defRPr>
            </a:pPr>
            <a:r>
              <a:t>Research prototype — not a medical device, not medical advice.    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640080" y="329184"/>
            <a:ext cx="10972800" cy="292608"/>
          </a:xfrm>
          <a:prstGeom prst="rect">
            <a:avLst/>
          </a:prstGeom>
          <a:noFill/>
        </p:spPr>
        <p:txBody>
          <a:bodyPr wrap="square">
            <a:spAutoFit/>
          </a:bodyPr>
          <a:lstStyle/>
          <a:p>
            <a:pPr>
              <a:defRPr sz="1200" b="1">
                <a:solidFill>
                  <a:srgbClr val="0F6E6E"/>
                </a:solidFill>
                <a:latin typeface="Calibri"/>
              </a:defRPr>
            </a:pPr>
            <a:r>
              <a:t>FUSION MEASURED BY REMOVING ONE STREAM AT A TIME (60-MIN RMSE, MG/DL)</a:t>
            </a:r>
          </a:p>
        </p:txBody>
      </p:sp>
      <p:sp>
        <p:nvSpPr>
          <p:cNvPr id="3" name="TextBox 2"/>
          <p:cNvSpPr txBox="1"/>
          <p:nvPr/>
        </p:nvSpPr>
        <p:spPr>
          <a:xfrm>
            <a:off x="640080" y="603504"/>
            <a:ext cx="10972800" cy="822960"/>
          </a:xfrm>
          <a:prstGeom prst="rect">
            <a:avLst/>
          </a:prstGeom>
          <a:noFill/>
        </p:spPr>
        <p:txBody>
          <a:bodyPr wrap="square">
            <a:spAutoFit/>
          </a:bodyPr>
          <a:lstStyle/>
          <a:p>
            <a:pPr>
              <a:defRPr sz="3200" b="0">
                <a:solidFill>
                  <a:srgbClr val="1C1915"/>
                </a:solidFill>
                <a:latin typeface="Georgia"/>
              </a:defRPr>
            </a:pPr>
            <a:r>
              <a:t>Two streams, one fit</a:t>
            </a:r>
          </a:p>
        </p:txBody>
      </p:sp>
      <p:sp>
        <p:nvSpPr>
          <p:cNvPr id="4" name="Rounded Rectangle 3"/>
          <p:cNvSpPr/>
          <p:nvPr/>
        </p:nvSpPr>
        <p:spPr>
          <a:xfrm>
            <a:off x="640080"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444752"/>
            <a:ext cx="2370582" cy="548640"/>
          </a:xfrm>
          <a:prstGeom prst="rect">
            <a:avLst/>
          </a:prstGeom>
          <a:noFill/>
        </p:spPr>
        <p:txBody>
          <a:bodyPr wrap="square">
            <a:spAutoFit/>
          </a:bodyPr>
          <a:lstStyle/>
          <a:p>
            <a:pPr>
              <a:defRPr sz="2600" b="1">
                <a:solidFill>
                  <a:srgbClr val="0F6E6E"/>
                </a:solidFill>
                <a:latin typeface="Georgia"/>
              </a:defRPr>
            </a:pPr>
            <a:r>
              <a:t>3.49</a:t>
            </a:r>
          </a:p>
        </p:txBody>
      </p:sp>
      <p:sp>
        <p:nvSpPr>
          <p:cNvPr id="6" name="TextBox 5"/>
          <p:cNvSpPr txBox="1"/>
          <p:nvPr/>
        </p:nvSpPr>
        <p:spPr>
          <a:xfrm>
            <a:off x="749808" y="1975104"/>
            <a:ext cx="2370582" cy="685800"/>
          </a:xfrm>
          <a:prstGeom prst="rect">
            <a:avLst/>
          </a:prstGeom>
          <a:noFill/>
        </p:spPr>
        <p:txBody>
          <a:bodyPr wrap="square">
            <a:spAutoFit/>
          </a:bodyPr>
          <a:lstStyle/>
          <a:p>
            <a:pPr>
              <a:defRPr sz="1100" b="0">
                <a:solidFill>
                  <a:srgbClr val="5C564C"/>
                </a:solidFill>
                <a:latin typeface="Calibri"/>
              </a:defRPr>
            </a:pPr>
            <a:r>
              <a:t>mg/dL lost without meals (22.91 → 26.40)</a:t>
            </a:r>
          </a:p>
        </p:txBody>
      </p:sp>
      <p:sp>
        <p:nvSpPr>
          <p:cNvPr id="7" name="Rounded Rectangle 6"/>
          <p:cNvSpPr/>
          <p:nvPr/>
        </p:nvSpPr>
        <p:spPr>
          <a:xfrm>
            <a:off x="3412998"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2726" y="1444752"/>
            <a:ext cx="2370582" cy="548640"/>
          </a:xfrm>
          <a:prstGeom prst="rect">
            <a:avLst/>
          </a:prstGeom>
          <a:noFill/>
        </p:spPr>
        <p:txBody>
          <a:bodyPr wrap="square">
            <a:spAutoFit/>
          </a:bodyPr>
          <a:lstStyle/>
          <a:p>
            <a:pPr>
              <a:defRPr sz="2600" b="1">
                <a:solidFill>
                  <a:srgbClr val="0F6E6E"/>
                </a:solidFill>
                <a:latin typeface="Georgia"/>
              </a:defRPr>
            </a:pPr>
            <a:r>
              <a:t>1.66</a:t>
            </a:r>
          </a:p>
        </p:txBody>
      </p:sp>
      <p:sp>
        <p:nvSpPr>
          <p:cNvPr id="9" name="TextBox 8"/>
          <p:cNvSpPr txBox="1"/>
          <p:nvPr/>
        </p:nvSpPr>
        <p:spPr>
          <a:xfrm>
            <a:off x="3522726" y="1975104"/>
            <a:ext cx="2370582" cy="685800"/>
          </a:xfrm>
          <a:prstGeom prst="rect">
            <a:avLst/>
          </a:prstGeom>
          <a:noFill/>
        </p:spPr>
        <p:txBody>
          <a:bodyPr wrap="square">
            <a:spAutoFit/>
          </a:bodyPr>
          <a:lstStyle/>
          <a:p>
            <a:pPr>
              <a:defRPr sz="1100" b="0">
                <a:solidFill>
                  <a:srgbClr val="5C564C"/>
                </a:solidFill>
                <a:latin typeface="Calibri"/>
              </a:defRPr>
            </a:pPr>
            <a:r>
              <a:t>mg/dL lost without the record and the personal CGM fit (→ 24.57)</a:t>
            </a:r>
          </a:p>
        </p:txBody>
      </p:sp>
      <p:sp>
        <p:nvSpPr>
          <p:cNvPr id="10" name="Rounded Rectangle 9"/>
          <p:cNvSpPr/>
          <p:nvPr/>
        </p:nvSpPr>
        <p:spPr>
          <a:xfrm>
            <a:off x="6185916"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5644" y="1444752"/>
            <a:ext cx="2370582" cy="548640"/>
          </a:xfrm>
          <a:prstGeom prst="rect">
            <a:avLst/>
          </a:prstGeom>
          <a:noFill/>
        </p:spPr>
        <p:txBody>
          <a:bodyPr wrap="square">
            <a:spAutoFit/>
          </a:bodyPr>
          <a:lstStyle/>
          <a:p>
            <a:pPr>
              <a:defRPr sz="2600" b="1">
                <a:solidFill>
                  <a:srgbClr val="0F6E6E"/>
                </a:solidFill>
                <a:latin typeface="Georgia"/>
              </a:defRPr>
            </a:pPr>
            <a:r>
              <a:t>3.7%</a:t>
            </a:r>
          </a:p>
        </p:txBody>
      </p:sp>
      <p:sp>
        <p:nvSpPr>
          <p:cNvPr id="12" name="TextBox 11"/>
          <p:cNvSpPr txBox="1"/>
          <p:nvPr/>
        </p:nvSpPr>
        <p:spPr>
          <a:xfrm>
            <a:off x="6295644" y="1975104"/>
            <a:ext cx="2370582" cy="685800"/>
          </a:xfrm>
          <a:prstGeom prst="rect">
            <a:avLst/>
          </a:prstGeom>
          <a:noFill/>
        </p:spPr>
        <p:txBody>
          <a:bodyPr wrap="square">
            <a:spAutoFit/>
          </a:bodyPr>
          <a:lstStyle/>
          <a:p>
            <a:pPr>
              <a:defRPr sz="1100" b="0">
                <a:solidFill>
                  <a:srgbClr val="5C564C"/>
                </a:solidFill>
                <a:latin typeface="Calibri"/>
              </a:defRPr>
            </a:pPr>
            <a:r>
              <a:t>lower error within 6 h of a walk with activity (15.83 vs 16.44)</a:t>
            </a:r>
          </a:p>
        </p:txBody>
      </p:sp>
      <p:sp>
        <p:nvSpPr>
          <p:cNvPr id="13" name="Rounded Rectangle 12"/>
          <p:cNvSpPr/>
          <p:nvPr/>
        </p:nvSpPr>
        <p:spPr>
          <a:xfrm>
            <a:off x="8958834"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68561" y="1444752"/>
            <a:ext cx="2370582" cy="548640"/>
          </a:xfrm>
          <a:prstGeom prst="rect">
            <a:avLst/>
          </a:prstGeom>
          <a:noFill/>
        </p:spPr>
        <p:txBody>
          <a:bodyPr wrap="square">
            <a:spAutoFit/>
          </a:bodyPr>
          <a:lstStyle/>
          <a:p>
            <a:pPr>
              <a:defRPr sz="2600" b="1">
                <a:solidFill>
                  <a:srgbClr val="0F6E6E"/>
                </a:solidFill>
                <a:latin typeface="Georgia"/>
              </a:defRPr>
            </a:pPr>
            <a:r>
              <a:t>1.2%</a:t>
            </a:r>
          </a:p>
        </p:txBody>
      </p:sp>
      <p:sp>
        <p:nvSpPr>
          <p:cNvPr id="15" name="TextBox 14"/>
          <p:cNvSpPr txBox="1"/>
          <p:nvPr/>
        </p:nvSpPr>
        <p:spPr>
          <a:xfrm>
            <a:off x="9068561" y="1975104"/>
            <a:ext cx="2370582" cy="685800"/>
          </a:xfrm>
          <a:prstGeom prst="rect">
            <a:avLst/>
          </a:prstGeom>
          <a:noFill/>
        </p:spPr>
        <p:txBody>
          <a:bodyPr wrap="square">
            <a:spAutoFit/>
          </a:bodyPr>
          <a:lstStyle/>
          <a:p>
            <a:pPr>
              <a:defRPr sz="1100" b="0">
                <a:solidFill>
                  <a:srgbClr val="5C564C"/>
                </a:solidFill>
                <a:latin typeface="Calibri"/>
              </a:defRPr>
            </a:pPr>
            <a:r>
              <a:t>lower error after meals following a short or stressed night with sleep + HRV (21.59 vs 21.86)</a:t>
            </a:r>
          </a:p>
        </p:txBody>
      </p:sp>
      <p:sp>
        <p:nvSpPr>
          <p:cNvPr id="16" name="TextBox 15"/>
          <p:cNvSpPr txBox="1"/>
          <p:nvPr/>
        </p:nvSpPr>
        <p:spPr>
          <a:xfrm>
            <a:off x="777240" y="2880360"/>
            <a:ext cx="10607040" cy="3474720"/>
          </a:xfrm>
          <a:prstGeom prst="rect">
            <a:avLst/>
          </a:prstGeom>
          <a:noFill/>
        </p:spPr>
        <p:txBody>
          <a:bodyPr wrap="square">
            <a:spAutoFit/>
          </a:bodyPr>
          <a:lstStyle/>
          <a:p>
            <a:pPr>
              <a:spcAft>
                <a:spcPts val="600"/>
              </a:spcAft>
              <a:defRPr sz="1400">
                <a:solidFill>
                  <a:srgbClr val="1C1915"/>
                </a:solidFill>
                <a:latin typeface="Calibri"/>
              </a:defRPr>
            </a:pPr>
            <a:r>
              <a:t>•  Health record (FHIR R4, glucotwin-ts-fhir): labs, BMI, age, sex and medicines set the prior the live twin shrinks toward, blended with the group prior by inverse error variance.</a:t>
            </a:r>
          </a:p>
          <a:p>
            <a:pPr>
              <a:spcAft>
                <a:spcPts val="600"/>
              </a:spcAft>
              <a:defRPr sz="1400">
                <a:solidFill>
                  <a:srgbClr val="1C1915"/>
                </a:solidFill>
                <a:latin typeface="Calibri"/>
              </a:defRPr>
            </a:pPr>
            <a:r>
              <a:t>•  Record prior and medicine term on their own: 22.91 with them, 22.81 without, no gain on this ward. The personal CGM fit carries the benefit.</a:t>
            </a:r>
          </a:p>
          <a:p>
            <a:pPr>
              <a:spcAft>
                <a:spcPts val="600"/>
              </a:spcAft>
              <a:defRPr sz="1400">
                <a:solidFill>
                  <a:srgbClr val="1C1915"/>
                </a:solidFill>
                <a:latin typeface="Calibri"/>
              </a:defRPr>
            </a:pPr>
            <a:r>
              <a:t>•  Wearables: last night's sleep, sleep efficiency and HRV (plus half of the night before) scale insulin sensitivity and the dawn rise; walks raise sensitivity for 12–30 h.</a:t>
            </a:r>
          </a:p>
          <a:p>
            <a:pPr>
              <a:spcAft>
                <a:spcPts val="600"/>
              </a:spcAft>
              <a:defRPr sz="1400">
                <a:solidFill>
                  <a:srgbClr val="1C1915"/>
                </a:solidFill>
                <a:latin typeface="Calibri"/>
              </a:defRPr>
            </a:pPr>
            <a:r>
              <a:t>•  Whole ward, all 6,306 forecasts: full 22.91, no activity 22.97, no sleep or HRV 22.89. Sleep matters where it acts, not on an average day.</a:t>
            </a:r>
          </a:p>
          <a:p>
            <a:pPr>
              <a:spcAft>
                <a:spcPts val="600"/>
              </a:spcAft>
              <a:defRPr sz="1400">
                <a:solidFill>
                  <a:srgbClr val="1C1915"/>
                </a:solidFill>
                <a:latin typeface="Calibri"/>
              </a:defRPr>
            </a:pPr>
            <a:r>
              <a:t>•  On real CGMacros data the record alone cuts 1-hour error by 11.8% (30.4 → 26.8).</a:t>
            </a:r>
          </a:p>
        </p:txBody>
      </p:sp>
      <p:sp>
        <p:nvSpPr>
          <p:cNvPr id="17" name="TextBox 16"/>
          <p:cNvSpPr txBox="1"/>
          <p:nvPr/>
        </p:nvSpPr>
        <p:spPr>
          <a:xfrm>
            <a:off x="640080" y="6446520"/>
            <a:ext cx="10972800" cy="274320"/>
          </a:xfrm>
          <a:prstGeom prst="rect">
            <a:avLst/>
          </a:prstGeom>
          <a:noFill/>
        </p:spPr>
        <p:txBody>
          <a:bodyPr wrap="square">
            <a:spAutoFit/>
          </a:bodyPr>
          <a:lstStyle/>
          <a:p>
            <a:pPr>
              <a:defRPr sz="1100" b="0">
                <a:solidFill>
                  <a:srgbClr val="5C564C"/>
                </a:solidFill>
                <a:latin typeface="Calibri"/>
              </a:defRPr>
            </a:pPr>
            <a:r>
              <a:t>Research prototype — not a medical device, not medical advice.    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640080" y="329184"/>
            <a:ext cx="10972800" cy="292608"/>
          </a:xfrm>
          <a:prstGeom prst="rect">
            <a:avLst/>
          </a:prstGeom>
          <a:noFill/>
        </p:spPr>
        <p:txBody>
          <a:bodyPr wrap="square">
            <a:spAutoFit/>
          </a:bodyPr>
          <a:lstStyle/>
          <a:p>
            <a:pPr>
              <a:defRPr sz="1200" b="1">
                <a:solidFill>
                  <a:srgbClr val="0F6E6E"/>
                </a:solidFill>
                <a:latin typeface="Calibri"/>
              </a:defRPr>
            </a:pPr>
            <a:r>
              <a:t>SAME PICTURE AS DOCS/ARCHITECTURE</a:t>
            </a:r>
          </a:p>
        </p:txBody>
      </p:sp>
      <p:sp>
        <p:nvSpPr>
          <p:cNvPr id="3" name="TextBox 2"/>
          <p:cNvSpPr txBox="1"/>
          <p:nvPr/>
        </p:nvSpPr>
        <p:spPr>
          <a:xfrm>
            <a:off x="640080" y="603504"/>
            <a:ext cx="10972800" cy="822960"/>
          </a:xfrm>
          <a:prstGeom prst="rect">
            <a:avLst/>
          </a:prstGeom>
          <a:noFill/>
        </p:spPr>
        <p:txBody>
          <a:bodyPr wrap="square">
            <a:spAutoFit/>
          </a:bodyPr>
          <a:lstStyle/>
          <a:p>
            <a:pPr>
              <a:defRPr sz="3200" b="0">
                <a:solidFill>
                  <a:srgbClr val="1C1915"/>
                </a:solidFill>
                <a:latin typeface="Georgia"/>
              </a:defRPr>
            </a:pPr>
            <a:r>
              <a:t>Architecture, as built</a:t>
            </a:r>
          </a:p>
        </p:txBody>
      </p:sp>
      <p:pic>
        <p:nvPicPr>
          <p:cNvPr id="4" name="Picture 3" descr="GlucoTwin_Architecture.png"/>
          <p:cNvPicPr>
            <a:picLocks noChangeAspect="1"/>
          </p:cNvPicPr>
          <p:nvPr/>
        </p:nvPicPr>
        <p:blipFill>
          <a:blip r:embed="rId2"/>
          <a:stretch>
            <a:fillRect/>
          </a:stretch>
        </p:blipFill>
        <p:spPr>
          <a:xfrm>
            <a:off x="3548737" y="1371600"/>
            <a:ext cx="5091477" cy="4343400"/>
          </a:xfrm>
          <a:prstGeom prst="rect">
            <a:avLst/>
          </a:prstGeom>
        </p:spPr>
      </p:pic>
      <p:sp>
        <p:nvSpPr>
          <p:cNvPr id="5" name="TextBox 4"/>
          <p:cNvSpPr txBox="1"/>
          <p:nvPr/>
        </p:nvSpPr>
        <p:spPr>
          <a:xfrm>
            <a:off x="777240" y="5824728"/>
            <a:ext cx="10607040" cy="548640"/>
          </a:xfrm>
          <a:prstGeom prst="rect">
            <a:avLst/>
          </a:prstGeom>
          <a:noFill/>
        </p:spPr>
        <p:txBody>
          <a:bodyPr wrap="square">
            <a:spAutoFit/>
          </a:bodyPr>
          <a:lstStyle/>
          <a:p>
            <a:pPr>
              <a:spcAft>
                <a:spcPts val="600"/>
              </a:spcAft>
              <a:defRPr sz="1700">
                <a:solidFill>
                  <a:srgbClr val="1C1915"/>
                </a:solidFill>
                <a:latin typeface="Calibri"/>
              </a:defRPr>
            </a:pPr>
            <a:r>
              <a:t>•  Live path: stream checks → fitted twin → forecast and what-if → alert engine → doctor dashboard with consent gate. Offline: CGMacros, ridge prior, LightGBM, trend fit.</a:t>
            </a:r>
          </a:p>
        </p:txBody>
      </p:sp>
      <p:sp>
        <p:nvSpPr>
          <p:cNvPr id="6" name="TextBox 5"/>
          <p:cNvSpPr txBox="1"/>
          <p:nvPr/>
        </p:nvSpPr>
        <p:spPr>
          <a:xfrm>
            <a:off x="640080" y="6446520"/>
            <a:ext cx="10972800" cy="274320"/>
          </a:xfrm>
          <a:prstGeom prst="rect">
            <a:avLst/>
          </a:prstGeom>
          <a:noFill/>
        </p:spPr>
        <p:txBody>
          <a:bodyPr wrap="square">
            <a:spAutoFit/>
          </a:bodyPr>
          <a:lstStyle/>
          <a:p>
            <a:pPr>
              <a:defRPr sz="1100" b="0">
                <a:solidFill>
                  <a:srgbClr val="5C564C"/>
                </a:solidFill>
                <a:latin typeface="Calibri"/>
              </a:defRPr>
            </a:pPr>
            <a:r>
              <a:t>Research prototype — not a medical device, not medical advice.    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640080" y="329184"/>
            <a:ext cx="10972800" cy="292608"/>
          </a:xfrm>
          <a:prstGeom prst="rect">
            <a:avLst/>
          </a:prstGeom>
          <a:noFill/>
        </p:spPr>
        <p:txBody>
          <a:bodyPr wrap="square">
            <a:spAutoFit/>
          </a:bodyPr>
          <a:lstStyle/>
          <a:p>
            <a:pPr>
              <a:defRPr sz="1200" b="1">
                <a:solidFill>
                  <a:srgbClr val="0F6E6E"/>
                </a:solidFill>
                <a:latin typeface="Calibri"/>
              </a:defRPr>
            </a:pPr>
            <a:r>
              <a:t>WHAT IS LIVE, WHAT IS OFFLINE</a:t>
            </a:r>
          </a:p>
        </p:txBody>
      </p:sp>
      <p:sp>
        <p:nvSpPr>
          <p:cNvPr id="3" name="TextBox 2"/>
          <p:cNvSpPr txBox="1"/>
          <p:nvPr/>
        </p:nvSpPr>
        <p:spPr>
          <a:xfrm>
            <a:off x="640080" y="603504"/>
            <a:ext cx="10972800" cy="822960"/>
          </a:xfrm>
          <a:prstGeom prst="rect">
            <a:avLst/>
          </a:prstGeom>
          <a:noFill/>
        </p:spPr>
        <p:txBody>
          <a:bodyPr wrap="square">
            <a:spAutoFit/>
          </a:bodyPr>
          <a:lstStyle/>
          <a:p>
            <a:pPr>
              <a:defRPr sz="3200" b="0">
                <a:solidFill>
                  <a:srgbClr val="1C1915"/>
                </a:solidFill>
                <a:latin typeface="Georgia"/>
              </a:defRPr>
            </a:pPr>
            <a:r>
              <a:t>Models</a:t>
            </a:r>
          </a:p>
        </p:txBody>
      </p:sp>
      <p:sp>
        <p:nvSpPr>
          <p:cNvPr id="4" name="TextBox 3"/>
          <p:cNvSpPr txBox="1"/>
          <p:nvPr/>
        </p:nvSpPr>
        <p:spPr>
          <a:xfrm>
            <a:off x="777240" y="1371600"/>
            <a:ext cx="10607040" cy="4983480"/>
          </a:xfrm>
          <a:prstGeom prst="rect">
            <a:avLst/>
          </a:prstGeom>
          <a:noFill/>
        </p:spPr>
        <p:txBody>
          <a:bodyPr wrap="square">
            <a:spAutoFit/>
          </a:bodyPr>
          <a:lstStyle/>
          <a:p>
            <a:pPr>
              <a:spcAft>
                <a:spcPts val="600"/>
              </a:spcAft>
              <a:defRPr sz="1700">
                <a:solidFill>
                  <a:srgbClr val="1C1915"/>
                </a:solidFill>
                <a:latin typeface="Calibri"/>
              </a:defRPr>
            </a:pPr>
            <a:r>
              <a:t>•  Live: meal absorption with fiber and fat and a meal clock, walks, dawn rise, sleep and HRV sensitivity, residual decay, and a finite-sample conformal 10th–90th band. Validation days switched the meal clock off for CGMacros (60-min 30.8 with, 28.0 without).</a:t>
            </a:r>
          </a:p>
          <a:p>
            <a:pPr>
              <a:spcAft>
                <a:spcPts val="600"/>
              </a:spcAft>
              <a:defRPr sz="1700">
                <a:solidFill>
                  <a:srgbClr val="1C1915"/>
                </a:solidFill>
                <a:latin typeface="Calibri"/>
              </a:defRPr>
            </a:pPr>
            <a:r>
              <a:t>•  Personal knobs come from days 1–5. How far each patient moves from the record prior is chosen on validation days 6–9; the personal fit is kept only when it beats the prior by more than one standard error.</a:t>
            </a:r>
          </a:p>
          <a:p>
            <a:pPr>
              <a:spcAft>
                <a:spcPts val="600"/>
              </a:spcAft>
              <a:defRPr sz="1700">
                <a:solidFill>
                  <a:srgbClr val="1C1915"/>
                </a:solidFill>
                <a:latin typeface="Calibri"/>
              </a:defRPr>
            </a:pPr>
            <a:r>
              <a:t>•  Every patient's personal gain over the group prior is now ≥ 0 (range 0.0 to 3.7 mg/dL).</a:t>
            </a:r>
          </a:p>
          <a:p>
            <a:pPr>
              <a:spcAft>
                <a:spcPts val="600"/>
              </a:spcAft>
              <a:defRPr sz="1700">
                <a:solidFill>
                  <a:srgbClr val="1C1915"/>
                </a:solidFill>
                <a:latin typeface="Calibri"/>
              </a:defRPr>
            </a:pPr>
            <a:r>
              <a:t>•  Alert thresholds are chosen on validation days, never on scored days. A Watch alert is upgraded to Urgent in place when the curve gets worse. On CGMacros a guarded CGM trend rule for lows (at or under 85 mg/dL, or 92 with no recent meal; fall ≥ 1 mg/dL/min; damped 15-min projection averaged with the twin's 30-min trough under 70) is chosen leave-one-participant-out; its candidate grid was first proposed after a look at test-day false alarms. The simulated sulfonylurea low guard is chosen on an independent realization of the ward, never on the scored days.</a:t>
            </a:r>
          </a:p>
          <a:p>
            <a:pPr>
              <a:spcAft>
                <a:spcPts val="600"/>
              </a:spcAft>
              <a:defRPr sz="1700">
                <a:solidFill>
                  <a:srgbClr val="1C1915"/>
                </a:solidFill>
                <a:latin typeface="Calibri"/>
              </a:defRPr>
            </a:pPr>
            <a:r>
              <a:t>•  Subgroup labels (SIDD / IROD / CIRDD / MARD) are an approximate rule, not the published INSPIRED clustering. LightGBM stays offline.</a:t>
            </a:r>
          </a:p>
        </p:txBody>
      </p:sp>
      <p:sp>
        <p:nvSpPr>
          <p:cNvPr id="5" name="TextBox 4"/>
          <p:cNvSpPr txBox="1"/>
          <p:nvPr/>
        </p:nvSpPr>
        <p:spPr>
          <a:xfrm>
            <a:off x="640080" y="6446520"/>
            <a:ext cx="10972800" cy="274320"/>
          </a:xfrm>
          <a:prstGeom prst="rect">
            <a:avLst/>
          </a:prstGeom>
          <a:noFill/>
        </p:spPr>
        <p:txBody>
          <a:bodyPr wrap="square">
            <a:spAutoFit/>
          </a:bodyPr>
          <a:lstStyle/>
          <a:p>
            <a:pPr>
              <a:defRPr sz="1100" b="0">
                <a:solidFill>
                  <a:srgbClr val="5C564C"/>
                </a:solidFill>
                <a:latin typeface="Calibri"/>
              </a:defRPr>
            </a:pPr>
            <a:r>
              <a:t>Research prototype — not a medical device, not medical advice.    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640080" y="329184"/>
            <a:ext cx="10972800" cy="292608"/>
          </a:xfrm>
          <a:prstGeom prst="rect">
            <a:avLst/>
          </a:prstGeom>
          <a:noFill/>
        </p:spPr>
        <p:txBody>
          <a:bodyPr wrap="square">
            <a:spAutoFit/>
          </a:bodyPr>
          <a:lstStyle/>
          <a:p>
            <a:pPr>
              <a:defRPr sz="1200" b="1">
                <a:solidFill>
                  <a:srgbClr val="0F6E6E"/>
                </a:solidFill>
                <a:latin typeface="Calibri"/>
              </a:defRPr>
            </a:pPr>
            <a:r>
              <a:t>PRINTED FROM THE EVAL JSON</a:t>
            </a:r>
          </a:p>
        </p:txBody>
      </p:sp>
      <p:sp>
        <p:nvSpPr>
          <p:cNvPr id="3" name="TextBox 2"/>
          <p:cNvSpPr txBox="1"/>
          <p:nvPr/>
        </p:nvSpPr>
        <p:spPr>
          <a:xfrm>
            <a:off x="640080" y="603504"/>
            <a:ext cx="10972800" cy="822960"/>
          </a:xfrm>
          <a:prstGeom prst="rect">
            <a:avLst/>
          </a:prstGeom>
          <a:noFill/>
        </p:spPr>
        <p:txBody>
          <a:bodyPr wrap="square">
            <a:spAutoFit/>
          </a:bodyPr>
          <a:lstStyle/>
          <a:p>
            <a:pPr>
              <a:defRPr sz="3200" b="0">
                <a:solidFill>
                  <a:srgbClr val="1C1915"/>
                </a:solidFill>
                <a:latin typeface="Georgia"/>
              </a:defRPr>
            </a:pPr>
            <a:r>
              <a:t>Outcomes on real and simulated data</a:t>
            </a:r>
          </a:p>
        </p:txBody>
      </p:sp>
      <p:sp>
        <p:nvSpPr>
          <p:cNvPr id="4" name="Rounded Rectangle 3"/>
          <p:cNvSpPr/>
          <p:nvPr/>
        </p:nvSpPr>
        <p:spPr>
          <a:xfrm>
            <a:off x="640080"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444752"/>
            <a:ext cx="2370582" cy="548640"/>
          </a:xfrm>
          <a:prstGeom prst="rect">
            <a:avLst/>
          </a:prstGeom>
          <a:noFill/>
        </p:spPr>
        <p:txBody>
          <a:bodyPr wrap="square">
            <a:spAutoFit/>
          </a:bodyPr>
          <a:lstStyle/>
          <a:p>
            <a:pPr>
              <a:defRPr sz="2600" b="1">
                <a:solidFill>
                  <a:srgbClr val="0F6E6E"/>
                </a:solidFill>
                <a:latin typeface="Georgia"/>
              </a:defRPr>
            </a:pPr>
            <a:r>
              <a:t>18.3%</a:t>
            </a:r>
          </a:p>
        </p:txBody>
      </p:sp>
      <p:sp>
        <p:nvSpPr>
          <p:cNvPr id="6" name="TextBox 5"/>
          <p:cNvSpPr txBox="1"/>
          <p:nvPr/>
        </p:nvSpPr>
        <p:spPr>
          <a:xfrm>
            <a:off x="749808" y="1975104"/>
            <a:ext cx="2370582" cy="685800"/>
          </a:xfrm>
          <a:prstGeom prst="rect">
            <a:avLst/>
          </a:prstGeom>
          <a:noFill/>
        </p:spPr>
        <p:txBody>
          <a:bodyPr wrap="square">
            <a:spAutoFit/>
          </a:bodyPr>
          <a:lstStyle/>
          <a:p>
            <a:pPr>
              <a:defRPr sz="1100" b="0">
                <a:solidFill>
                  <a:srgbClr val="5C564C"/>
                </a:solidFill>
                <a:latin typeface="Calibri"/>
              </a:defRPr>
            </a:pPr>
            <a:r>
              <a:t>2-hour error vs persistence on CGMacros (31.8 vs 38.9)</a:t>
            </a:r>
          </a:p>
        </p:txBody>
      </p:sp>
      <p:sp>
        <p:nvSpPr>
          <p:cNvPr id="7" name="Rounded Rectangle 6"/>
          <p:cNvSpPr/>
          <p:nvPr/>
        </p:nvSpPr>
        <p:spPr>
          <a:xfrm>
            <a:off x="3412998"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2726" y="1444752"/>
            <a:ext cx="2370582" cy="548640"/>
          </a:xfrm>
          <a:prstGeom prst="rect">
            <a:avLst/>
          </a:prstGeom>
          <a:noFill/>
        </p:spPr>
        <p:txBody>
          <a:bodyPr wrap="square">
            <a:spAutoFit/>
          </a:bodyPr>
          <a:lstStyle/>
          <a:p>
            <a:pPr>
              <a:defRPr sz="2600" b="1">
                <a:solidFill>
                  <a:srgbClr val="0F6E6E"/>
                </a:solidFill>
                <a:latin typeface="Georgia"/>
              </a:defRPr>
            </a:pPr>
            <a:r>
              <a:t>9.3%</a:t>
            </a:r>
          </a:p>
        </p:txBody>
      </p:sp>
      <p:sp>
        <p:nvSpPr>
          <p:cNvPr id="9" name="TextBox 8"/>
          <p:cNvSpPr txBox="1"/>
          <p:nvPr/>
        </p:nvSpPr>
        <p:spPr>
          <a:xfrm>
            <a:off x="3522726" y="1975104"/>
            <a:ext cx="2370582" cy="685800"/>
          </a:xfrm>
          <a:prstGeom prst="rect">
            <a:avLst/>
          </a:prstGeom>
          <a:noFill/>
        </p:spPr>
        <p:txBody>
          <a:bodyPr wrap="square">
            <a:spAutoFit/>
          </a:bodyPr>
          <a:lstStyle/>
          <a:p>
            <a:pPr>
              <a:defRPr sz="1100" b="0">
                <a:solidFill>
                  <a:srgbClr val="5C564C"/>
                </a:solidFill>
                <a:latin typeface="Calibri"/>
              </a:defRPr>
            </a:pPr>
            <a:r>
              <a:t>1-hour error vs persistence (26.2 vs 28.9)</a:t>
            </a:r>
          </a:p>
        </p:txBody>
      </p:sp>
      <p:sp>
        <p:nvSpPr>
          <p:cNvPr id="10" name="Rounded Rectangle 9"/>
          <p:cNvSpPr/>
          <p:nvPr/>
        </p:nvSpPr>
        <p:spPr>
          <a:xfrm>
            <a:off x="6185916"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5644" y="1444752"/>
            <a:ext cx="2370582" cy="548640"/>
          </a:xfrm>
          <a:prstGeom prst="rect">
            <a:avLst/>
          </a:prstGeom>
          <a:noFill/>
        </p:spPr>
        <p:txBody>
          <a:bodyPr wrap="square">
            <a:spAutoFit/>
          </a:bodyPr>
          <a:lstStyle/>
          <a:p>
            <a:pPr>
              <a:defRPr sz="2600" b="1">
                <a:solidFill>
                  <a:srgbClr val="0F6E6E"/>
                </a:solidFill>
                <a:latin typeface="Georgia"/>
              </a:defRPr>
            </a:pPr>
            <a:r>
              <a:t>99.8%</a:t>
            </a:r>
          </a:p>
        </p:txBody>
      </p:sp>
      <p:sp>
        <p:nvSpPr>
          <p:cNvPr id="12" name="TextBox 11"/>
          <p:cNvSpPr txBox="1"/>
          <p:nvPr/>
        </p:nvSpPr>
        <p:spPr>
          <a:xfrm>
            <a:off x="6295644" y="1975104"/>
            <a:ext cx="2370582" cy="685800"/>
          </a:xfrm>
          <a:prstGeom prst="rect">
            <a:avLst/>
          </a:prstGeom>
          <a:noFill/>
        </p:spPr>
        <p:txBody>
          <a:bodyPr wrap="square">
            <a:spAutoFit/>
          </a:bodyPr>
          <a:lstStyle/>
          <a:p>
            <a:pPr>
              <a:defRPr sz="1100" b="0">
                <a:solidFill>
                  <a:srgbClr val="5C564C"/>
                </a:solidFill>
                <a:latin typeface="Calibri"/>
              </a:defRPr>
            </a:pPr>
            <a:r>
              <a:t>of 30-min forecasts in Clarke zones A + B</a:t>
            </a:r>
          </a:p>
        </p:txBody>
      </p:sp>
      <p:sp>
        <p:nvSpPr>
          <p:cNvPr id="13" name="Rounded Rectangle 12"/>
          <p:cNvSpPr/>
          <p:nvPr/>
        </p:nvSpPr>
        <p:spPr>
          <a:xfrm>
            <a:off x="8958834"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68561" y="1444752"/>
            <a:ext cx="2370582" cy="548640"/>
          </a:xfrm>
          <a:prstGeom prst="rect">
            <a:avLst/>
          </a:prstGeom>
          <a:noFill/>
        </p:spPr>
        <p:txBody>
          <a:bodyPr wrap="square">
            <a:spAutoFit/>
          </a:bodyPr>
          <a:lstStyle/>
          <a:p>
            <a:pPr>
              <a:defRPr sz="2600" b="1">
                <a:solidFill>
                  <a:srgbClr val="0F6E6E"/>
                </a:solidFill>
                <a:latin typeface="Georgia"/>
              </a:defRPr>
            </a:pPr>
            <a:r>
              <a:t>7 of 17</a:t>
            </a:r>
          </a:p>
        </p:txBody>
      </p:sp>
      <p:sp>
        <p:nvSpPr>
          <p:cNvPr id="15" name="TextBox 14"/>
          <p:cNvSpPr txBox="1"/>
          <p:nvPr/>
        </p:nvSpPr>
        <p:spPr>
          <a:xfrm>
            <a:off x="9068561" y="1975104"/>
            <a:ext cx="2370582" cy="685800"/>
          </a:xfrm>
          <a:prstGeom prst="rect">
            <a:avLst/>
          </a:prstGeom>
          <a:noFill/>
        </p:spPr>
        <p:txBody>
          <a:bodyPr wrap="square">
            <a:spAutoFit/>
          </a:bodyPr>
          <a:lstStyle/>
          <a:p>
            <a:pPr>
              <a:defRPr sz="1100" b="0">
                <a:solidFill>
                  <a:srgbClr val="5C564C"/>
                </a:solidFill>
                <a:latin typeface="Calibri"/>
              </a:defRPr>
            </a:pPr>
            <a:r>
              <a:t>real lows warned on CGMacros, 38.9% precise</a:t>
            </a:r>
          </a:p>
        </p:txBody>
      </p:sp>
      <p:sp>
        <p:nvSpPr>
          <p:cNvPr id="16" name="TextBox 15"/>
          <p:cNvSpPr txBox="1"/>
          <p:nvPr/>
        </p:nvSpPr>
        <p:spPr>
          <a:xfrm>
            <a:off x="777240" y="2880360"/>
            <a:ext cx="10607040" cy="3474720"/>
          </a:xfrm>
          <a:prstGeom prst="rect">
            <a:avLst/>
          </a:prstGeom>
          <a:noFill/>
        </p:spPr>
        <p:txBody>
          <a:bodyPr wrap="square">
            <a:spAutoFit/>
          </a:bodyPr>
          <a:lstStyle/>
          <a:p>
            <a:pPr>
              <a:spcAft>
                <a:spcPts val="600"/>
              </a:spcAft>
              <a:defRPr sz="1400">
                <a:solidFill>
                  <a:srgbClr val="1C1915"/>
                </a:solidFill>
                <a:latin typeface="Calibri"/>
              </a:defRPr>
            </a:pPr>
            <a:r>
              <a:t>•  CGMacros, 45 adults: 30 min 18.5 vs 19.6 (a narrow win), 60 min 26.2 vs 28.9, 120 min 31.8 vs 38.9 mg/dL. The 10–90% band covers 0.81 / 0.79 / 0.79.</a:t>
            </a:r>
          </a:p>
          <a:p>
            <a:pPr>
              <a:spcAft>
                <a:spcPts val="600"/>
              </a:spcAft>
              <a:defRPr sz="1400">
                <a:solidFill>
                  <a:srgbClr val="1C1915"/>
                </a:solidFill>
                <a:latin typeface="Calibri"/>
              </a:defRPr>
            </a:pPr>
            <a:r>
              <a:t>•  CGMacros alerts: spikes 38.9% caught at 63.8% precision; lows 7 of 17 at 38.9% precision, 0.43 false alerts per patient-day.</a:t>
            </a:r>
          </a:p>
          <a:p>
            <a:pPr>
              <a:spcAft>
                <a:spcPts val="600"/>
              </a:spcAft>
              <a:defRPr sz="1400">
                <a:solidFill>
                  <a:srgbClr val="1C1915"/>
                </a:solidFill>
                <a:latin typeface="Calibri"/>
              </a:defRPr>
            </a:pPr>
            <a:r>
              <a:t>•  Simulated stress test (generator differs from the twin): 60 min 22.9 vs persistence 31.2; 120 min 28.1 vs 37.4.</a:t>
            </a:r>
          </a:p>
          <a:p>
            <a:pPr>
              <a:spcAft>
                <a:spcPts val="600"/>
              </a:spcAft>
              <a:defRPr sz="1400">
                <a:solidFill>
                  <a:srgbClr val="1C1915"/>
                </a:solidFill>
                <a:latin typeface="Calibri"/>
              </a:defRPr>
            </a:pPr>
            <a:r>
              <a:t>•  Stress-test spikes: 61.0% caught, 66.9% precise, 0.75 false alerts per patient-day, median lead 105 min. Urgent alerts reach 67.6% of 185 severe events, 83.5% precise. Lows 6 of 16.</a:t>
            </a:r>
          </a:p>
          <a:p>
            <a:pPr>
              <a:spcAft>
                <a:spcPts val="600"/>
              </a:spcAft>
              <a:defRPr sz="1400">
                <a:solidFill>
                  <a:srgbClr val="1C1915"/>
                </a:solidFill>
                <a:latin typeface="Calibri"/>
              </a:defRPr>
            </a:pPr>
            <a:r>
              <a:t>•  Matched generator (shares the twin's equations, an upper bound): 60 min 15.5 vs 26.5.</a:t>
            </a:r>
          </a:p>
          <a:p>
            <a:pPr>
              <a:spcAft>
                <a:spcPts val="600"/>
              </a:spcAft>
              <a:defRPr sz="1400">
                <a:solidFill>
                  <a:srgbClr val="1C1915"/>
                </a:solidFill>
                <a:latin typeface="Calibri"/>
              </a:defRPr>
            </a:pPr>
            <a:r>
              <a:t>•  Risk ranking (AUROC, 95% CI): spikes 0.685 (0.638–0.730) on CGMacros, 0.947 simulated; lows 0.668 and 0.853. On real data the risk is a ranking, not a calibrated probability.</a:t>
            </a:r>
          </a:p>
        </p:txBody>
      </p:sp>
      <p:sp>
        <p:nvSpPr>
          <p:cNvPr id="17" name="TextBox 16"/>
          <p:cNvSpPr txBox="1"/>
          <p:nvPr/>
        </p:nvSpPr>
        <p:spPr>
          <a:xfrm>
            <a:off x="640080" y="6446520"/>
            <a:ext cx="10972800" cy="274320"/>
          </a:xfrm>
          <a:prstGeom prst="rect">
            <a:avLst/>
          </a:prstGeom>
          <a:noFill/>
        </p:spPr>
        <p:txBody>
          <a:bodyPr wrap="square">
            <a:spAutoFit/>
          </a:bodyPr>
          <a:lstStyle/>
          <a:p>
            <a:pPr>
              <a:defRPr sz="1100" b="0">
                <a:solidFill>
                  <a:srgbClr val="5C564C"/>
                </a:solidFill>
                <a:latin typeface="Calibri"/>
              </a:defRPr>
            </a:pPr>
            <a:r>
              <a:t>Research prototype — not a medical device, not medical advice.    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640080" y="329184"/>
            <a:ext cx="10972800" cy="292608"/>
          </a:xfrm>
          <a:prstGeom prst="rect">
            <a:avLst/>
          </a:prstGeom>
          <a:noFill/>
        </p:spPr>
        <p:txBody>
          <a:bodyPr wrap="square">
            <a:spAutoFit/>
          </a:bodyPr>
          <a:lstStyle/>
          <a:p>
            <a:pPr>
              <a:defRPr sz="1200" b="1">
                <a:solidFill>
                  <a:srgbClr val="0F6E6E"/>
                </a:solidFill>
                <a:latin typeface="Calibri"/>
              </a:defRPr>
            </a:pPr>
            <a:r>
              <a:t>SAME 254 SPIKES, SAME ALERT RULES, SAME SCORER</a:t>
            </a:r>
          </a:p>
        </p:txBody>
      </p:sp>
      <p:sp>
        <p:nvSpPr>
          <p:cNvPr id="3" name="TextBox 2"/>
          <p:cNvSpPr txBox="1"/>
          <p:nvPr/>
        </p:nvSpPr>
        <p:spPr>
          <a:xfrm>
            <a:off x="640080" y="603504"/>
            <a:ext cx="10972800" cy="822960"/>
          </a:xfrm>
          <a:prstGeom prst="rect">
            <a:avLst/>
          </a:prstGeom>
          <a:noFill/>
        </p:spPr>
        <p:txBody>
          <a:bodyPr wrap="square">
            <a:spAutoFit/>
          </a:bodyPr>
          <a:lstStyle/>
          <a:p>
            <a:pPr>
              <a:defRPr sz="3200" b="0">
                <a:solidFill>
                  <a:srgbClr val="1C1915"/>
                </a:solidFill>
                <a:latin typeface="Georgia"/>
              </a:defRPr>
            </a:pPr>
            <a:r>
              <a:t>As accurate as the best simple alarm, earlier and quieter</a:t>
            </a:r>
          </a:p>
        </p:txBody>
      </p:sp>
      <p:sp>
        <p:nvSpPr>
          <p:cNvPr id="4" name="Rounded Rectangle 3"/>
          <p:cNvSpPr/>
          <p:nvPr/>
        </p:nvSpPr>
        <p:spPr>
          <a:xfrm>
            <a:off x="640080"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444752"/>
            <a:ext cx="2370582" cy="548640"/>
          </a:xfrm>
          <a:prstGeom prst="rect">
            <a:avLst/>
          </a:prstGeom>
          <a:noFill/>
        </p:spPr>
        <p:txBody>
          <a:bodyPr wrap="square">
            <a:spAutoFit/>
          </a:bodyPr>
          <a:lstStyle/>
          <a:p>
            <a:pPr>
              <a:defRPr sz="2600" b="1">
                <a:solidFill>
                  <a:srgbClr val="0F6E6E"/>
                </a:solidFill>
                <a:latin typeface="Georgia"/>
              </a:defRPr>
            </a:pPr>
            <a:r>
              <a:t>0.638</a:t>
            </a:r>
          </a:p>
        </p:txBody>
      </p:sp>
      <p:sp>
        <p:nvSpPr>
          <p:cNvPr id="6" name="TextBox 5"/>
          <p:cNvSpPr txBox="1"/>
          <p:nvPr/>
        </p:nvSpPr>
        <p:spPr>
          <a:xfrm>
            <a:off x="749808" y="1975104"/>
            <a:ext cx="2370582" cy="685800"/>
          </a:xfrm>
          <a:prstGeom prst="rect">
            <a:avLst/>
          </a:prstGeom>
          <a:noFill/>
        </p:spPr>
        <p:txBody>
          <a:bodyPr wrap="square">
            <a:spAutoFit/>
          </a:bodyPr>
          <a:lstStyle/>
          <a:p>
            <a:pPr>
              <a:defRPr sz="1100" b="0">
                <a:solidFill>
                  <a:srgbClr val="5C564C"/>
                </a:solidFill>
                <a:latin typeface="Calibri"/>
              </a:defRPr>
            </a:pPr>
            <a:r>
              <a:t>F1 for GlucoTwin; next best 0.637 (Trend projection, 60 min)</a:t>
            </a:r>
          </a:p>
        </p:txBody>
      </p:sp>
      <p:sp>
        <p:nvSpPr>
          <p:cNvPr id="7" name="Rounded Rectangle 6"/>
          <p:cNvSpPr/>
          <p:nvPr/>
        </p:nvSpPr>
        <p:spPr>
          <a:xfrm>
            <a:off x="3412998"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2726" y="1444752"/>
            <a:ext cx="2370582" cy="548640"/>
          </a:xfrm>
          <a:prstGeom prst="rect">
            <a:avLst/>
          </a:prstGeom>
          <a:noFill/>
        </p:spPr>
        <p:txBody>
          <a:bodyPr wrap="square">
            <a:spAutoFit/>
          </a:bodyPr>
          <a:lstStyle/>
          <a:p>
            <a:pPr>
              <a:defRPr sz="2600" b="1">
                <a:solidFill>
                  <a:srgbClr val="0F6E6E"/>
                </a:solidFill>
                <a:latin typeface="Georgia"/>
              </a:defRPr>
            </a:pPr>
            <a:r>
              <a:t>105 min</a:t>
            </a:r>
          </a:p>
        </p:txBody>
      </p:sp>
      <p:sp>
        <p:nvSpPr>
          <p:cNvPr id="9" name="TextBox 8"/>
          <p:cNvSpPr txBox="1"/>
          <p:nvPr/>
        </p:nvSpPr>
        <p:spPr>
          <a:xfrm>
            <a:off x="3522726" y="1975104"/>
            <a:ext cx="2370582" cy="685800"/>
          </a:xfrm>
          <a:prstGeom prst="rect">
            <a:avLst/>
          </a:prstGeom>
          <a:noFill/>
        </p:spPr>
        <p:txBody>
          <a:bodyPr wrap="square">
            <a:spAutoFit/>
          </a:bodyPr>
          <a:lstStyle/>
          <a:p>
            <a:pPr>
              <a:defRPr sz="1100" b="0">
                <a:solidFill>
                  <a:srgbClr val="5C564C"/>
                </a:solidFill>
                <a:latin typeface="Calibri"/>
              </a:defRPr>
            </a:pPr>
            <a:r>
              <a:t>median warning; CGM trend alarms 45 min at best</a:t>
            </a:r>
          </a:p>
        </p:txBody>
      </p:sp>
      <p:sp>
        <p:nvSpPr>
          <p:cNvPr id="10" name="Rounded Rectangle 9"/>
          <p:cNvSpPr/>
          <p:nvPr/>
        </p:nvSpPr>
        <p:spPr>
          <a:xfrm>
            <a:off x="6185916"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5644" y="1444752"/>
            <a:ext cx="2370582" cy="548640"/>
          </a:xfrm>
          <a:prstGeom prst="rect">
            <a:avLst/>
          </a:prstGeom>
          <a:noFill/>
        </p:spPr>
        <p:txBody>
          <a:bodyPr wrap="square">
            <a:spAutoFit/>
          </a:bodyPr>
          <a:lstStyle/>
          <a:p>
            <a:pPr>
              <a:defRPr sz="2600" b="1">
                <a:solidFill>
                  <a:srgbClr val="0F6E6E"/>
                </a:solidFill>
                <a:latin typeface="Georgia"/>
              </a:defRPr>
            </a:pPr>
            <a:r>
              <a:t>109</a:t>
            </a:r>
          </a:p>
        </p:txBody>
      </p:sp>
      <p:sp>
        <p:nvSpPr>
          <p:cNvPr id="12" name="TextBox 11"/>
          <p:cNvSpPr txBox="1"/>
          <p:nvPr/>
        </p:nvSpPr>
        <p:spPr>
          <a:xfrm>
            <a:off x="6295644" y="1975104"/>
            <a:ext cx="2370582" cy="685800"/>
          </a:xfrm>
          <a:prstGeom prst="rect">
            <a:avLst/>
          </a:prstGeom>
          <a:noFill/>
        </p:spPr>
        <p:txBody>
          <a:bodyPr wrap="square">
            <a:spAutoFit/>
          </a:bodyPr>
          <a:lstStyle/>
          <a:p>
            <a:pPr>
              <a:defRPr sz="1100" b="0">
                <a:solidFill>
                  <a:srgbClr val="5C564C"/>
                </a:solidFill>
                <a:latin typeface="Calibri"/>
              </a:defRPr>
            </a:pPr>
            <a:r>
              <a:t>spikes warned ≥ 60 min ahead (42.9%)</a:t>
            </a:r>
          </a:p>
        </p:txBody>
      </p:sp>
      <p:sp>
        <p:nvSpPr>
          <p:cNvPr id="13" name="Rounded Rectangle 12"/>
          <p:cNvSpPr/>
          <p:nvPr/>
        </p:nvSpPr>
        <p:spPr>
          <a:xfrm>
            <a:off x="8958834"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68561" y="1444752"/>
            <a:ext cx="2370582" cy="548640"/>
          </a:xfrm>
          <a:prstGeom prst="rect">
            <a:avLst/>
          </a:prstGeom>
          <a:noFill/>
        </p:spPr>
        <p:txBody>
          <a:bodyPr wrap="square">
            <a:spAutoFit/>
          </a:bodyPr>
          <a:lstStyle/>
          <a:p>
            <a:pPr>
              <a:defRPr sz="2600" b="1">
                <a:solidFill>
                  <a:srgbClr val="0F6E6E"/>
                </a:solidFill>
                <a:latin typeface="Georgia"/>
              </a:defRPr>
            </a:pPr>
            <a:r>
              <a:t>0.75</a:t>
            </a:r>
          </a:p>
        </p:txBody>
      </p:sp>
      <p:sp>
        <p:nvSpPr>
          <p:cNvPr id="15" name="TextBox 14"/>
          <p:cNvSpPr txBox="1"/>
          <p:nvPr/>
        </p:nvSpPr>
        <p:spPr>
          <a:xfrm>
            <a:off x="9068561" y="1975104"/>
            <a:ext cx="2370582" cy="685800"/>
          </a:xfrm>
          <a:prstGeom prst="rect">
            <a:avLst/>
          </a:prstGeom>
          <a:noFill/>
        </p:spPr>
        <p:txBody>
          <a:bodyPr wrap="square">
            <a:spAutoFit/>
          </a:bodyPr>
          <a:lstStyle/>
          <a:p>
            <a:pPr>
              <a:defRPr sz="1100" b="0">
                <a:solidFill>
                  <a:srgbClr val="5C564C"/>
                </a:solidFill>
                <a:latin typeface="Calibri"/>
              </a:defRPr>
            </a:pPr>
            <a:r>
              <a:t>false alerts per patient-day</a:t>
            </a:r>
          </a:p>
        </p:txBody>
      </p:sp>
      <p:sp>
        <p:nvSpPr>
          <p:cNvPr id="16" name="TextBox 15"/>
          <p:cNvSpPr txBox="1"/>
          <p:nvPr/>
        </p:nvSpPr>
        <p:spPr>
          <a:xfrm>
            <a:off x="777240" y="2880360"/>
            <a:ext cx="10607040" cy="3474720"/>
          </a:xfrm>
          <a:prstGeom prst="rect">
            <a:avLst/>
          </a:prstGeom>
          <a:noFill/>
        </p:spPr>
        <p:txBody>
          <a:bodyPr wrap="square">
            <a:spAutoFit/>
          </a:bodyPr>
          <a:lstStyle/>
          <a:p>
            <a:pPr>
              <a:spcAft>
                <a:spcPts val="600"/>
              </a:spcAft>
              <a:defRPr sz="1400">
                <a:solidFill>
                  <a:srgbClr val="1C1915"/>
                </a:solidFill>
                <a:latin typeface="Calibri"/>
              </a:defRPr>
            </a:pPr>
            <a:r>
              <a:t>•  GlucoTwin: 61.0% recall, 66.9% precision. F1 is level with Trend projection, 60 min; GlucoTwin warns a median 105 min ahead against 25, with 0.75 against 2.11 false alerts per patient-day.</a:t>
            </a:r>
          </a:p>
          <a:p>
            <a:pPr>
              <a:spcAft>
                <a:spcPts val="600"/>
              </a:spcAft>
              <a:defRPr sz="1400">
                <a:solidFill>
                  <a:srgbClr val="1C1915"/>
                </a:solidFill>
                <a:latin typeface="Calibri"/>
              </a:defRPr>
            </a:pPr>
            <a:r>
              <a:t>•  Rise-rate alarm: 24.8% recall, 78.8% precision, F1 0.377, 0.13 false/day, median lead 5 min.</a:t>
            </a:r>
          </a:p>
          <a:p>
            <a:pPr>
              <a:spcAft>
                <a:spcPts val="600"/>
              </a:spcAft>
              <a:defRPr sz="1400">
                <a:solidFill>
                  <a:srgbClr val="1C1915"/>
                </a:solidFill>
                <a:latin typeface="Calibri"/>
              </a:defRPr>
            </a:pPr>
            <a:r>
              <a:t>•  Trend projection, 60 min: 89.4% recall, 49.5% precision, F1 0.637, 2.11 false/day, median lead 25 min.</a:t>
            </a:r>
          </a:p>
          <a:p>
            <a:pPr>
              <a:spcAft>
                <a:spcPts val="600"/>
              </a:spcAft>
              <a:defRPr sz="1400">
                <a:solidFill>
                  <a:srgbClr val="1C1915"/>
                </a:solidFill>
                <a:latin typeface="Calibri"/>
              </a:defRPr>
            </a:pPr>
            <a:r>
              <a:t>•  Trend projection, 120 min: 81.5% recall, 34.5% precision, F1 0.485, 3.86 false/day, median lead 45 min.</a:t>
            </a:r>
          </a:p>
          <a:p>
            <a:pPr>
              <a:spcAft>
                <a:spcPts val="600"/>
              </a:spcAft>
              <a:defRPr sz="1400">
                <a:solidFill>
                  <a:srgbClr val="1C1915"/>
                </a:solidFill>
                <a:latin typeface="Calibri"/>
              </a:defRPr>
            </a:pPr>
            <a:r>
              <a:t>•  Big-meal rule, ≥ 40 g carbs: 56.7% recall, 58.5% precision, F1 0.576, 0.77 false/day, median lead 30 min.</a:t>
            </a:r>
          </a:p>
          <a:p>
            <a:pPr>
              <a:spcAft>
                <a:spcPts val="600"/>
              </a:spcAft>
              <a:defRPr sz="1400">
                <a:solidFill>
                  <a:srgbClr val="1C1915"/>
                </a:solidFill>
                <a:latin typeface="Calibri"/>
              </a:defRPr>
            </a:pPr>
            <a:r>
              <a:t>•  Big-meal rule, ≥ 60 g carbs: 29.5% recall, 73.5% precision, F1 0.421, 0.20 false/day, median lead 25 min.</a:t>
            </a:r>
          </a:p>
          <a:p>
            <a:pPr>
              <a:spcAft>
                <a:spcPts val="600"/>
              </a:spcAft>
              <a:defRPr sz="1400">
                <a:solidFill>
                  <a:srgbClr val="1C1915"/>
                </a:solidFill>
                <a:latin typeface="Calibri"/>
              </a:defRPr>
            </a:pPr>
            <a:r>
              <a:t>•  Source: docs/ALERT_PROOF.md (npm run alert-proof).</a:t>
            </a:r>
          </a:p>
        </p:txBody>
      </p:sp>
      <p:sp>
        <p:nvSpPr>
          <p:cNvPr id="17" name="TextBox 16"/>
          <p:cNvSpPr txBox="1"/>
          <p:nvPr/>
        </p:nvSpPr>
        <p:spPr>
          <a:xfrm>
            <a:off x="640080" y="6446520"/>
            <a:ext cx="10972800" cy="274320"/>
          </a:xfrm>
          <a:prstGeom prst="rect">
            <a:avLst/>
          </a:prstGeom>
          <a:noFill/>
        </p:spPr>
        <p:txBody>
          <a:bodyPr wrap="square">
            <a:spAutoFit/>
          </a:bodyPr>
          <a:lstStyle/>
          <a:p>
            <a:pPr>
              <a:defRPr sz="1100" b="0">
                <a:solidFill>
                  <a:srgbClr val="5C564C"/>
                </a:solidFill>
                <a:latin typeface="Calibri"/>
              </a:defRPr>
            </a:pPr>
            <a:r>
              <a:t>Research prototype — not a medical device, not medical advice.    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640080" y="329184"/>
            <a:ext cx="10972800" cy="292608"/>
          </a:xfrm>
          <a:prstGeom prst="rect">
            <a:avLst/>
          </a:prstGeom>
          <a:noFill/>
        </p:spPr>
        <p:txBody>
          <a:bodyPr wrap="square">
            <a:spAutoFit/>
          </a:bodyPr>
          <a:lstStyle/>
          <a:p>
            <a:pPr>
              <a:defRPr sz="1200" b="1">
                <a:solidFill>
                  <a:srgbClr val="0F6E6E"/>
                </a:solidFill>
                <a:latin typeface="Calibri"/>
              </a:defRPr>
            </a:pPr>
            <a:r>
              <a:t>TIME IN RANGE ON DAYS 10–16 OF EACH FITTED TWIN. NO DOSING.</a:t>
            </a:r>
          </a:p>
        </p:txBody>
      </p:sp>
      <p:sp>
        <p:nvSpPr>
          <p:cNvPr id="3" name="TextBox 2"/>
          <p:cNvSpPr txBox="1"/>
          <p:nvPr/>
        </p:nvSpPr>
        <p:spPr>
          <a:xfrm>
            <a:off x="640080" y="603504"/>
            <a:ext cx="10972800" cy="822960"/>
          </a:xfrm>
          <a:prstGeom prst="rect">
            <a:avLst/>
          </a:prstGeom>
          <a:noFill/>
        </p:spPr>
        <p:txBody>
          <a:bodyPr wrap="square">
            <a:spAutoFit/>
          </a:bodyPr>
          <a:lstStyle/>
          <a:p>
            <a:pPr>
              <a:defRPr sz="3200" b="0">
                <a:solidFill>
                  <a:srgbClr val="1C1915"/>
                </a:solidFill>
                <a:latin typeface="Georgia"/>
              </a:defRPr>
            </a:pPr>
            <a:r>
              <a:t>Seven plans, one twin per patient</a:t>
            </a:r>
          </a:p>
        </p:txBody>
      </p:sp>
      <p:sp>
        <p:nvSpPr>
          <p:cNvPr id="4" name="TextBox 3"/>
          <p:cNvSpPr txBox="1"/>
          <p:nvPr/>
        </p:nvSpPr>
        <p:spPr>
          <a:xfrm>
            <a:off x="777240" y="1371600"/>
            <a:ext cx="10607040" cy="4983480"/>
          </a:xfrm>
          <a:prstGeom prst="rect">
            <a:avLst/>
          </a:prstGeom>
          <a:noFill/>
        </p:spPr>
        <p:txBody>
          <a:bodyPr wrap="square">
            <a:spAutoFit/>
          </a:bodyPr>
          <a:lstStyle/>
          <a:p>
            <a:pPr>
              <a:spcAft>
                <a:spcPts val="600"/>
              </a:spcAft>
              <a:defRPr sz="1400">
                <a:solidFill>
                  <a:srgbClr val="1C1915"/>
                </a:solidFill>
                <a:latin typeface="Calibri"/>
              </a:defRPr>
            </a:pPr>
            <a:r>
              <a:t>•  Vikram Shah: Split lunch — 95.8% → 99.4% (+3.6 pts), minutes above 180 420 → 65.</a:t>
            </a:r>
          </a:p>
          <a:p>
            <a:pPr>
              <a:spcAft>
                <a:spcPts val="600"/>
              </a:spcAft>
              <a:defRPr sz="1400">
                <a:solidFill>
                  <a:srgbClr val="1C1915"/>
                </a:solidFill>
                <a:latin typeface="Calibri"/>
              </a:defRPr>
            </a:pPr>
            <a:r>
              <a:t>•  Leela Joshi: Fasting day once a week — 51.9% → 55.2% (+3.3 pts), minutes above 180 4845 → 4520.</a:t>
            </a:r>
          </a:p>
          <a:p>
            <a:pPr>
              <a:spcAft>
                <a:spcPts val="600"/>
              </a:spcAft>
              <a:defRPr sz="1400">
                <a:solidFill>
                  <a:srgbClr val="1C1915"/>
                </a:solidFill>
                <a:latin typeface="Calibri"/>
              </a:defRPr>
            </a:pPr>
            <a:r>
              <a:t>•  Kavita Deshmukh: Split lunch — 96.9% → 99.8% (+2.9 pts), minutes above 180 310 → 25.</a:t>
            </a:r>
          </a:p>
          <a:p>
            <a:pPr>
              <a:spcAft>
                <a:spcPts val="600"/>
              </a:spcAft>
              <a:defRPr sz="1400">
                <a:solidFill>
                  <a:srgbClr val="1C1915"/>
                </a:solidFill>
                <a:latin typeface="Calibri"/>
              </a:defRPr>
            </a:pPr>
            <a:r>
              <a:t>•  Divya Menon: Split lunch — 95.5% → 98.3% (+2.8 pts), minutes above 180 410 → 170.</a:t>
            </a:r>
          </a:p>
          <a:p>
            <a:pPr>
              <a:spcAft>
                <a:spcPts val="600"/>
              </a:spcAft>
              <a:defRPr sz="1400">
                <a:solidFill>
                  <a:srgbClr val="1C1915"/>
                </a:solidFill>
                <a:latin typeface="Calibri"/>
              </a:defRPr>
            </a:pPr>
            <a:r>
              <a:t>•  Fatima Khan: Fasting day once a week — 62.1% → 64.8% (+2.7 pts), minutes above 180 3825 → 3550.</a:t>
            </a:r>
          </a:p>
          <a:p>
            <a:pPr>
              <a:spcAft>
                <a:spcPts val="600"/>
              </a:spcAft>
              <a:defRPr sz="1400">
                <a:solidFill>
                  <a:srgbClr val="1C1915"/>
                </a:solidFill>
                <a:latin typeface="Calibri"/>
              </a:defRPr>
            </a:pPr>
            <a:r>
              <a:t>•  Suresh Patel: Fasting day once a week — 77.4% → 79.9% (+2.5 pts), minutes above 180 2280 → 2030.</a:t>
            </a:r>
          </a:p>
          <a:p>
            <a:pPr>
              <a:spcAft>
                <a:spcPts val="600"/>
              </a:spcAft>
              <a:defRPr sz="1400">
                <a:solidFill>
                  <a:srgbClr val="1C1915"/>
                </a:solidFill>
                <a:latin typeface="Calibri"/>
              </a:defRPr>
            </a:pPr>
            <a:r>
              <a:t>•  Ananya Rao: Fasting day once a week — 79% → 81.3% (+2.3 pts), minutes above 180 2115 → 1890.</a:t>
            </a:r>
          </a:p>
          <a:p>
            <a:pPr>
              <a:spcAft>
                <a:spcPts val="600"/>
              </a:spcAft>
              <a:defRPr sz="1400">
                <a:solidFill>
                  <a:srgbClr val="1C1915"/>
                </a:solidFill>
                <a:latin typeface="Calibri"/>
              </a:defRPr>
            </a:pPr>
            <a:r>
              <a:t>•  Imran Qureshi: Walk 15 min after lunch — 98.3% → 100% (+1.7 pts), minutes above 180 170 → 0.</a:t>
            </a:r>
          </a:p>
          <a:p>
            <a:pPr>
              <a:spcAft>
                <a:spcPts val="600"/>
              </a:spcAft>
              <a:defRPr sz="1400">
                <a:solidFill>
                  <a:srgbClr val="1C1915"/>
                </a:solidFill>
                <a:latin typeface="Calibri"/>
              </a:defRPr>
            </a:pPr>
            <a:r>
              <a:t>•  The same plan, split lunch: Vikram +3.6, Kavita +2.9, Divya +2.8, Imran +1.7, Ananya -2.5, Suresh -2.9, Fatima -4.1, Leela -5.4 points. One rule does not fit every twin.</a:t>
            </a:r>
          </a:p>
          <a:p>
            <a:pPr>
              <a:spcAft>
                <a:spcPts val="600"/>
              </a:spcAft>
              <a:defRPr sz="1400">
                <a:solidFill>
                  <a:srgbClr val="1C1915"/>
                </a:solidFill>
                <a:latin typeface="Calibri"/>
              </a:defRPr>
            </a:pPr>
            <a:r>
              <a:t>•  Plans target each patient's highest-risk meal (breakfast, lunch or dinner). Full table in the README.</a:t>
            </a:r>
          </a:p>
        </p:txBody>
      </p:sp>
      <p:sp>
        <p:nvSpPr>
          <p:cNvPr id="5" name="TextBox 4"/>
          <p:cNvSpPr txBox="1"/>
          <p:nvPr/>
        </p:nvSpPr>
        <p:spPr>
          <a:xfrm>
            <a:off x="640080" y="6446520"/>
            <a:ext cx="10972800" cy="274320"/>
          </a:xfrm>
          <a:prstGeom prst="rect">
            <a:avLst/>
          </a:prstGeom>
          <a:noFill/>
        </p:spPr>
        <p:txBody>
          <a:bodyPr wrap="square">
            <a:spAutoFit/>
          </a:bodyPr>
          <a:lstStyle/>
          <a:p>
            <a:pPr>
              <a:defRPr sz="1100" b="0">
                <a:solidFill>
                  <a:srgbClr val="5C564C"/>
                </a:solidFill>
                <a:latin typeface="Calibri"/>
              </a:defRPr>
            </a:pPr>
            <a:r>
              <a:t>Research prototype — not a medical device, not medical advice.    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640080" y="329184"/>
            <a:ext cx="10972800" cy="292608"/>
          </a:xfrm>
          <a:prstGeom prst="rect">
            <a:avLst/>
          </a:prstGeom>
          <a:noFill/>
        </p:spPr>
        <p:txBody>
          <a:bodyPr wrap="square">
            <a:spAutoFit/>
          </a:bodyPr>
          <a:lstStyle/>
          <a:p>
            <a:pPr>
              <a:defRPr sz="1200" b="1">
                <a:solidFill>
                  <a:srgbClr val="0F6E6E"/>
                </a:solidFill>
                <a:latin typeface="Calibri"/>
              </a:defRPr>
            </a:pPr>
            <a:r>
              <a:t>LIVE SCREENS FROM THE RUNNING APP</a:t>
            </a:r>
          </a:p>
        </p:txBody>
      </p:sp>
      <p:sp>
        <p:nvSpPr>
          <p:cNvPr id="3" name="TextBox 2"/>
          <p:cNvSpPr txBox="1"/>
          <p:nvPr/>
        </p:nvSpPr>
        <p:spPr>
          <a:xfrm>
            <a:off x="640080" y="603504"/>
            <a:ext cx="10972800" cy="822960"/>
          </a:xfrm>
          <a:prstGeom prst="rect">
            <a:avLst/>
          </a:prstGeom>
          <a:noFill/>
        </p:spPr>
        <p:txBody>
          <a:bodyPr wrap="square">
            <a:spAutoFit/>
          </a:bodyPr>
          <a:lstStyle/>
          <a:p>
            <a:pPr>
              <a:defRPr sz="3200" b="0">
                <a:solidFill>
                  <a:srgbClr val="1C1915"/>
                </a:solidFill>
                <a:latin typeface="Georgia"/>
              </a:defRPr>
            </a:pPr>
            <a:r>
              <a:t>The doctor dashboard</a:t>
            </a:r>
          </a:p>
        </p:txBody>
      </p:sp>
      <p:pic>
        <p:nvPicPr>
          <p:cNvPr id="4" name="Picture 3" descr="cohort.png"/>
          <p:cNvPicPr>
            <a:picLocks noChangeAspect="1"/>
          </p:cNvPicPr>
          <p:nvPr/>
        </p:nvPicPr>
        <p:blipFill>
          <a:blip r:embed="rId2"/>
          <a:stretch>
            <a:fillRect/>
          </a:stretch>
        </p:blipFill>
        <p:spPr>
          <a:xfrm>
            <a:off x="640080" y="1371600"/>
            <a:ext cx="3514344" cy="2196465"/>
          </a:xfrm>
          <a:prstGeom prst="rect">
            <a:avLst/>
          </a:prstGeom>
        </p:spPr>
      </p:pic>
      <p:pic>
        <p:nvPicPr>
          <p:cNvPr id="5" name="Picture 4" descr="twin.png"/>
          <p:cNvPicPr>
            <a:picLocks noChangeAspect="1"/>
          </p:cNvPicPr>
          <p:nvPr/>
        </p:nvPicPr>
        <p:blipFill>
          <a:blip r:embed="rId3"/>
          <a:stretch>
            <a:fillRect/>
          </a:stretch>
        </p:blipFill>
        <p:spPr>
          <a:xfrm>
            <a:off x="4337304" y="1371600"/>
            <a:ext cx="3514344" cy="2196465"/>
          </a:xfrm>
          <a:prstGeom prst="rect">
            <a:avLst/>
          </a:prstGeom>
        </p:spPr>
      </p:pic>
      <p:pic>
        <p:nvPicPr>
          <p:cNvPr id="6" name="Picture 5" descr="whatif.png"/>
          <p:cNvPicPr>
            <a:picLocks noChangeAspect="1"/>
          </p:cNvPicPr>
          <p:nvPr/>
        </p:nvPicPr>
        <p:blipFill>
          <a:blip r:embed="rId4"/>
          <a:stretch>
            <a:fillRect/>
          </a:stretch>
        </p:blipFill>
        <p:spPr>
          <a:xfrm>
            <a:off x="8034527" y="1371600"/>
            <a:ext cx="3514344" cy="2196465"/>
          </a:xfrm>
          <a:prstGeom prst="rect">
            <a:avLst/>
          </a:prstGeom>
        </p:spPr>
      </p:pic>
      <p:sp>
        <p:nvSpPr>
          <p:cNvPr id="7" name="TextBox 6"/>
          <p:cNvSpPr txBox="1"/>
          <p:nvPr/>
        </p:nvSpPr>
        <p:spPr>
          <a:xfrm>
            <a:off x="640080" y="3641217"/>
            <a:ext cx="3514344" cy="457200"/>
          </a:xfrm>
          <a:prstGeom prst="rect">
            <a:avLst/>
          </a:prstGeom>
          <a:noFill/>
        </p:spPr>
        <p:txBody>
          <a:bodyPr wrap="square">
            <a:spAutoFit/>
          </a:bodyPr>
          <a:lstStyle/>
          <a:p>
            <a:pPr>
              <a:defRPr sz="1200" b="0">
                <a:solidFill>
                  <a:srgbClr val="5C564C"/>
                </a:solidFill>
                <a:latin typeface="Calibri"/>
              </a:defRPr>
            </a:pPr>
            <a:r>
              <a:t>Cohort triage: patients ranked by urgency; only Urgent interrupts</a:t>
            </a:r>
          </a:p>
        </p:txBody>
      </p:sp>
      <p:sp>
        <p:nvSpPr>
          <p:cNvPr id="8" name="TextBox 7"/>
          <p:cNvSpPr txBox="1"/>
          <p:nvPr/>
        </p:nvSpPr>
        <p:spPr>
          <a:xfrm>
            <a:off x="4337304" y="3641217"/>
            <a:ext cx="3514344" cy="457200"/>
          </a:xfrm>
          <a:prstGeom prst="rect">
            <a:avLst/>
          </a:prstGeom>
          <a:noFill/>
        </p:spPr>
        <p:txBody>
          <a:bodyPr wrap="square">
            <a:spAutoFit/>
          </a:bodyPr>
          <a:lstStyle/>
          <a:p>
            <a:pPr>
              <a:defRPr sz="1200" b="0">
                <a:solidFill>
                  <a:srgbClr val="5C564C"/>
                </a:solidFill>
                <a:latin typeface="Calibri"/>
              </a:defRPr>
            </a:pPr>
            <a:r>
              <a:t>Twin: 2-hour forecast with conformal band and per-stream consent toggles</a:t>
            </a:r>
          </a:p>
        </p:txBody>
      </p:sp>
      <p:sp>
        <p:nvSpPr>
          <p:cNvPr id="9" name="TextBox 8"/>
          <p:cNvSpPr txBox="1"/>
          <p:nvPr/>
        </p:nvSpPr>
        <p:spPr>
          <a:xfrm>
            <a:off x="8034527" y="3641217"/>
            <a:ext cx="3514344" cy="457200"/>
          </a:xfrm>
          <a:prstGeom prst="rect">
            <a:avLst/>
          </a:prstGeom>
          <a:noFill/>
        </p:spPr>
        <p:txBody>
          <a:bodyPr wrap="square">
            <a:spAutoFit/>
          </a:bodyPr>
          <a:lstStyle/>
          <a:p>
            <a:pPr>
              <a:defRPr sz="1200" b="0">
                <a:solidFill>
                  <a:srgbClr val="5C564C"/>
                </a:solidFill>
                <a:latin typeface="Calibri"/>
              </a:defRPr>
            </a:pPr>
            <a:r>
              <a:t>What-if: seven plans on the patient's own twin, with deltas</a:t>
            </a:r>
          </a:p>
        </p:txBody>
      </p:sp>
      <p:sp>
        <p:nvSpPr>
          <p:cNvPr id="10" name="TextBox 9"/>
          <p:cNvSpPr txBox="1"/>
          <p:nvPr/>
        </p:nvSpPr>
        <p:spPr>
          <a:xfrm>
            <a:off x="777240" y="4253865"/>
            <a:ext cx="10607040" cy="2101215"/>
          </a:xfrm>
          <a:prstGeom prst="rect">
            <a:avLst/>
          </a:prstGeom>
          <a:noFill/>
        </p:spPr>
        <p:txBody>
          <a:bodyPr wrap="square">
            <a:spAutoFit/>
          </a:bodyPr>
          <a:lstStyle/>
          <a:p>
            <a:pPr>
              <a:spcAft>
                <a:spcPts val="600"/>
              </a:spcAft>
              <a:defRPr sz="1700">
                <a:solidFill>
                  <a:srgbClr val="1C1915"/>
                </a:solidFill>
                <a:latin typeface="Calibri"/>
              </a:defRPr>
            </a:pPr>
            <a:r>
              <a:t>•  The Clinical summary button prints a one-page pre-visit sheet: twin parameters, 7-day time in range, the chosen plan and recent Urgent alerts.</a:t>
            </a:r>
          </a:p>
        </p:txBody>
      </p:sp>
      <p:sp>
        <p:nvSpPr>
          <p:cNvPr id="11" name="TextBox 10"/>
          <p:cNvSpPr txBox="1"/>
          <p:nvPr/>
        </p:nvSpPr>
        <p:spPr>
          <a:xfrm>
            <a:off x="640080" y="6446520"/>
            <a:ext cx="10972800" cy="274320"/>
          </a:xfrm>
          <a:prstGeom prst="rect">
            <a:avLst/>
          </a:prstGeom>
          <a:noFill/>
        </p:spPr>
        <p:txBody>
          <a:bodyPr wrap="square">
            <a:spAutoFit/>
          </a:bodyPr>
          <a:lstStyle/>
          <a:p>
            <a:pPr>
              <a:defRPr sz="1100" b="0">
                <a:solidFill>
                  <a:srgbClr val="5C564C"/>
                </a:solidFill>
                <a:latin typeface="Calibri"/>
              </a:defRPr>
            </a:pPr>
            <a:r>
              <a:t>Research prototype — not a medical device, not medical advice.    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640080" y="329184"/>
            <a:ext cx="10972800" cy="292608"/>
          </a:xfrm>
          <a:prstGeom prst="rect">
            <a:avLst/>
          </a:prstGeom>
          <a:noFill/>
        </p:spPr>
        <p:txBody>
          <a:bodyPr wrap="square">
            <a:spAutoFit/>
          </a:bodyPr>
          <a:lstStyle/>
          <a:p>
            <a:pPr>
              <a:defRPr sz="1200" b="1">
                <a:solidFill>
                  <a:srgbClr val="0F6E6E"/>
                </a:solidFill>
                <a:latin typeface="Calibri"/>
              </a:defRPr>
            </a:pPr>
            <a:r>
              <a:t>DIRECTION, NOT A REPRODUCTION</a:t>
            </a:r>
          </a:p>
        </p:txBody>
      </p:sp>
      <p:sp>
        <p:nvSpPr>
          <p:cNvPr id="3" name="TextBox 2"/>
          <p:cNvSpPr txBox="1"/>
          <p:nvPr/>
        </p:nvSpPr>
        <p:spPr>
          <a:xfrm>
            <a:off x="640080" y="603504"/>
            <a:ext cx="10972800" cy="822960"/>
          </a:xfrm>
          <a:prstGeom prst="rect">
            <a:avLst/>
          </a:prstGeom>
          <a:noFill/>
        </p:spPr>
        <p:txBody>
          <a:bodyPr wrap="square">
            <a:spAutoFit/>
          </a:bodyPr>
          <a:lstStyle/>
          <a:p>
            <a:pPr>
              <a:defRPr sz="3200" b="0">
                <a:solidFill>
                  <a:srgbClr val="1C1915"/>
                </a:solidFill>
                <a:latin typeface="Georgia"/>
              </a:defRPr>
            </a:pPr>
            <a:r>
              <a:t>Built for India</a:t>
            </a:r>
          </a:p>
        </p:txBody>
      </p:sp>
      <p:sp>
        <p:nvSpPr>
          <p:cNvPr id="4" name="TextBox 3"/>
          <p:cNvSpPr txBox="1"/>
          <p:nvPr/>
        </p:nvSpPr>
        <p:spPr>
          <a:xfrm>
            <a:off x="777240" y="1371600"/>
            <a:ext cx="10607040" cy="4983480"/>
          </a:xfrm>
          <a:prstGeom prst="rect">
            <a:avLst/>
          </a:prstGeom>
          <a:noFill/>
        </p:spPr>
        <p:txBody>
          <a:bodyPr wrap="square">
            <a:spAutoFit/>
          </a:bodyPr>
          <a:lstStyle/>
          <a:p>
            <a:pPr>
              <a:spcAft>
                <a:spcPts val="600"/>
              </a:spcAft>
              <a:defRPr sz="1700">
                <a:solidFill>
                  <a:srgbClr val="1C1915"/>
                </a:solidFill>
                <a:latin typeface="Calibri"/>
              </a:defRPr>
            </a:pPr>
            <a:r>
              <a:t>•  IFCT 2017 food rows for Indian plates: rice, chapati, toor dal, paneer, jowar roti.</a:t>
            </a:r>
          </a:p>
          <a:p>
            <a:pPr>
              <a:spcAft>
                <a:spcPts val="600"/>
              </a:spcAft>
              <a:defRPr sz="1700">
                <a:solidFill>
                  <a:srgbClr val="1C1915"/>
                </a:solidFill>
                <a:latin typeface="Calibri"/>
              </a:defRPr>
            </a:pPr>
            <a:r>
              <a:t>•  The diet paper is cited as direction. The twin sees carbohydrate grams, fiber, fat and walks; it has no separate protein effect.</a:t>
            </a:r>
          </a:p>
          <a:p>
            <a:pPr>
              <a:spcAft>
                <a:spcPts val="600"/>
              </a:spcAft>
              <a:defRPr sz="1700">
                <a:solidFill>
                  <a:srgbClr val="1C1915"/>
                </a:solidFill>
                <a:latin typeface="Calibri"/>
              </a:defRPr>
            </a:pPr>
            <a:r>
              <a:t>•  Subgroup priors follow the South Asian SIDD / IROD / CIRDD / MARD labels with approximate thresholds.</a:t>
            </a:r>
          </a:p>
          <a:p>
            <a:pPr>
              <a:spcAft>
                <a:spcPts val="600"/>
              </a:spcAft>
              <a:defRPr sz="1700">
                <a:solidFill>
                  <a:srgbClr val="1C1915"/>
                </a:solidFill>
                <a:latin typeface="Calibri"/>
              </a:defRPr>
            </a:pPr>
            <a:r>
              <a:t>•  A weekly fasting-day preset is built, with a medicine-review warning. Navratri, Ramadan and Ekadashi calendars are not.</a:t>
            </a:r>
          </a:p>
          <a:p>
            <a:pPr>
              <a:spcAft>
                <a:spcPts val="600"/>
              </a:spcAft>
              <a:defRPr sz="1700">
                <a:solidFill>
                  <a:srgbClr val="1C1915"/>
                </a:solidFill>
                <a:latin typeface="Calibri"/>
              </a:defRPr>
            </a:pPr>
            <a:r>
              <a:t>•  CGMacros is a US cohort; transfer to Indian patients is not yet shown.</a:t>
            </a:r>
          </a:p>
        </p:txBody>
      </p:sp>
      <p:sp>
        <p:nvSpPr>
          <p:cNvPr id="5" name="TextBox 4"/>
          <p:cNvSpPr txBox="1"/>
          <p:nvPr/>
        </p:nvSpPr>
        <p:spPr>
          <a:xfrm>
            <a:off x="640080" y="6446520"/>
            <a:ext cx="10972800" cy="274320"/>
          </a:xfrm>
          <a:prstGeom prst="rect">
            <a:avLst/>
          </a:prstGeom>
          <a:noFill/>
        </p:spPr>
        <p:txBody>
          <a:bodyPr wrap="square">
            <a:spAutoFit/>
          </a:bodyPr>
          <a:lstStyle/>
          <a:p>
            <a:pPr>
              <a:defRPr sz="1100" b="0">
                <a:solidFill>
                  <a:srgbClr val="5C564C"/>
                </a:solidFill>
                <a:latin typeface="Calibri"/>
              </a:defRPr>
            </a:pPr>
            <a:r>
              <a:t>Research prototype — not a medical device, not medical advice.    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640080" y="329184"/>
            <a:ext cx="10972800" cy="292608"/>
          </a:xfrm>
          <a:prstGeom prst="rect">
            <a:avLst/>
          </a:prstGeom>
          <a:noFill/>
        </p:spPr>
        <p:txBody>
          <a:bodyPr wrap="square">
            <a:spAutoFit/>
          </a:bodyPr>
          <a:lstStyle/>
          <a:p>
            <a:pPr>
              <a:defRPr sz="1200" b="1">
                <a:solidFill>
                  <a:srgbClr val="0F6E6E"/>
                </a:solidFill>
                <a:latin typeface="Calibri"/>
              </a:defRPr>
            </a:pPr>
            <a:r>
              <a:t>DPDP-STYLE PER-STREAM CONSENT IS LIVE IN THE DASHBOARD</a:t>
            </a:r>
          </a:p>
        </p:txBody>
      </p:sp>
      <p:sp>
        <p:nvSpPr>
          <p:cNvPr id="3" name="TextBox 2"/>
          <p:cNvSpPr txBox="1"/>
          <p:nvPr/>
        </p:nvSpPr>
        <p:spPr>
          <a:xfrm>
            <a:off x="640080" y="603504"/>
            <a:ext cx="10972800" cy="822960"/>
          </a:xfrm>
          <a:prstGeom prst="rect">
            <a:avLst/>
          </a:prstGeom>
          <a:noFill/>
        </p:spPr>
        <p:txBody>
          <a:bodyPr wrap="square">
            <a:spAutoFit/>
          </a:bodyPr>
          <a:lstStyle/>
          <a:p>
            <a:pPr>
              <a:defRPr sz="3200" b="0">
                <a:solidFill>
                  <a:srgbClr val="1C1915"/>
                </a:solidFill>
                <a:latin typeface="Georgia"/>
              </a:defRPr>
            </a:pPr>
            <a:r>
              <a:t>Trust, safety and consent</a:t>
            </a:r>
          </a:p>
        </p:txBody>
      </p:sp>
      <p:sp>
        <p:nvSpPr>
          <p:cNvPr id="4" name="TextBox 3"/>
          <p:cNvSpPr txBox="1"/>
          <p:nvPr/>
        </p:nvSpPr>
        <p:spPr>
          <a:xfrm>
            <a:off x="777240" y="1371600"/>
            <a:ext cx="10607040" cy="4983480"/>
          </a:xfrm>
          <a:prstGeom prst="rect">
            <a:avLst/>
          </a:prstGeom>
          <a:noFill/>
        </p:spPr>
        <p:txBody>
          <a:bodyPr wrap="square">
            <a:spAutoFit/>
          </a:bodyPr>
          <a:lstStyle/>
          <a:p>
            <a:pPr>
              <a:spcAft>
                <a:spcPts val="600"/>
              </a:spcAft>
              <a:defRPr sz="1700">
                <a:solidFill>
                  <a:srgbClr val="1C1915"/>
                </a:solidFill>
                <a:latin typeface="Calibri"/>
              </a:defRPr>
            </a:pPr>
            <a:r>
              <a:t>•  Withdraw the health record and the twin drops the record prior and medicine list, keeps its personal CGM fit, and widens its band at least ×1.12; withdraw wearables and sleep, HRV and walks drop out and the band widens ×1.1. Alerts, plans and the ward ranking follow the consented twin.</a:t>
            </a:r>
          </a:p>
          <a:p>
            <a:pPr>
              <a:spcAft>
                <a:spcPts val="600"/>
              </a:spcAft>
              <a:defRPr sz="1700">
                <a:solidFill>
                  <a:srgbClr val="1C1915"/>
                </a:solidFill>
                <a:latin typeface="Calibri"/>
              </a:defRPr>
            </a:pPr>
            <a:r>
              <a:t>•  Only Urgent alerts interrupt. Every alert lists its reasons; the doctor can mark a false alarm.</a:t>
            </a:r>
          </a:p>
          <a:p>
            <a:pPr>
              <a:spcAft>
                <a:spcPts val="600"/>
              </a:spcAft>
              <a:defRPr sz="1700">
                <a:solidFill>
                  <a:srgbClr val="1C1915"/>
                </a:solidFill>
                <a:latin typeface="Calibri"/>
              </a:defRPr>
            </a:pPr>
            <a:r>
              <a:t>•  Drift is flagged as out of sync and never silently rewrites the fit on screen.</a:t>
            </a:r>
          </a:p>
          <a:p>
            <a:pPr>
              <a:spcAft>
                <a:spcPts val="600"/>
              </a:spcAft>
              <a:defRPr sz="1700">
                <a:solidFill>
                  <a:srgbClr val="1C1915"/>
                </a:solidFill>
                <a:latin typeface="Calibri"/>
              </a:defRPr>
            </a:pPr>
            <a:r>
              <a:t>•  Intended use and change bounds: docs/REGULATORY.md. Hazards and the test that locks each one: docs/HAZARDS.md.</a:t>
            </a:r>
          </a:p>
          <a:p>
            <a:pPr>
              <a:spcAft>
                <a:spcPts val="600"/>
              </a:spcAft>
              <a:defRPr sz="1700">
                <a:solidFill>
                  <a:srgbClr val="1C1915"/>
                </a:solidFill>
                <a:latin typeface="Calibri"/>
              </a:defRPr>
            </a:pPr>
            <a:r>
              <a:t>•  No insulin, no tablet dose, no diagnosis. The fasting-day plan tells the doctor to review glucose-lowering medicines first.</a:t>
            </a:r>
          </a:p>
        </p:txBody>
      </p:sp>
      <p:sp>
        <p:nvSpPr>
          <p:cNvPr id="5" name="TextBox 4"/>
          <p:cNvSpPr txBox="1"/>
          <p:nvPr/>
        </p:nvSpPr>
        <p:spPr>
          <a:xfrm>
            <a:off x="640080" y="6446520"/>
            <a:ext cx="10972800" cy="274320"/>
          </a:xfrm>
          <a:prstGeom prst="rect">
            <a:avLst/>
          </a:prstGeom>
          <a:noFill/>
        </p:spPr>
        <p:txBody>
          <a:bodyPr wrap="square">
            <a:spAutoFit/>
          </a:bodyPr>
          <a:lstStyle/>
          <a:p>
            <a:pPr>
              <a:defRPr sz="1100" b="0">
                <a:solidFill>
                  <a:srgbClr val="5C564C"/>
                </a:solidFill>
                <a:latin typeface="Calibri"/>
              </a:defRPr>
            </a:pPr>
            <a:r>
              <a:t>Research prototype — not a medical device, not medical advice.    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640080" y="329184"/>
            <a:ext cx="10972800" cy="292608"/>
          </a:xfrm>
          <a:prstGeom prst="rect">
            <a:avLst/>
          </a:prstGeom>
          <a:noFill/>
        </p:spPr>
        <p:txBody>
          <a:bodyPr wrap="square">
            <a:spAutoFit/>
          </a:bodyPr>
          <a:lstStyle/>
          <a:p>
            <a:pPr>
              <a:defRPr sz="1200" b="1">
                <a:solidFill>
                  <a:srgbClr val="0F6E6E"/>
                </a:solidFill>
                <a:latin typeface="Calibri"/>
              </a:defRPr>
            </a:pPr>
            <a:r>
              <a:t>REPORTS/SCALE.JSON · 2026-10-17 · 11TH GEN INTEL(R) CORE(TM) I5-11400H @ 2.70GHZ</a:t>
            </a:r>
          </a:p>
        </p:txBody>
      </p:sp>
      <p:sp>
        <p:nvSpPr>
          <p:cNvPr id="3" name="TextBox 2"/>
          <p:cNvSpPr txBox="1"/>
          <p:nvPr/>
        </p:nvSpPr>
        <p:spPr>
          <a:xfrm>
            <a:off x="640080" y="603504"/>
            <a:ext cx="10972800" cy="822960"/>
          </a:xfrm>
          <a:prstGeom prst="rect">
            <a:avLst/>
          </a:prstGeom>
          <a:noFill/>
        </p:spPr>
        <p:txBody>
          <a:bodyPr wrap="square">
            <a:spAutoFit/>
          </a:bodyPr>
          <a:lstStyle/>
          <a:p>
            <a:pPr>
              <a:defRPr sz="3200" b="0">
                <a:solidFill>
                  <a:srgbClr val="1C1915"/>
                </a:solidFill>
                <a:latin typeface="Georgia"/>
              </a:defRPr>
            </a:pPr>
            <a:r>
              <a:t>Scale and integration</a:t>
            </a:r>
          </a:p>
        </p:txBody>
      </p:sp>
      <p:sp>
        <p:nvSpPr>
          <p:cNvPr id="4" name="Rounded Rectangle 3"/>
          <p:cNvSpPr/>
          <p:nvPr/>
        </p:nvSpPr>
        <p:spPr>
          <a:xfrm>
            <a:off x="640080"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444752"/>
            <a:ext cx="2370582" cy="548640"/>
          </a:xfrm>
          <a:prstGeom prst="rect">
            <a:avLst/>
          </a:prstGeom>
          <a:noFill/>
        </p:spPr>
        <p:txBody>
          <a:bodyPr wrap="square">
            <a:spAutoFit/>
          </a:bodyPr>
          <a:lstStyle/>
          <a:p>
            <a:pPr>
              <a:defRPr sz="2600" b="1">
                <a:solidFill>
                  <a:srgbClr val="0F6E6E"/>
                </a:solidFill>
                <a:latin typeface="Georgia"/>
              </a:defRPr>
            </a:pPr>
            <a:r>
              <a:t>16.3 µs</a:t>
            </a:r>
          </a:p>
        </p:txBody>
      </p:sp>
      <p:sp>
        <p:nvSpPr>
          <p:cNvPr id="6" name="TextBox 5"/>
          <p:cNvSpPr txBox="1"/>
          <p:nvPr/>
        </p:nvSpPr>
        <p:spPr>
          <a:xfrm>
            <a:off x="749808" y="1975104"/>
            <a:ext cx="2370582" cy="685800"/>
          </a:xfrm>
          <a:prstGeom prst="rect">
            <a:avLst/>
          </a:prstGeom>
          <a:noFill/>
        </p:spPr>
        <p:txBody>
          <a:bodyPr wrap="square">
            <a:spAutoFit/>
          </a:bodyPr>
          <a:lstStyle/>
          <a:p>
            <a:pPr>
              <a:defRPr sz="1100" b="0">
                <a:solidFill>
                  <a:srgbClr val="5C564C"/>
                </a:solidFill>
                <a:latin typeface="Calibri"/>
              </a:defRPr>
            </a:pPr>
            <a:r>
              <a:t>per reading: update, 2-hour forecast and spike risk</a:t>
            </a:r>
          </a:p>
        </p:txBody>
      </p:sp>
      <p:sp>
        <p:nvSpPr>
          <p:cNvPr id="7" name="Rounded Rectangle 6"/>
          <p:cNvSpPr/>
          <p:nvPr/>
        </p:nvSpPr>
        <p:spPr>
          <a:xfrm>
            <a:off x="3412998"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2726" y="1444752"/>
            <a:ext cx="2370582" cy="548640"/>
          </a:xfrm>
          <a:prstGeom prst="rect">
            <a:avLst/>
          </a:prstGeom>
          <a:noFill/>
        </p:spPr>
        <p:txBody>
          <a:bodyPr wrap="square">
            <a:spAutoFit/>
          </a:bodyPr>
          <a:lstStyle/>
          <a:p>
            <a:pPr>
              <a:defRPr sz="2600" b="1">
                <a:solidFill>
                  <a:srgbClr val="0F6E6E"/>
                </a:solidFill>
                <a:latin typeface="Georgia"/>
              </a:defRPr>
            </a:pPr>
            <a:r>
              <a:t>61,437</a:t>
            </a:r>
          </a:p>
        </p:txBody>
      </p:sp>
      <p:sp>
        <p:nvSpPr>
          <p:cNvPr id="9" name="TextBox 8"/>
          <p:cNvSpPr txBox="1"/>
          <p:nvPr/>
        </p:nvSpPr>
        <p:spPr>
          <a:xfrm>
            <a:off x="3522726" y="1975104"/>
            <a:ext cx="2370582" cy="685800"/>
          </a:xfrm>
          <a:prstGeom prst="rect">
            <a:avLst/>
          </a:prstGeom>
          <a:noFill/>
        </p:spPr>
        <p:txBody>
          <a:bodyPr wrap="square">
            <a:spAutoFit/>
          </a:bodyPr>
          <a:lstStyle/>
          <a:p>
            <a:pPr>
              <a:defRPr sz="1100" b="0">
                <a:solidFill>
                  <a:srgbClr val="5C564C"/>
                </a:solidFill>
                <a:latin typeface="Calibri"/>
              </a:defRPr>
            </a:pPr>
            <a:r>
              <a:t>readings per second on one laptop thread</a:t>
            </a:r>
          </a:p>
        </p:txBody>
      </p:sp>
      <p:sp>
        <p:nvSpPr>
          <p:cNvPr id="10" name="Rounded Rectangle 9"/>
          <p:cNvSpPr/>
          <p:nvPr/>
        </p:nvSpPr>
        <p:spPr>
          <a:xfrm>
            <a:off x="6185916"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5644" y="1444752"/>
            <a:ext cx="2370582" cy="548640"/>
          </a:xfrm>
          <a:prstGeom prst="rect">
            <a:avLst/>
          </a:prstGeom>
          <a:noFill/>
        </p:spPr>
        <p:txBody>
          <a:bodyPr wrap="square">
            <a:spAutoFit/>
          </a:bodyPr>
          <a:lstStyle/>
          <a:p>
            <a:pPr>
              <a:defRPr sz="2600" b="1">
                <a:solidFill>
                  <a:srgbClr val="0F6E6E"/>
                </a:solidFill>
                <a:latin typeface="Georgia"/>
              </a:defRPr>
            </a:pPr>
            <a:r>
              <a:t>14 µs</a:t>
            </a:r>
          </a:p>
        </p:txBody>
      </p:sp>
      <p:sp>
        <p:nvSpPr>
          <p:cNvPr id="12" name="TextBox 11"/>
          <p:cNvSpPr txBox="1"/>
          <p:nvPr/>
        </p:nvSpPr>
        <p:spPr>
          <a:xfrm>
            <a:off x="6295644" y="1975104"/>
            <a:ext cx="2370582" cy="685800"/>
          </a:xfrm>
          <a:prstGeom prst="rect">
            <a:avLst/>
          </a:prstGeom>
          <a:noFill/>
        </p:spPr>
        <p:txBody>
          <a:bodyPr wrap="square">
            <a:spAutoFit/>
          </a:bodyPr>
          <a:lstStyle/>
          <a:p>
            <a:pPr>
              <a:defRPr sz="1100" b="0">
                <a:solidFill>
                  <a:srgbClr val="5C564C"/>
                </a:solidFill>
                <a:latin typeface="Calibri"/>
              </a:defRPr>
            </a:pPr>
            <a:r>
              <a:t>median dashboard forecast</a:t>
            </a:r>
          </a:p>
        </p:txBody>
      </p:sp>
      <p:sp>
        <p:nvSpPr>
          <p:cNvPr id="13" name="Rounded Rectangle 12"/>
          <p:cNvSpPr/>
          <p:nvPr/>
        </p:nvSpPr>
        <p:spPr>
          <a:xfrm>
            <a:off x="8958834" y="1371600"/>
            <a:ext cx="2590038" cy="1325880"/>
          </a:xfrm>
          <a:prstGeom prst="roundRect">
            <a:avLst>
              <a:gd name="adj" fmla="val 12000"/>
            </a:avLst>
          </a:prstGeom>
          <a:solidFill>
            <a:srgbClr val="FFFDF8"/>
          </a:solidFill>
          <a:ln>
            <a:solidFill>
              <a:srgbClr val="E4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68561" y="1444752"/>
            <a:ext cx="2370582" cy="548640"/>
          </a:xfrm>
          <a:prstGeom prst="rect">
            <a:avLst/>
          </a:prstGeom>
          <a:noFill/>
        </p:spPr>
        <p:txBody>
          <a:bodyPr wrap="square">
            <a:spAutoFit/>
          </a:bodyPr>
          <a:lstStyle/>
          <a:p>
            <a:pPr>
              <a:defRPr sz="2600" b="1">
                <a:solidFill>
                  <a:srgbClr val="0F6E6E"/>
                </a:solidFill>
                <a:latin typeface="Georgia"/>
              </a:defRPr>
            </a:pPr>
            <a:r>
              <a:t>229 ms</a:t>
            </a:r>
          </a:p>
        </p:txBody>
      </p:sp>
      <p:sp>
        <p:nvSpPr>
          <p:cNvPr id="15" name="TextBox 14"/>
          <p:cNvSpPr txBox="1"/>
          <p:nvPr/>
        </p:nvSpPr>
        <p:spPr>
          <a:xfrm>
            <a:off x="9068561" y="1975104"/>
            <a:ext cx="2370582" cy="685800"/>
          </a:xfrm>
          <a:prstGeom prst="rect">
            <a:avLst/>
          </a:prstGeom>
          <a:noFill/>
        </p:spPr>
        <p:txBody>
          <a:bodyPr wrap="square">
            <a:spAutoFit/>
          </a:bodyPr>
          <a:lstStyle/>
          <a:p>
            <a:pPr>
              <a:defRPr sz="1100" b="0">
                <a:solidFill>
                  <a:srgbClr val="5C564C"/>
                </a:solidFill>
                <a:latin typeface="Calibri"/>
              </a:defRPr>
            </a:pPr>
            <a:r>
              <a:t>to load the fitted ward in the dashboard (a cold fit and evaluation take 12.0 s)</a:t>
            </a:r>
          </a:p>
        </p:txBody>
      </p:sp>
      <p:sp>
        <p:nvSpPr>
          <p:cNvPr id="16" name="TextBox 15"/>
          <p:cNvSpPr txBox="1"/>
          <p:nvPr/>
        </p:nvSpPr>
        <p:spPr>
          <a:xfrm>
            <a:off x="777240" y="2880360"/>
            <a:ext cx="10607040" cy="3474720"/>
          </a:xfrm>
          <a:prstGeom prst="rect">
            <a:avLst/>
          </a:prstGeom>
          <a:noFill/>
        </p:spPr>
        <p:txBody>
          <a:bodyPr wrap="square">
            <a:spAutoFit/>
          </a:bodyPr>
          <a:lstStyle/>
          <a:p>
            <a:pPr>
              <a:spcAft>
                <a:spcPts val="600"/>
              </a:spcAft>
              <a:defRPr sz="1700">
                <a:solidFill>
                  <a:srgbClr val="1C1915"/>
                </a:solidFill>
                <a:latin typeface="Calibri"/>
              </a:defRPr>
            </a:pPr>
            <a:r>
              <a:t>•  Compute only: excludes network and database time. One thread; the work is independent per patient, so it shards by patient. Benchmark: 3,000 simulated patients × 288 readings.</a:t>
            </a:r>
          </a:p>
          <a:p>
            <a:pPr>
              <a:spcAft>
                <a:spcPts val="600"/>
              </a:spcAft>
              <a:defRPr sz="1700">
                <a:solidFill>
                  <a:srgbClr val="1C1915"/>
                </a:solidFill>
                <a:latin typeface="Calibri"/>
              </a:defRPr>
            </a:pPr>
            <a:r>
              <a:t>•  The record is a FHIR R4 Bundle, the format ABDM exchanges. ABDM-certified import and an on-device Web Worker are not built yet.</a:t>
            </a:r>
          </a:p>
          <a:p>
            <a:pPr>
              <a:spcAft>
                <a:spcPts val="600"/>
              </a:spcAft>
              <a:defRPr sz="1700">
                <a:solidFill>
                  <a:srgbClr val="1C1915"/>
                </a:solidFill>
                <a:latin typeface="Calibri"/>
              </a:defRPr>
            </a:pPr>
            <a:r>
              <a:t>•  Per-stream consent is already enforced in the dashboard, ready to map onto an ABDM consent artefact.</a:t>
            </a:r>
          </a:p>
        </p:txBody>
      </p:sp>
      <p:sp>
        <p:nvSpPr>
          <p:cNvPr id="17" name="TextBox 16"/>
          <p:cNvSpPr txBox="1"/>
          <p:nvPr/>
        </p:nvSpPr>
        <p:spPr>
          <a:xfrm>
            <a:off x="640080" y="6446520"/>
            <a:ext cx="10972800" cy="274320"/>
          </a:xfrm>
          <a:prstGeom prst="rect">
            <a:avLst/>
          </a:prstGeom>
          <a:noFill/>
        </p:spPr>
        <p:txBody>
          <a:bodyPr wrap="square">
            <a:spAutoFit/>
          </a:bodyPr>
          <a:lstStyle/>
          <a:p>
            <a:pPr>
              <a:defRPr sz="1100" b="0">
                <a:solidFill>
                  <a:srgbClr val="5C564C"/>
                </a:solidFill>
                <a:latin typeface="Calibri"/>
              </a:defRPr>
            </a:pPr>
            <a:r>
              <a:t>Research prototype — not a medical device, not medical advice.    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640080" y="329184"/>
            <a:ext cx="10972800" cy="292608"/>
          </a:xfrm>
          <a:prstGeom prst="rect">
            <a:avLst/>
          </a:prstGeom>
          <a:noFill/>
        </p:spPr>
        <p:txBody>
          <a:bodyPr wrap="square">
            <a:spAutoFit/>
          </a:bodyPr>
          <a:lstStyle/>
          <a:p>
            <a:pPr>
              <a:defRPr sz="1200" b="1">
                <a:solidFill>
                  <a:srgbClr val="0F6E6E"/>
                </a:solidFill>
                <a:latin typeface="Calibri"/>
              </a:defRPr>
            </a:pPr>
            <a:r>
              <a:t>READ THESE BEFORE THE HEADLINE</a:t>
            </a:r>
          </a:p>
        </p:txBody>
      </p:sp>
      <p:sp>
        <p:nvSpPr>
          <p:cNvPr id="3" name="TextBox 2"/>
          <p:cNvSpPr txBox="1"/>
          <p:nvPr/>
        </p:nvSpPr>
        <p:spPr>
          <a:xfrm>
            <a:off x="640080" y="603504"/>
            <a:ext cx="10972800" cy="822960"/>
          </a:xfrm>
          <a:prstGeom prst="rect">
            <a:avLst/>
          </a:prstGeom>
          <a:noFill/>
        </p:spPr>
        <p:txBody>
          <a:bodyPr wrap="square">
            <a:spAutoFit/>
          </a:bodyPr>
          <a:lstStyle/>
          <a:p>
            <a:pPr>
              <a:defRPr sz="3200" b="0">
                <a:solidFill>
                  <a:srgbClr val="1C1915"/>
                </a:solidFill>
                <a:latin typeface="Georgia"/>
              </a:defRPr>
            </a:pPr>
            <a:r>
              <a:t>Limitations</a:t>
            </a:r>
          </a:p>
        </p:txBody>
      </p:sp>
      <p:sp>
        <p:nvSpPr>
          <p:cNvPr id="4" name="TextBox 3"/>
          <p:cNvSpPr txBox="1"/>
          <p:nvPr/>
        </p:nvSpPr>
        <p:spPr>
          <a:xfrm>
            <a:off x="777240" y="1371600"/>
            <a:ext cx="10607040" cy="4983480"/>
          </a:xfrm>
          <a:prstGeom prst="rect">
            <a:avLst/>
          </a:prstGeom>
          <a:noFill/>
        </p:spPr>
        <p:txBody>
          <a:bodyPr wrap="square">
            <a:spAutoFit/>
          </a:bodyPr>
          <a:lstStyle/>
          <a:p>
            <a:pPr>
              <a:spcAft>
                <a:spcPts val="600"/>
              </a:spcAft>
              <a:defRPr sz="1700">
                <a:solidFill>
                  <a:srgbClr val="1C1915"/>
                </a:solidFill>
                <a:latin typeface="Calibri"/>
              </a:defRPr>
            </a:pPr>
            <a:r>
              <a:t>•  The simulated ward is synthetic (seed 42); its sleep, HRV, walk and medication effects are modelling assumptions at the upper end of published studies.</a:t>
            </a:r>
          </a:p>
          <a:p>
            <a:pPr>
              <a:spcAft>
                <a:spcPts val="600"/>
              </a:spcAft>
              <a:defRPr sz="1700">
                <a:solidFill>
                  <a:srgbClr val="1C1915"/>
                </a:solidFill>
                <a:latin typeface="Calibri"/>
              </a:defRPr>
            </a:pPr>
            <a:r>
              <a:t>•  Sleep and HRV help after meals following a hard night (21.59 vs 21.86) but not on an average day (22.91 vs 22.89).</a:t>
            </a:r>
          </a:p>
          <a:p>
            <a:pPr>
              <a:spcAft>
                <a:spcPts val="600"/>
              </a:spcAft>
              <a:defRPr sz="1700">
                <a:solidFill>
                  <a:srgbClr val="1C1915"/>
                </a:solidFill>
                <a:latin typeface="Calibri"/>
              </a:defRPr>
            </a:pPr>
            <a:r>
              <a:t>•  CGMacros is 45 US adults. At 30 min the twin is 18.5 against persistence 19.6 (a narrow win), and low alerts are 38.9% precise, short of the 45% target.</a:t>
            </a:r>
          </a:p>
          <a:p>
            <a:pPr>
              <a:spcAft>
                <a:spcPts val="600"/>
              </a:spcAft>
              <a:defRPr sz="1700">
                <a:solidFill>
                  <a:srgbClr val="1C1915"/>
                </a:solidFill>
                <a:latin typeface="Calibri"/>
              </a:defRPr>
            </a:pPr>
            <a:r>
              <a:t>•  Simulated lows: 6 of 16 warned at 100.0% precision, short of a 65% target; the sulfonylurea guard is chosen on an independent realization, so this is blind. The record prior and medicine term do not lower pooled simulated error, but without them warned lows fall to 3 of 16.</a:t>
            </a:r>
          </a:p>
          <a:p>
            <a:pPr>
              <a:spcAft>
                <a:spcPts val="600"/>
              </a:spcAft>
              <a:defRPr sz="1700">
                <a:solidFill>
                  <a:srgbClr val="1C1915"/>
                </a:solidFill>
                <a:latin typeface="Calibri"/>
              </a:defRPr>
            </a:pPr>
            <a:r>
              <a:t>•  Approximate subgroups, offline LightGBM, plan compare is a simulation. Not clinically validated.</a:t>
            </a:r>
          </a:p>
        </p:txBody>
      </p:sp>
      <p:sp>
        <p:nvSpPr>
          <p:cNvPr id="5" name="TextBox 4"/>
          <p:cNvSpPr txBox="1"/>
          <p:nvPr/>
        </p:nvSpPr>
        <p:spPr>
          <a:xfrm>
            <a:off x="640080" y="6446520"/>
            <a:ext cx="10972800" cy="274320"/>
          </a:xfrm>
          <a:prstGeom prst="rect">
            <a:avLst/>
          </a:prstGeom>
          <a:noFill/>
        </p:spPr>
        <p:txBody>
          <a:bodyPr wrap="square">
            <a:spAutoFit/>
          </a:bodyPr>
          <a:lstStyle/>
          <a:p>
            <a:pPr>
              <a:defRPr sz="1100" b="0">
                <a:solidFill>
                  <a:srgbClr val="5C564C"/>
                </a:solidFill>
                <a:latin typeface="Calibri"/>
              </a:defRPr>
            </a:pPr>
            <a:r>
              <a:t>Research prototype — not a medical device, not medical advice.    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640080" y="329184"/>
            <a:ext cx="10972800" cy="292608"/>
          </a:xfrm>
          <a:prstGeom prst="rect">
            <a:avLst/>
          </a:prstGeom>
          <a:noFill/>
        </p:spPr>
        <p:txBody>
          <a:bodyPr wrap="square">
            <a:spAutoFit/>
          </a:bodyPr>
          <a:lstStyle/>
          <a:p>
            <a:pPr>
              <a:defRPr sz="1200" b="1">
                <a:solidFill>
                  <a:srgbClr val="0F6E6E"/>
                </a:solidFill>
                <a:latin typeface="Calibri"/>
              </a:defRPr>
            </a:pPr>
            <a:r>
              <a:t>NEXT: A SUPERVISED CLINIC PILOT</a:t>
            </a:r>
          </a:p>
        </p:txBody>
      </p:sp>
      <p:sp>
        <p:nvSpPr>
          <p:cNvPr id="3" name="TextBox 2"/>
          <p:cNvSpPr txBox="1"/>
          <p:nvPr/>
        </p:nvSpPr>
        <p:spPr>
          <a:xfrm>
            <a:off x="640080" y="603504"/>
            <a:ext cx="10972800" cy="822960"/>
          </a:xfrm>
          <a:prstGeom prst="rect">
            <a:avLst/>
          </a:prstGeom>
          <a:noFill/>
        </p:spPr>
        <p:txBody>
          <a:bodyPr wrap="square">
            <a:spAutoFit/>
          </a:bodyPr>
          <a:lstStyle/>
          <a:p>
            <a:pPr>
              <a:defRPr sz="3200" b="0">
                <a:solidFill>
                  <a:srgbClr val="1C1915"/>
                </a:solidFill>
                <a:latin typeface="Georgia"/>
              </a:defRPr>
            </a:pPr>
            <a:r>
              <a:t>Roadmap and team</a:t>
            </a:r>
          </a:p>
        </p:txBody>
      </p:sp>
      <p:sp>
        <p:nvSpPr>
          <p:cNvPr id="4" name="TextBox 3"/>
          <p:cNvSpPr txBox="1"/>
          <p:nvPr/>
        </p:nvSpPr>
        <p:spPr>
          <a:xfrm>
            <a:off x="777240" y="1371600"/>
            <a:ext cx="10607040" cy="4983480"/>
          </a:xfrm>
          <a:prstGeom prst="rect">
            <a:avLst/>
          </a:prstGeom>
          <a:noFill/>
        </p:spPr>
        <p:txBody>
          <a:bodyPr wrap="square">
            <a:spAutoFit/>
          </a:bodyPr>
          <a:lstStyle/>
          <a:p>
            <a:pPr>
              <a:spcAft>
                <a:spcPts val="600"/>
              </a:spcAft>
              <a:defRPr sz="1700">
                <a:solidFill>
                  <a:srgbClr val="1C1915"/>
                </a:solidFill>
                <a:latin typeface="Calibri"/>
              </a:defRPr>
            </a:pPr>
            <a:r>
              <a:t>•  Now: the twin runs on 11 simulated patients and 45 real CGMacros adults, with consent, alerts, plans and the pre-visit summary.</a:t>
            </a:r>
          </a:p>
          <a:p>
            <a:pPr>
              <a:spcAft>
                <a:spcPts val="600"/>
              </a:spcAft>
              <a:defRPr sz="1700">
                <a:solidFill>
                  <a:srgbClr val="1C1915"/>
                </a:solidFill>
                <a:latin typeface="Calibri"/>
              </a:defRPr>
            </a:pPr>
            <a:r>
              <a:t>•  Next: ABHA-consented FHIR import through ABDM, learned medicine effects for lows, and calibrated risk on real Indian CGM data.</a:t>
            </a:r>
          </a:p>
          <a:p>
            <a:pPr>
              <a:spcAft>
                <a:spcPts val="600"/>
              </a:spcAft>
              <a:defRPr sz="1700">
                <a:solidFill>
                  <a:srgbClr val="1C1915"/>
                </a:solidFill>
                <a:latin typeface="Calibri"/>
              </a:defRPr>
            </a:pPr>
            <a:r>
              <a:t>•  Pilot: one diabetes clinic, 30 consenting adults on CGM for 12 weeks, with a doctor reviewing forecasts and alerts.</a:t>
            </a:r>
          </a:p>
          <a:p>
            <a:pPr>
              <a:spcAft>
                <a:spcPts val="600"/>
              </a:spcAft>
              <a:defRPr sz="1700">
                <a:solidFill>
                  <a:srgbClr val="1C1915"/>
                </a:solidFill>
                <a:latin typeface="Calibri"/>
              </a:defRPr>
            </a:pPr>
            <a:r>
              <a:t>•  Team GlucoTwin_RIMT-University. Nikhil Chawla, team leader — AI Engineer, BCA – AI &amp; Data Science, RIMT University, Mandi Gobindgarh, Punjab. Faculty mentor: Dr. Rajkumar (Head of Department, Computer Applications, RIMT University).</a:t>
            </a:r>
          </a:p>
          <a:p>
            <a:pPr>
              <a:spcAft>
                <a:spcPts val="600"/>
              </a:spcAft>
              <a:defRPr sz="1700">
                <a:solidFill>
                  <a:srgbClr val="1C1915"/>
                </a:solidFill>
                <a:latin typeface="Calibri"/>
              </a:defRPr>
            </a:pPr>
            <a:r>
              <a:t>•  GitHub: github.com/1nikhilchawla.</a:t>
            </a:r>
          </a:p>
        </p:txBody>
      </p:sp>
      <p:sp>
        <p:nvSpPr>
          <p:cNvPr id="5" name="TextBox 4"/>
          <p:cNvSpPr txBox="1"/>
          <p:nvPr/>
        </p:nvSpPr>
        <p:spPr>
          <a:xfrm>
            <a:off x="640080" y="6446520"/>
            <a:ext cx="10972800" cy="274320"/>
          </a:xfrm>
          <a:prstGeom prst="rect">
            <a:avLst/>
          </a:prstGeom>
          <a:noFill/>
        </p:spPr>
        <p:txBody>
          <a:bodyPr wrap="square">
            <a:spAutoFit/>
          </a:bodyPr>
          <a:lstStyle/>
          <a:p>
            <a:pPr>
              <a:defRPr sz="1100" b="0">
                <a:solidFill>
                  <a:srgbClr val="5C564C"/>
                </a:solidFill>
                <a:latin typeface="Calibri"/>
              </a:defRPr>
            </a:pPr>
            <a:r>
              <a:t>Research prototype — not a medical device, not medical advice.    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